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Arial"/>
              </a:defRPr>
            </a:pPr>
            <a:r>
              <a:rPr sz="1300" b="0" i="0" u="none" strike="noStrike">
                <a:solidFill>
                  <a:srgbClr val="1E2761"/>
                </a:solidFill>
                <a:latin typeface="Arial"/>
              </a:rPr>
              <a:t>Reported losses, age 60+ (billions)</a:t>
            </a:r>
          </a:p>
        </c:rich>
      </c:tx>
      <c:layout/>
      <c:overlay val="0"/>
    </c:title>
    <c:autoTitleDeleted val="0"/>
    <c:plotArea>
      <c:layout/>
      <c:barChart>
        <c:barDir val="col"/>
        <c:grouping val="clustered"/>
        <c:varyColors val="0"/>
        <c:ser>
          <c:idx val="0"/>
          <c:order val="0"/>
          <c:tx>
            <c:strRef>
              <c:f>Sheet1!$B$1</c:f>
              <c:strCache>
                <c:ptCount val="1"/>
                <c:pt idx="0">
                  <c:v>Reported losses, age 60+</c:v>
                </c:pt>
              </c:strCache>
            </c:strRef>
          </c:tx>
          <c:spPr>
            <a:solidFill>
              <a:srgbClr val="1E2761"/>
            </a:solidFill>
            <a:effectLst/>
          </c:spPr>
          <c:invertIfNegative val="0"/>
          <c:dLbls>
            <c:numFmt formatCode="&quot;$&quot;0.00&quot;B&quot;" sourceLinked="0"/>
            <c:txPr>
              <a:bodyPr/>
              <a:lstStyle/>
              <a:p>
                <a:pPr>
                  <a:defRPr b="0" i="0" strike="noStrike" sz="1400" u="none">
                    <a:solidFill>
                      <a:srgbClr val="16192B"/>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1E2761"/>
              </a:solidFill>
              <a:effectLst/>
            </c:spPr>
          </c:dPt>
          <c:dPt>
            <c:idx val="2"/>
            <c:invertIfNegative val="0"/>
            <c:bubble3D val="0"/>
            <c:spPr>
              <a:solidFill>
                <a:srgbClr val="B02A28"/>
              </a:solidFill>
              <a:effectLst/>
            </c:spPr>
          </c:dPt>
          <c:cat>
            <c:multiLvlStrRef>
              <c:f>Sheet1!$A$2:$A$4</c:f>
              <c:multiLvlStrCache>
                <c:ptCount val="3"/>
                <c:lvl>
                  <c:pt idx="0">
                    <c:v>2023</c:v>
                  </c:pt>
                  <c:pt idx="1">
                    <c:v>2024</c:v>
                  </c:pt>
                  <c:pt idx="2">
                    <c:v>2025</c:v>
                  </c:pt>
                </c:lvl>
              </c:multiLvlStrCache>
            </c:multiLvlStrRef>
          </c:cat>
          <c:val>
            <c:numRef>
              <c:f>Sheet1!$B$2:$B$4</c:f>
              <c:numCache>
                <c:formatCode>General</c:formatCode>
                <c:ptCount val="3"/>
                <c:pt idx="0">
                  <c:v>3.417</c:v>
                </c:pt>
                <c:pt idx="1">
                  <c:v>4.885</c:v>
                </c:pt>
                <c:pt idx="2">
                  <c:v>7.748</c:v>
                </c:pt>
              </c:numCache>
            </c:numRef>
          </c:val>
        </c:ser>
        <c:dLbls>
          <c:numFmt formatCode="&quot;$&quot;0.00&quot;B&quot;" sourceLinked="0"/>
          <c:txPr>
            <a:bodyPr/>
            <a:lstStyle/>
            <a:p>
              <a:pPr>
                <a:defRPr b="0" i="0" strike="noStrike" sz="1400" u="none">
                  <a:solidFill>
                    <a:srgbClr val="16192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6607A"/>
                </a:solidFill>
                <a:latin typeface="Arial"/>
              </a:defRPr>
            </a:pPr>
            <a:endParaRPr lang="en-US"/>
          </a:p>
        </c:txPr>
        <c:crossAx val="2094734552"/>
        <c:crosses val="autoZero"/>
        <c:auto val="1"/>
        <c:lblAlgn val="ctr"/>
        <c:noMultiLvlLbl val="1"/>
      </c:catAx>
      <c:valAx>
        <c:axId val="2094734552"/>
        <c:scaling>
          <c:orientation val="minMax"/>
          <c:max val="9"/>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0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(0:00-1:00)
Thank the activities director by name. Then:
'I'm not here to tell you to be afraid of your phone. I'm here to make you the hardest person in this building to steal from — and honestly, by the end of the next 25 minutes, you'll be harder to scam than most people half your age.'
Set the rule: 'Interrupt me. If something happened to you or someone you know, say so. Those stories teach better than my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PROMISES (1:00-2:30)
Land promise #1 hard and slow. Shame is the reason people don't tell anyone, and silence is what lets the second scam land.
'The FBI says the real numbers are far higher than what gets reported, because people are embarrassed or don't know how to report it. So the shame isn't just painful — it's actively protecting the criminals.'
Promise #2 is the roadmap: 'If you take a nap in the middle, wake up for slide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(2:30-4:00)
Say the number, then STOP. Let it sit for three full seconds.
Point at the chart: 'Three-four-teen. Four-nine. Seven-seven. That's not creeping up. That more than doubled in two years.'
Then immediately release the pressure: 'Now — I'm not showing you this to scare you into never answering your phone. I'm showing you because the reason it doubled is that the crooks got better tools. Not because you got worse.'
If someone asks why: AI. Cheap voice cloning, flawless English, and crypto for instant payout. Preview that you'll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(4:00-5:15)
The 20/37 split is the headline: 'One in five complaints, but nearly two out of every five dollars.'
The 'why' box is the most important thing on this slide. Deliver it as a compliment, not a diagnosis: 'Your manners are the vulnerability. A 25-year-old lets it go to voicemail and never thinks about it again. You were raised to answer, and to be courteous, and to not hang up on someone mid-sentence. They know that.'
Watch for nods here. This is where the room decides you're on their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INDUSTRY (5:15-6:30)
This slide exists to kill shame permanently. Say plainly: 'The FBI has a task force going after scam compounds in Southeast Asia — actual compounds, with buildings and staff. This is organized crime with an HR department.'
The 'bought data' point is worth an extra beat: 'When a caller knows your name, your bank, and your address — that proves nothing. That information costs them about a penny.'
Close with: 'So if one of these ever gets you, you didn't lose to a con man. You lost to a corporation.'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THEY KNOW (5:30-6:45)
This is your home turf — say so. You work in data protection and privacy, and this slide is what you do all day.
The point to land: the details that make a scam call believable are not evidence of anything. They are inventory.
'Every one of you has been in a data breach. Not might have been — has been. That is not a personal failure, it is just the era we live in.'
Obituaries surprise people every time — they list surviving family by name and relationship, which is exactly the script for a grandparent scam. Say it gently; someone in that room has written one recently.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(6:30-8:30) — THE CORE OF THE TALK. Slow down.
Walk each step. Get the room to say it back to you: 'Unexpected. Emotional. Odd payment.' Do it twice.
'Here's why this matters more than memorizing scams: they invent a new one every month. I can't teach you all of them. But they can never drop these three steps, because without them the scam doesn't work. They NEED to reach you, they NEED you rattled, and they NEED the money to move somewhere they can't be clawed back from.'
Say it: 'Two out of three is worth a phone call to your daughter. Three out of three, you already have your answer.'
AARP calls this 'Pause. Reflect. Protect.' Mention it — some of them have that card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(8:30-9:45)
Frame it as the front door, not the burglary: 'Phishing is the most reported and nearly the cheapest. Why? Because the phish isn't the crime — it's the key. They get your password today, and the real theft happens in three weeks.'
Concrete tell: 'Read the sender's address, not the name. Anyone can put Chase in the name field.'
Give them the one durable habit — never use the link in the message. Say it twice; it's the single highest-value sentence in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 SUPPORT (9:45-11:00)
Show them the physical escape: 'A pop-up cannot hurt you. It's a picture. If the screen is stuck, hold the power button until the machine turns off. You have not broken anything.'
The red bar is the takeaway line — say it, pause, say it again. Big tech companies do not make outbound calls.
If the facility has shared computers or a computer lab, name that here: 'And if it happens on the lab computer downstairs, just walk away and tell the front desk. Don't try to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PHANTOM HACKER (11:00-12:45)
Tell it as a story, not a list. 'Tuesday it's tech support. Thursday the bank calls — and of course they know about the computer problem, because they're the same crew. By the weekend a federal agent is on the line telling you not to talk to your daughter about it.'
Act III is the cruelest part, and the part to dwell on: the secrecy instruction is the whole scam. 'Every real fraud investigator WANTS you to talk to your family and your branch manager. Secrecy is never a real instruction. It is always the tell.'
The amber bar is the sentence to send them home with. Have the room read it aloud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GOVERNMENT IMPERSONATION (12:45-14:00)
Note the doubling — this is the growth story of 2025.
Explain the mechanic: 'They use fear, and they use your respect for authority. That respect is a good quality. They're stealing it from you.'
Two facts worth saying out loud: Social Security numbers cannot be suspended — that isn't a thing that exists. And real agencies write letters first; they don't open with a phone call.
'Stay on the line while you drive to the bank' is the tell that a real crime is in progress. Bank tellers in Texas are trained to watch for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ROMANCE (14:00-15:15)
Handle with real care — someone in that room is in one right now, and someone else has already lost money this way.
Do NOT make jokes. Do not say 'catfish' as a punchline. The tone here determines whether anyone talks to you afterward.
The one hard rule to give: no money to anyone you haven't met in person. That rule doesn't require them to decide whether the relationship is real — which is the part they can't do.
Mention the wrong-number-text opener; it's extremely common now and most people haven't heard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GRANDPARENT + AI VOICE (15:15-16:45)
This is the slide that gets audible reactions. Let them have it — then hand them the fix immediately so the fear has somewhere to go.
'Three seconds of audio. A birthday video on Facebook is plenty.'
PARTICIPATION MOMENT: ask them to think of their family password right now, before they leave. Tell them to call one family member tonight and set it. This is the single most actionable thing in the whole talk.
Note the courier detail — the FBI has warned about scammers sending someone to the door to collect cash or gold. Nobody legitimate ever picks up money at your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KIDNAPPING (16:45-18:15)
This is the emotional peak of the talk. Set it up honestly: 'This next one is ugly, and I debated including it. I'm including it because knowing it exists is most of the defense.'
The key reassurance, said clearly: nobody is actually taken. Stranger kidnapping for ransom is vanishingly rare; these calls are common.
The single most useful instruction: USE ANOTHER PHONE. In a facility like this that's easy — knock on a neighbor's door, or hand the situation to the front desk while you stay on the line.
'Slow it down' — repeating the demand back while you write it is FBI advice and it buys the minute you need.
Then deliberately lower the temperature before moving on: 'Alright. That's the worst one. Everything from here gets more hopeful.'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INVESTMENT (18:15-19:30)
Frame the surprise: 'The one that costs the most isn't the scary phone call. It's the polite one that takes four months.'
Explain why small withdrawals work — it's the mechanic that makes smart, careful people hand over more. 'They let you take $500 out so you'll put $50,000 in.'
The crypto kiosk detail is worth naming out loud: these machines are in gas stations and grocery stores around here. 'If anyone on a phone ever directs you to one, that is a crime in progress, full stop.'
This is where your day job is useful — mention you work at a bank and that this is what your fraud team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SCAM (19:30-20:30)
Say this plainly: 'Getting scammed once puts your name on a list. That list is a product, and it gets sold.'
This slide is the payoff of the anti-shame message from slide 2 — connect them explicitly: 'The person who told their son about the first scam does not lose money to the second one. Silence is what makes you a repeat customer.'
Rule to give: nobody legitimate charges an upfront fee to recover stolen funds. Reporting is always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TELLS (20:30-21:30)
Sell this as the shortcut for anyone who can't remember the rest: 'If you forget everything else, remember this slide. You never have to work out whether the story is true. Just listen for how they want paying.'
Gift cards get the biggest laugh-of-recognition: 'Ask yourself why the United States Treasury would want to be paid in Apple gift cards from the Walgreens.'
The 'safe account' one is the most dangerous because it sounds protective — tie it back to the Phantom Hacker.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DEFENSE KIT (21:30-22:45)
Change your energy here. This is the turn from threat to power — sound noticeably more upbeat.
Don't read all six. Land 'hang up and call back' and 'family password' hard; mention the rest and point to the handout.
Make it concrete: 'Two phone calls tonight. One to set your password, one to tell somebody they're your second opinion. That's it. That's the homework.'
Offer help: if the facility allows, offer to help anyone freeze their credit or turn on two-step after the talk. That offer usually draws a line of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DEFENSE (21:30-22:45)
Introduce this as the thing you actually do for a living — it is the most credible ninety seconds of the talk.
The quiz point always lands: 'Those Facebook quizzes asking your first pet and the street you grew up on are not games. Somebody is collecting security-question answers.'
Add the voicemail tip out loud (it is not on the slide): a greeting that says your name in your own voice is a free sample for a cloning tool. 'You have reached 555-0100, leave a message' is enough.
Do NOT go deep on data-broker opt-outs from the podium — it is a rabbit hole. Say it is free, say family can help, and offer to walk anyone through it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 SLIP (22:45-23:30)
This is the crowd-pleaser. Deliver it with humor and warmth.
'Everyone in this room was raised not to hang up on people. I'm here as a guest speaker to officially release you from that obligation.'
Optional and effective: have the whole room say the first line out loud together. It feels silly, and it means their mouth has said it once before the day they need it.
The last line is the point — scammers rely on you staying on the line to be polite. Politeness is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IT HAPPENS (23:30-24:15)
Deliver this without a shred of judgment in your voice. Someone in that room is going to use this slide.
'The FBI has a team that can sometimes freeze wires — last year they froze about $33 million of elder fraud money. But that only works if somebody calls fast. Hours matter.'
Push step 3 hardest: telling someone is what stops the second scam.
'Report even if you lost nothing and even if you feel foolish. Especially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(24:15-24:45)
Hold up the handout so they can see it has all of this on it. Tell them where to pick one up.
Push the AARP helpline hardest — it's a real human, it's free to non-members, and it's the right number for 'I'm not sure, is this a scam?' BEFORE money moves. Everything else is after-the-fact.
Tell them: tape the handout inside a kitchen cabinet door, not in a drawer.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(24:45-25:00)
Slow down. Warm tone. Get the three-step play said back to you one final time.
End on the homework, not on the fear: the two phone calls.
Then open questions — and mean the offer to stay. The most valuable conversations happen one-on-one afterward, and that's usually where someone quietly tells you it already happened to them. If that occurs: no judgment, get them to their bank and to ic3.gov, and loop in family if they'll allow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869680" y="1417320"/>
            <a:ext cx="2834640" cy="2834640"/>
          </a:xfrm>
          <a:prstGeom prst="ellipse">
            <a:avLst/>
          </a:prstGeom>
          <a:solidFill>
            <a:srgbClr val="27346F"/>
          </a:solidFill>
          <a:ln/>
        </p:spPr>
      </p:sp>
      <p:sp>
        <p:nvSpPr>
          <p:cNvPr id="3" name="Shape 1"/>
          <p:cNvSpPr/>
          <p:nvPr/>
        </p:nvSpPr>
        <p:spPr>
          <a:xfrm>
            <a:off x="10195560" y="4343400"/>
            <a:ext cx="1463040" cy="1463040"/>
          </a:xfrm>
          <a:prstGeom prst="ellipse">
            <a:avLst/>
          </a:prstGeom>
          <a:solidFill>
            <a:srgbClr val="323F7C"/>
          </a:solidFill>
          <a:ln/>
        </p:spPr>
      </p:sp>
      <p:sp>
        <p:nvSpPr>
          <p:cNvPr id="4" name="Shape 2"/>
          <p:cNvSpPr/>
          <p:nvPr/>
        </p:nvSpPr>
        <p:spPr>
          <a:xfrm>
            <a:off x="777240" y="822960"/>
            <a:ext cx="1143000" cy="1143000"/>
          </a:xfrm>
          <a:prstGeom prst="ellipse">
            <a:avLst/>
          </a:prstGeom>
          <a:solidFill>
            <a:srgbClr val="E39A20"/>
          </a:solidFill>
          <a:ln/>
        </p:spPr>
      </p:sp>
      <p:pic>
        <p:nvPicPr>
          <p:cNvPr id="5" name="Image 0" descr="preencoded.png">    </p:cNvPr>
          <p:cNvPicPr>
            <a:picLocks noChangeAspect="1"/>
          </p:cNvPicPr>
          <p:nvPr/>
        </p:nvPicPr>
        <p:blipFill>
          <a:blip r:embed="rId1"/>
          <a:stretch>
            <a:fillRect/>
          </a:stretch>
        </p:blipFill>
        <p:spPr>
          <a:xfrm>
            <a:off x="1085850" y="1131570"/>
            <a:ext cx="525780" cy="525780"/>
          </a:xfrm>
          <a:prstGeom prst="rect">
            <a:avLst/>
          </a:prstGeom>
        </p:spPr>
      </p:pic>
      <p:sp>
        <p:nvSpPr>
          <p:cNvPr id="6" name="Text 3"/>
          <p:cNvSpPr/>
          <p:nvPr/>
        </p:nvSpPr>
        <p:spPr>
          <a:xfrm>
            <a:off x="777240" y="2240280"/>
            <a:ext cx="82296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Scam Smart</a:t>
            </a:r>
            <a:endParaRPr lang="en-US" sz="6000" dirty="0"/>
          </a:p>
        </p:txBody>
      </p:sp>
      <p:sp>
        <p:nvSpPr>
          <p:cNvPr id="7" name="Text 4"/>
          <p:cNvSpPr/>
          <p:nvPr/>
        </p:nvSpPr>
        <p:spPr>
          <a:xfrm>
            <a:off x="777240" y="3246120"/>
            <a:ext cx="8412480" cy="822960"/>
          </a:xfrm>
          <a:prstGeom prst="rect">
            <a:avLst/>
          </a:prstGeom>
          <a:noFill/>
          <a:ln/>
        </p:spPr>
        <p:txBody>
          <a:bodyPr wrap="square" lIns="0" tIns="0" rIns="0" bIns="0" rtlCol="0" anchor="ctr"/>
          <a:lstStyle/>
          <a:p>
            <a:pPr indent="0" marL="0">
              <a:buNone/>
            </a:pPr>
            <a:r>
              <a:rPr lang="en-US" sz="2000" dirty="0">
                <a:solidFill>
                  <a:srgbClr val="CADCFC"/>
                </a:solidFill>
                <a:latin typeface="Arial" pitchFamily="34" charset="0"/>
                <a:ea typeface="Arial" pitchFamily="34" charset="-122"/>
                <a:cs typeface="Arial" pitchFamily="34" charset="-120"/>
              </a:rPr>
              <a:t>Spotting the cons that target older adults — and shutting them down</a:t>
            </a:r>
            <a:endParaRPr lang="en-US" sz="2000" dirty="0"/>
          </a:p>
        </p:txBody>
      </p:sp>
      <p:sp>
        <p:nvSpPr>
          <p:cNvPr id="8" name="Shape 5"/>
          <p:cNvSpPr/>
          <p:nvPr/>
        </p:nvSpPr>
        <p:spPr>
          <a:xfrm>
            <a:off x="777240" y="4343400"/>
            <a:ext cx="2011680" cy="41148"/>
          </a:xfrm>
          <a:prstGeom prst="rect">
            <a:avLst/>
          </a:prstGeom>
          <a:solidFill>
            <a:srgbClr val="E39A20"/>
          </a:solidFill>
          <a:ln/>
        </p:spPr>
      </p:sp>
      <p:sp>
        <p:nvSpPr>
          <p:cNvPr id="9" name="Text 6"/>
          <p:cNvSpPr/>
          <p:nvPr/>
        </p:nvSpPr>
        <p:spPr>
          <a:xfrm>
            <a:off x="777240" y="4663440"/>
            <a:ext cx="7863840" cy="731520"/>
          </a:xfrm>
          <a:prstGeom prst="rect">
            <a:avLst/>
          </a:prstGeom>
          <a:noFill/>
          <a:ln/>
        </p:spPr>
        <p:txBody>
          <a:bodyPr wrap="square" lIns="0" tIns="0" rIns="0" bIns="0" rtlCol="0" anchor="ctr"/>
          <a:lstStyle/>
          <a:p>
            <a:pPr indent="0" marL="0">
              <a:buNone/>
            </a:pPr>
            <a:r>
              <a:rPr lang="en-US" sz="1500" i="1" dirty="0">
                <a:solidFill>
                  <a:srgbClr val="A9B6D9"/>
                </a:solidFill>
                <a:latin typeface="Arial" pitchFamily="34" charset="0"/>
                <a:ea typeface="Arial" pitchFamily="34" charset="-122"/>
                <a:cs typeface="Arial" pitchFamily="34" charset="-120"/>
              </a:rPr>
              <a:t>A 25-minute conversation about money, trust, and the one habit that stops almost all of it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48640"/>
            <a:ext cx="1088136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Two things before we start</a:t>
            </a:r>
            <a:endParaRPr lang="en-US" sz="3800" dirty="0"/>
          </a:p>
        </p:txBody>
      </p:sp>
      <p:sp>
        <p:nvSpPr>
          <p:cNvPr id="3" name="Shape 1"/>
          <p:cNvSpPr/>
          <p:nvPr/>
        </p:nvSpPr>
        <p:spPr>
          <a:xfrm>
            <a:off x="640080" y="1691640"/>
            <a:ext cx="10881360" cy="1783080"/>
          </a:xfrm>
          <a:prstGeom prst="roundRect">
            <a:avLst>
              <a:gd name="adj" fmla="val 5128"/>
            </a:avLst>
          </a:prstGeom>
          <a:solidFill>
            <a:srgbClr val="27346F"/>
          </a:solidFill>
          <a:ln/>
        </p:spPr>
      </p:sp>
      <p:sp>
        <p:nvSpPr>
          <p:cNvPr id="4" name="Shape 2"/>
          <p:cNvSpPr/>
          <p:nvPr/>
        </p:nvSpPr>
        <p:spPr>
          <a:xfrm>
            <a:off x="960120" y="2075688"/>
            <a:ext cx="1005840" cy="1005840"/>
          </a:xfrm>
          <a:prstGeom prst="ellipse">
            <a:avLst/>
          </a:prstGeom>
          <a:solidFill>
            <a:srgbClr val="E39A20"/>
          </a:solidFill>
          <a:ln/>
        </p:spPr>
      </p:sp>
      <p:sp>
        <p:nvSpPr>
          <p:cNvPr id="5" name="Text 3"/>
          <p:cNvSpPr/>
          <p:nvPr/>
        </p:nvSpPr>
        <p:spPr>
          <a:xfrm>
            <a:off x="960120" y="2075688"/>
            <a:ext cx="1005840" cy="100584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1</a:t>
            </a:r>
            <a:endParaRPr lang="en-US" sz="4000" dirty="0"/>
          </a:p>
        </p:txBody>
      </p:sp>
      <p:sp>
        <p:nvSpPr>
          <p:cNvPr id="6" name="Text 4"/>
          <p:cNvSpPr/>
          <p:nvPr/>
        </p:nvSpPr>
        <p:spPr>
          <a:xfrm>
            <a:off x="2286000" y="1965960"/>
            <a:ext cx="88696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This is not about being gullible.</a:t>
            </a:r>
            <a:endParaRPr lang="en-US" sz="2400" dirty="0"/>
          </a:p>
        </p:txBody>
      </p:sp>
      <p:sp>
        <p:nvSpPr>
          <p:cNvPr id="7" name="Text 5"/>
          <p:cNvSpPr/>
          <p:nvPr/>
        </p:nvSpPr>
        <p:spPr>
          <a:xfrm>
            <a:off x="2286000" y="2468880"/>
            <a:ext cx="8869680" cy="868680"/>
          </a:xfrm>
          <a:prstGeom prst="rect">
            <a:avLst/>
          </a:prstGeom>
          <a:noFill/>
          <a:ln/>
        </p:spPr>
        <p:txBody>
          <a:bodyPr wrap="square" lIns="0" tIns="0" rIns="0" bIns="0" rtlCol="0" anchor="ctr"/>
          <a:lstStyle/>
          <a:p>
            <a:pPr indent="0" marL="0">
              <a:buNone/>
            </a:pPr>
            <a:r>
              <a:rPr lang="en-US" sz="1600" dirty="0">
                <a:solidFill>
                  <a:srgbClr val="CADCFC"/>
                </a:solidFill>
                <a:latin typeface="Arial" pitchFamily="34" charset="0"/>
                <a:ea typeface="Arial" pitchFamily="34" charset="-122"/>
                <a:cs typeface="Arial" pitchFamily="34" charset="-120"/>
              </a:rPr>
              <a:t>These crews are trained, scripted, and paid to do this all day. Falling for one is not a sign that anything is wrong with you — it's a sign a professional got to you.</a:t>
            </a:r>
            <a:endParaRPr lang="en-US" sz="1600" dirty="0"/>
          </a:p>
        </p:txBody>
      </p:sp>
      <p:sp>
        <p:nvSpPr>
          <p:cNvPr id="8" name="Shape 6"/>
          <p:cNvSpPr/>
          <p:nvPr/>
        </p:nvSpPr>
        <p:spPr>
          <a:xfrm>
            <a:off x="640080" y="3749040"/>
            <a:ext cx="10881360" cy="1783080"/>
          </a:xfrm>
          <a:prstGeom prst="roundRect">
            <a:avLst>
              <a:gd name="adj" fmla="val 5128"/>
            </a:avLst>
          </a:prstGeom>
          <a:solidFill>
            <a:srgbClr val="27346F"/>
          </a:solidFill>
          <a:ln/>
        </p:spPr>
      </p:sp>
      <p:sp>
        <p:nvSpPr>
          <p:cNvPr id="9" name="Shape 7"/>
          <p:cNvSpPr/>
          <p:nvPr/>
        </p:nvSpPr>
        <p:spPr>
          <a:xfrm>
            <a:off x="960120" y="4133088"/>
            <a:ext cx="1005840" cy="1005840"/>
          </a:xfrm>
          <a:prstGeom prst="ellipse">
            <a:avLst/>
          </a:prstGeom>
          <a:solidFill>
            <a:srgbClr val="E39A20"/>
          </a:solidFill>
          <a:ln/>
        </p:spPr>
      </p:sp>
      <p:sp>
        <p:nvSpPr>
          <p:cNvPr id="10" name="Text 8"/>
          <p:cNvSpPr/>
          <p:nvPr/>
        </p:nvSpPr>
        <p:spPr>
          <a:xfrm>
            <a:off x="960120" y="4133088"/>
            <a:ext cx="1005840" cy="100584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2</a:t>
            </a:r>
            <a:endParaRPr lang="en-US" sz="4000" dirty="0"/>
          </a:p>
        </p:txBody>
      </p:sp>
      <p:sp>
        <p:nvSpPr>
          <p:cNvPr id="11" name="Text 9"/>
          <p:cNvSpPr/>
          <p:nvPr/>
        </p:nvSpPr>
        <p:spPr>
          <a:xfrm>
            <a:off x="2286000" y="4023360"/>
            <a:ext cx="88696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You do not need to learn 40 scams.</a:t>
            </a:r>
            <a:endParaRPr lang="en-US" sz="2400" dirty="0"/>
          </a:p>
        </p:txBody>
      </p:sp>
      <p:sp>
        <p:nvSpPr>
          <p:cNvPr id="12" name="Text 10"/>
          <p:cNvSpPr/>
          <p:nvPr/>
        </p:nvSpPr>
        <p:spPr>
          <a:xfrm>
            <a:off x="2286000" y="4526280"/>
            <a:ext cx="8869680" cy="868680"/>
          </a:xfrm>
          <a:prstGeom prst="rect">
            <a:avLst/>
          </a:prstGeom>
          <a:noFill/>
          <a:ln/>
        </p:spPr>
        <p:txBody>
          <a:bodyPr wrap="square" lIns="0" tIns="0" rIns="0" bIns="0" rtlCol="0" anchor="ctr"/>
          <a:lstStyle/>
          <a:p>
            <a:pPr indent="0" marL="0">
              <a:buNone/>
            </a:pPr>
            <a:r>
              <a:rPr lang="en-US" sz="1600" dirty="0">
                <a:solidFill>
                  <a:srgbClr val="CADCFC"/>
                </a:solidFill>
                <a:latin typeface="Arial" pitchFamily="34" charset="0"/>
                <a:ea typeface="Arial" pitchFamily="34" charset="-122"/>
                <a:cs typeface="Arial" pitchFamily="34" charset="-120"/>
              </a:rPr>
              <a:t>Every scam on the next 20 slides runs the same three-step play. Learn the play once, and you can catch a scam that hasn't been invented yet.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THE SCALE OF IT</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Last year, Americans 60 and older reported losing</a:t>
            </a:r>
            <a:endParaRPr lang="en-US" sz="3400" dirty="0"/>
          </a:p>
        </p:txBody>
      </p:sp>
      <p:sp>
        <p:nvSpPr>
          <p:cNvPr id="4" name="Text 2"/>
          <p:cNvSpPr/>
          <p:nvPr/>
        </p:nvSpPr>
        <p:spPr>
          <a:xfrm>
            <a:off x="548640" y="1463040"/>
            <a:ext cx="5669280" cy="1188720"/>
          </a:xfrm>
          <a:prstGeom prst="rect">
            <a:avLst/>
          </a:prstGeom>
          <a:noFill/>
          <a:ln/>
        </p:spPr>
        <p:txBody>
          <a:bodyPr wrap="square" lIns="0" tIns="0" rIns="0" bIns="0" rtlCol="0" anchor="ctr"/>
          <a:lstStyle/>
          <a:p>
            <a:pPr indent="0" marL="0">
              <a:buNone/>
            </a:pPr>
            <a:r>
              <a:rPr lang="en-US" sz="6600" b="1" dirty="0">
                <a:solidFill>
                  <a:srgbClr val="B02A28"/>
                </a:solidFill>
                <a:latin typeface="Cambria" pitchFamily="34" charset="0"/>
                <a:ea typeface="Cambria" pitchFamily="34" charset="-122"/>
                <a:cs typeface="Cambria" pitchFamily="34" charset="-120"/>
              </a:rPr>
              <a:t>$7.75 billion</a:t>
            </a:r>
            <a:endParaRPr lang="en-US" sz="6600" dirty="0"/>
          </a:p>
        </p:txBody>
      </p:sp>
      <p:sp>
        <p:nvSpPr>
          <p:cNvPr id="5" name="Text 3"/>
          <p:cNvSpPr/>
          <p:nvPr/>
        </p:nvSpPr>
        <p:spPr>
          <a:xfrm>
            <a:off x="566928" y="2697480"/>
            <a:ext cx="5486400" cy="548640"/>
          </a:xfrm>
          <a:prstGeom prst="rect">
            <a:avLst/>
          </a:prstGeom>
          <a:noFill/>
          <a:ln/>
        </p:spPr>
        <p:txBody>
          <a:bodyPr wrap="square" lIns="0" tIns="0" rIns="0" bIns="0" rtlCol="0" anchor="ctr"/>
          <a:lstStyle/>
          <a:p>
            <a:pPr indent="0" marL="0">
              <a:buNone/>
            </a:pPr>
            <a:r>
              <a:rPr lang="en-US" sz="1800" dirty="0">
                <a:solidFill>
                  <a:srgbClr val="16192B"/>
                </a:solidFill>
                <a:latin typeface="Arial" pitchFamily="34" charset="0"/>
                <a:ea typeface="Arial" pitchFamily="34" charset="-122"/>
                <a:cs typeface="Arial" pitchFamily="34" charset="-120"/>
              </a:rPr>
              <a:t>to online scams — a 59% jump in a single year.</a:t>
            </a:r>
            <a:endParaRPr lang="en-US" sz="1800" dirty="0"/>
          </a:p>
        </p:txBody>
      </p:sp>
      <p:sp>
        <p:nvSpPr>
          <p:cNvPr id="6" name="Shape 4"/>
          <p:cNvSpPr/>
          <p:nvPr/>
        </p:nvSpPr>
        <p:spPr>
          <a:xfrm>
            <a:off x="548640" y="3429000"/>
            <a:ext cx="5577840" cy="1874520"/>
          </a:xfrm>
          <a:prstGeom prst="roundRect">
            <a:avLst>
              <a:gd name="adj" fmla="val 4878"/>
            </a:avLst>
          </a:prstGeom>
          <a:solidFill>
            <a:srgbClr val="FFFFFF"/>
          </a:solidFill>
          <a:ln w="12700">
            <a:solidFill>
              <a:srgbClr val="D8E0EF"/>
            </a:solidFill>
            <a:prstDash val="solid"/>
          </a:ln>
        </p:spPr>
      </p:sp>
      <p:sp>
        <p:nvSpPr>
          <p:cNvPr id="7" name="Shape 5"/>
          <p:cNvSpPr/>
          <p:nvPr/>
        </p:nvSpPr>
        <p:spPr>
          <a:xfrm>
            <a:off x="868680" y="3749040"/>
            <a:ext cx="640080" cy="640080"/>
          </a:xfrm>
          <a:prstGeom prst="ellipse">
            <a:avLst/>
          </a:prstGeom>
          <a:solidFill>
            <a:srgbClr val="E39A20"/>
          </a:solidFill>
          <a:ln/>
        </p:spPr>
      </p:sp>
      <p:pic>
        <p:nvPicPr>
          <p:cNvPr id="8" name="Image 0" descr="preencoded.png">    </p:cNvPr>
          <p:cNvPicPr>
            <a:picLocks noChangeAspect="1"/>
          </p:cNvPicPr>
          <p:nvPr/>
        </p:nvPicPr>
        <p:blipFill>
          <a:blip r:embed="rId1"/>
          <a:stretch>
            <a:fillRect/>
          </a:stretch>
        </p:blipFill>
        <p:spPr>
          <a:xfrm>
            <a:off x="1041502" y="3921862"/>
            <a:ext cx="294437" cy="294437"/>
          </a:xfrm>
          <a:prstGeom prst="rect">
            <a:avLst/>
          </a:prstGeom>
        </p:spPr>
      </p:pic>
      <p:sp>
        <p:nvSpPr>
          <p:cNvPr id="9" name="Text 6"/>
          <p:cNvSpPr/>
          <p:nvPr/>
        </p:nvSpPr>
        <p:spPr>
          <a:xfrm>
            <a:off x="1691640" y="3767328"/>
            <a:ext cx="4114800" cy="365760"/>
          </a:xfrm>
          <a:prstGeom prst="rect">
            <a:avLst/>
          </a:prstGeom>
          <a:noFill/>
          <a:ln/>
        </p:spPr>
        <p:txBody>
          <a:bodyPr wrap="square" lIns="0" tIns="0" rIns="0" bIns="0" rtlCol="0" anchor="ctr"/>
          <a:lstStyle/>
          <a:p>
            <a:pPr indent="0" marL="0">
              <a:buNone/>
            </a:pPr>
            <a:r>
              <a:rPr lang="en-US" sz="1600" b="1" dirty="0">
                <a:solidFill>
                  <a:srgbClr val="1E2761"/>
                </a:solidFill>
                <a:latin typeface="Arial" pitchFamily="34" charset="0"/>
                <a:ea typeface="Arial" pitchFamily="34" charset="-122"/>
                <a:cs typeface="Arial" pitchFamily="34" charset="-120"/>
              </a:rPr>
              <a:t>And that is only what got reported.</a:t>
            </a:r>
            <a:endParaRPr lang="en-US" sz="1600" dirty="0"/>
          </a:p>
        </p:txBody>
      </p:sp>
      <p:sp>
        <p:nvSpPr>
          <p:cNvPr id="10" name="Text 7"/>
          <p:cNvSpPr/>
          <p:nvPr/>
        </p:nvSpPr>
        <p:spPr>
          <a:xfrm>
            <a:off x="1691640" y="4160520"/>
            <a:ext cx="4114800" cy="1005840"/>
          </a:xfrm>
          <a:prstGeom prst="rect">
            <a:avLst/>
          </a:prstGeom>
          <a:noFill/>
          <a:ln/>
        </p:spPr>
        <p:txBody>
          <a:bodyPr wrap="square" lIns="0" tIns="0" rIns="0" bIns="0" rtlCol="0" anchor="ctr"/>
          <a:lstStyle/>
          <a:p>
            <a:pPr indent="0" marL="0">
              <a:buNone/>
            </a:pPr>
            <a:r>
              <a:rPr lang="en-US" sz="1300" dirty="0">
                <a:solidFill>
                  <a:srgbClr val="56607A"/>
                </a:solidFill>
                <a:latin typeface="Arial" pitchFamily="34" charset="0"/>
                <a:ea typeface="Arial" pitchFamily="34" charset="-122"/>
                <a:cs typeface="Arial" pitchFamily="34" charset="-120"/>
              </a:rPr>
              <a:t>The FBI says the true total is almost certainly much higher, because many people never report — out of embarrassment, or not knowing where to call.</a:t>
            </a:r>
            <a:endParaRPr lang="en-US" sz="1300" dirty="0"/>
          </a:p>
        </p:txBody>
      </p:sp>
      <p:graphicFrame>
        <p:nvGraphicFramePr>
          <p:cNvPr id="11" name="Chart 0" descr=""/>
          <p:cNvGraphicFramePr/>
          <p:nvPr/>
        </p:nvGraphicFramePr>
        <p:xfrm>
          <a:off x="6492240" y="1417320"/>
          <a:ext cx="5120640" cy="3931920"/>
        </p:xfrm>
        <a:graphic xmlns:a="http://schemas.openxmlformats.org/drawingml/2006/main">
          <a:graphicData uri="http://schemas.openxmlformats.org/drawingml/2006/chart">
            <c:chart xmlns:c="http://schemas.openxmlformats.org/drawingml/2006/chart" r:id="rId2"/>
          </a:graphicData>
        </a:graphic>
      </p:graphicFrame>
      <p:sp>
        <p:nvSpPr>
          <p:cNvPr id="12" name="Text 8"/>
          <p:cNvSpPr/>
          <p:nvPr/>
        </p:nvSpPr>
        <p:spPr>
          <a:xfrm>
            <a:off x="548640" y="6355080"/>
            <a:ext cx="11064240" cy="274320"/>
          </a:xfrm>
          <a:prstGeom prst="rect">
            <a:avLst/>
          </a:prstGeom>
          <a:noFill/>
          <a:ln/>
        </p:spPr>
        <p:txBody>
          <a:bodyPr wrap="square" lIns="0" tIns="0" rIns="0" bIns="0" rtlCol="0" anchor="ctr"/>
          <a:lstStyle/>
          <a:p>
            <a:pPr indent="0" marL="0">
              <a:buNone/>
            </a:pPr>
            <a:r>
              <a:rPr lang="en-US" sz="1000" i="1" dirty="0">
                <a:solidFill>
                  <a:srgbClr val="56607A"/>
                </a:solidFill>
                <a:latin typeface="Arial" pitchFamily="34" charset="0"/>
                <a:ea typeface="Arial" pitchFamily="34" charset="-122"/>
                <a:cs typeface="Arial" pitchFamily="34" charset="-120"/>
              </a:rPr>
              <a:t>Source: FBI Internet Crime Complaint Center (IC3), 2025 Annual Report, released April 2026 — ic3.gov</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WHY THIS ROOM</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You are 20% of the complaints — and 37% of the money</a:t>
            </a:r>
            <a:endParaRPr lang="en-US" sz="3400" dirty="0"/>
          </a:p>
        </p:txBody>
      </p:sp>
      <p:sp>
        <p:nvSpPr>
          <p:cNvPr id="4" name="Shape 2"/>
          <p:cNvSpPr/>
          <p:nvPr/>
        </p:nvSpPr>
        <p:spPr>
          <a:xfrm>
            <a:off x="548640" y="1600200"/>
            <a:ext cx="3520440" cy="2286000"/>
          </a:xfrm>
          <a:prstGeom prst="roundRect">
            <a:avLst>
              <a:gd name="adj" fmla="val 4000"/>
            </a:avLst>
          </a:prstGeom>
          <a:solidFill>
            <a:srgbClr val="FFFFFF"/>
          </a:solidFill>
          <a:ln w="12700">
            <a:solidFill>
              <a:srgbClr val="D8E0EF"/>
            </a:solidFill>
            <a:prstDash val="solid"/>
          </a:ln>
        </p:spPr>
      </p:sp>
      <p:sp>
        <p:nvSpPr>
          <p:cNvPr id="5" name="Shape 3"/>
          <p:cNvSpPr/>
          <p:nvPr/>
        </p:nvSpPr>
        <p:spPr>
          <a:xfrm>
            <a:off x="841248" y="1874520"/>
            <a:ext cx="566928" cy="566928"/>
          </a:xfrm>
          <a:prstGeom prst="ellipse">
            <a:avLst/>
          </a:prstGeom>
          <a:solidFill>
            <a:srgbClr val="F3F6FC"/>
          </a:solidFill>
          <a:ln/>
        </p:spPr>
      </p:sp>
      <p:pic>
        <p:nvPicPr>
          <p:cNvPr id="6" name="Image 0" descr="preencoded.png">    </p:cNvPr>
          <p:cNvPicPr>
            <a:picLocks noChangeAspect="1"/>
          </p:cNvPicPr>
          <p:nvPr/>
        </p:nvPicPr>
        <p:blipFill>
          <a:blip r:embed="rId1"/>
          <a:stretch>
            <a:fillRect/>
          </a:stretch>
        </p:blipFill>
        <p:spPr>
          <a:xfrm>
            <a:off x="994319" y="2027591"/>
            <a:ext cx="260787" cy="260787"/>
          </a:xfrm>
          <a:prstGeom prst="rect">
            <a:avLst/>
          </a:prstGeom>
        </p:spPr>
      </p:pic>
      <p:sp>
        <p:nvSpPr>
          <p:cNvPr id="7" name="Text 4"/>
          <p:cNvSpPr/>
          <p:nvPr/>
        </p:nvSpPr>
        <p:spPr>
          <a:xfrm>
            <a:off x="841248" y="2542032"/>
            <a:ext cx="2926080" cy="640080"/>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201,266</a:t>
            </a:r>
            <a:endParaRPr lang="en-US" sz="4000" dirty="0"/>
          </a:p>
        </p:txBody>
      </p:sp>
      <p:sp>
        <p:nvSpPr>
          <p:cNvPr id="8" name="Text 5"/>
          <p:cNvSpPr/>
          <p:nvPr/>
        </p:nvSpPr>
        <p:spPr>
          <a:xfrm>
            <a:off x="841248" y="3154680"/>
            <a:ext cx="2971800" cy="640080"/>
          </a:xfrm>
          <a:prstGeom prst="rect">
            <a:avLst/>
          </a:prstGeom>
          <a:noFill/>
          <a:ln/>
        </p:spPr>
        <p:txBody>
          <a:bodyPr wrap="square" lIns="0" tIns="0" rIns="0" bIns="0" rtlCol="0" anchor="ctr"/>
          <a:lstStyle/>
          <a:p>
            <a:pPr indent="0" marL="0">
              <a:buNone/>
            </a:pPr>
            <a:r>
              <a:rPr lang="en-US" sz="1350" dirty="0">
                <a:solidFill>
                  <a:srgbClr val="56607A"/>
                </a:solidFill>
                <a:latin typeface="Arial" pitchFamily="34" charset="0"/>
                <a:ea typeface="Arial" pitchFamily="34" charset="-122"/>
                <a:cs typeface="Arial" pitchFamily="34" charset="-120"/>
              </a:rPr>
              <a:t>complaints filed by people 60+ in 2025</a:t>
            </a:r>
            <a:endParaRPr lang="en-US" sz="1350" dirty="0"/>
          </a:p>
        </p:txBody>
      </p:sp>
      <p:sp>
        <p:nvSpPr>
          <p:cNvPr id="9" name="Shape 6"/>
          <p:cNvSpPr/>
          <p:nvPr/>
        </p:nvSpPr>
        <p:spPr>
          <a:xfrm>
            <a:off x="4343400" y="1600200"/>
            <a:ext cx="3520440" cy="2286000"/>
          </a:xfrm>
          <a:prstGeom prst="roundRect">
            <a:avLst>
              <a:gd name="adj" fmla="val 4000"/>
            </a:avLst>
          </a:prstGeom>
          <a:solidFill>
            <a:srgbClr val="FFFFFF"/>
          </a:solidFill>
          <a:ln w="12700">
            <a:solidFill>
              <a:srgbClr val="D8E0EF"/>
            </a:solidFill>
            <a:prstDash val="solid"/>
          </a:ln>
        </p:spPr>
      </p:sp>
      <p:sp>
        <p:nvSpPr>
          <p:cNvPr id="10" name="Shape 7"/>
          <p:cNvSpPr/>
          <p:nvPr/>
        </p:nvSpPr>
        <p:spPr>
          <a:xfrm>
            <a:off x="4636008" y="1874520"/>
            <a:ext cx="566928" cy="566928"/>
          </a:xfrm>
          <a:prstGeom prst="ellipse">
            <a:avLst/>
          </a:prstGeom>
          <a:solidFill>
            <a:srgbClr val="F3F6FC"/>
          </a:solidFill>
          <a:ln/>
        </p:spPr>
      </p:sp>
      <p:pic>
        <p:nvPicPr>
          <p:cNvPr id="11" name="Image 1" descr="preencoded.png">    </p:cNvPr>
          <p:cNvPicPr>
            <a:picLocks noChangeAspect="1"/>
          </p:cNvPicPr>
          <p:nvPr/>
        </p:nvPicPr>
        <p:blipFill>
          <a:blip r:embed="rId2"/>
          <a:stretch>
            <a:fillRect/>
          </a:stretch>
        </p:blipFill>
        <p:spPr>
          <a:xfrm>
            <a:off x="4789079" y="2027591"/>
            <a:ext cx="260787" cy="260787"/>
          </a:xfrm>
          <a:prstGeom prst="rect">
            <a:avLst/>
          </a:prstGeom>
        </p:spPr>
      </p:pic>
      <p:sp>
        <p:nvSpPr>
          <p:cNvPr id="12" name="Text 8"/>
          <p:cNvSpPr/>
          <p:nvPr/>
        </p:nvSpPr>
        <p:spPr>
          <a:xfrm>
            <a:off x="4636008" y="2542032"/>
            <a:ext cx="2926080" cy="640080"/>
          </a:xfrm>
          <a:prstGeom prst="rect">
            <a:avLst/>
          </a:prstGeom>
          <a:noFill/>
          <a:ln/>
        </p:spPr>
        <p:txBody>
          <a:bodyPr wrap="square" lIns="0" tIns="0" rIns="0" bIns="0" rtlCol="0" anchor="ctr"/>
          <a:lstStyle/>
          <a:p>
            <a:pPr indent="0" marL="0">
              <a:buNone/>
            </a:pPr>
            <a:r>
              <a:rPr lang="en-US" sz="4000" b="1" dirty="0">
                <a:solidFill>
                  <a:srgbClr val="B02A28"/>
                </a:solidFill>
                <a:latin typeface="Cambria" pitchFamily="34" charset="0"/>
                <a:ea typeface="Cambria" pitchFamily="34" charset="-122"/>
                <a:cs typeface="Cambria" pitchFamily="34" charset="-120"/>
              </a:rPr>
              <a:t>$38,501</a:t>
            </a:r>
            <a:endParaRPr lang="en-US" sz="4000" dirty="0"/>
          </a:p>
        </p:txBody>
      </p:sp>
      <p:sp>
        <p:nvSpPr>
          <p:cNvPr id="13" name="Text 9"/>
          <p:cNvSpPr/>
          <p:nvPr/>
        </p:nvSpPr>
        <p:spPr>
          <a:xfrm>
            <a:off x="4636008" y="3154680"/>
            <a:ext cx="2971800" cy="640080"/>
          </a:xfrm>
          <a:prstGeom prst="rect">
            <a:avLst/>
          </a:prstGeom>
          <a:noFill/>
          <a:ln/>
        </p:spPr>
        <p:txBody>
          <a:bodyPr wrap="square" lIns="0" tIns="0" rIns="0" bIns="0" rtlCol="0" anchor="ctr"/>
          <a:lstStyle/>
          <a:p>
            <a:pPr indent="0" marL="0">
              <a:buNone/>
            </a:pPr>
            <a:r>
              <a:rPr lang="en-US" sz="1350" dirty="0">
                <a:solidFill>
                  <a:srgbClr val="56607A"/>
                </a:solidFill>
                <a:latin typeface="Arial" pitchFamily="34" charset="0"/>
                <a:ea typeface="Arial" pitchFamily="34" charset="-122"/>
                <a:cs typeface="Arial" pitchFamily="34" charset="-120"/>
              </a:rPr>
              <a:t>average loss per victim — nearly double every other age group</a:t>
            </a:r>
            <a:endParaRPr lang="en-US" sz="1350" dirty="0"/>
          </a:p>
        </p:txBody>
      </p:sp>
      <p:sp>
        <p:nvSpPr>
          <p:cNvPr id="14" name="Shape 10"/>
          <p:cNvSpPr/>
          <p:nvPr/>
        </p:nvSpPr>
        <p:spPr>
          <a:xfrm>
            <a:off x="8138160" y="1600200"/>
            <a:ext cx="3520440" cy="2286000"/>
          </a:xfrm>
          <a:prstGeom prst="roundRect">
            <a:avLst>
              <a:gd name="adj" fmla="val 4000"/>
            </a:avLst>
          </a:prstGeom>
          <a:solidFill>
            <a:srgbClr val="FFFFFF"/>
          </a:solidFill>
          <a:ln w="12700">
            <a:solidFill>
              <a:srgbClr val="D8E0EF"/>
            </a:solidFill>
            <a:prstDash val="solid"/>
          </a:ln>
        </p:spPr>
      </p:sp>
      <p:sp>
        <p:nvSpPr>
          <p:cNvPr id="15" name="Shape 11"/>
          <p:cNvSpPr/>
          <p:nvPr/>
        </p:nvSpPr>
        <p:spPr>
          <a:xfrm>
            <a:off x="8430768" y="1874520"/>
            <a:ext cx="566928" cy="566928"/>
          </a:xfrm>
          <a:prstGeom prst="ellipse">
            <a:avLst/>
          </a:prstGeom>
          <a:solidFill>
            <a:srgbClr val="F3F6FC"/>
          </a:solidFill>
          <a:ln/>
        </p:spPr>
      </p:sp>
      <p:pic>
        <p:nvPicPr>
          <p:cNvPr id="16" name="Image 2" descr="preencoded.png">    </p:cNvPr>
          <p:cNvPicPr>
            <a:picLocks noChangeAspect="1"/>
          </p:cNvPicPr>
          <p:nvPr/>
        </p:nvPicPr>
        <p:blipFill>
          <a:blip r:embed="rId3"/>
          <a:stretch>
            <a:fillRect/>
          </a:stretch>
        </p:blipFill>
        <p:spPr>
          <a:xfrm>
            <a:off x="8583839" y="2027591"/>
            <a:ext cx="260787" cy="260787"/>
          </a:xfrm>
          <a:prstGeom prst="rect">
            <a:avLst/>
          </a:prstGeom>
        </p:spPr>
      </p:pic>
      <p:sp>
        <p:nvSpPr>
          <p:cNvPr id="17" name="Text 12"/>
          <p:cNvSpPr/>
          <p:nvPr/>
        </p:nvSpPr>
        <p:spPr>
          <a:xfrm>
            <a:off x="8430768" y="2542032"/>
            <a:ext cx="2926080" cy="640080"/>
          </a:xfrm>
          <a:prstGeom prst="rect">
            <a:avLst/>
          </a:prstGeom>
          <a:noFill/>
          <a:ln/>
        </p:spPr>
        <p:txBody>
          <a:bodyPr wrap="square" lIns="0" tIns="0" rIns="0" bIns="0" rtlCol="0" anchor="ctr"/>
          <a:lstStyle/>
          <a:p>
            <a:pPr indent="0" marL="0">
              <a:buNone/>
            </a:pPr>
            <a:r>
              <a:rPr lang="en-US" sz="4000" b="1" dirty="0">
                <a:solidFill>
                  <a:srgbClr val="E39A20"/>
                </a:solidFill>
                <a:latin typeface="Cambria" pitchFamily="34" charset="0"/>
                <a:ea typeface="Cambria" pitchFamily="34" charset="-122"/>
                <a:cs typeface="Cambria" pitchFamily="34" charset="-120"/>
              </a:rPr>
              <a:t>#2</a:t>
            </a:r>
            <a:endParaRPr lang="en-US" sz="4000" dirty="0"/>
          </a:p>
        </p:txBody>
      </p:sp>
      <p:sp>
        <p:nvSpPr>
          <p:cNvPr id="18" name="Text 13"/>
          <p:cNvSpPr/>
          <p:nvPr/>
        </p:nvSpPr>
        <p:spPr>
          <a:xfrm>
            <a:off x="8430768" y="3154680"/>
            <a:ext cx="2971800" cy="640080"/>
          </a:xfrm>
          <a:prstGeom prst="rect">
            <a:avLst/>
          </a:prstGeom>
          <a:noFill/>
          <a:ln/>
        </p:spPr>
        <p:txBody>
          <a:bodyPr wrap="square" lIns="0" tIns="0" rIns="0" bIns="0" rtlCol="0" anchor="ctr"/>
          <a:lstStyle/>
          <a:p>
            <a:pPr indent="0" marL="0">
              <a:buNone/>
            </a:pPr>
            <a:r>
              <a:rPr lang="en-US" sz="1350" dirty="0">
                <a:solidFill>
                  <a:srgbClr val="56607A"/>
                </a:solidFill>
                <a:latin typeface="Arial" pitchFamily="34" charset="0"/>
                <a:ea typeface="Arial" pitchFamily="34" charset="-122"/>
                <a:cs typeface="Arial" pitchFamily="34" charset="-120"/>
              </a:rPr>
              <a:t>Texas ranks second in the nation for complaints, behind only California</a:t>
            </a:r>
            <a:endParaRPr lang="en-US" sz="1350" dirty="0"/>
          </a:p>
        </p:txBody>
      </p:sp>
      <p:sp>
        <p:nvSpPr>
          <p:cNvPr id="19" name="Shape 14"/>
          <p:cNvSpPr/>
          <p:nvPr/>
        </p:nvSpPr>
        <p:spPr>
          <a:xfrm>
            <a:off x="548640" y="4206240"/>
            <a:ext cx="11064240" cy="1600200"/>
          </a:xfrm>
          <a:prstGeom prst="roundRect">
            <a:avLst>
              <a:gd name="adj" fmla="val 5714"/>
            </a:avLst>
          </a:prstGeom>
          <a:solidFill>
            <a:srgbClr val="1E2761"/>
          </a:solidFill>
          <a:ln/>
        </p:spPr>
      </p:sp>
      <p:sp>
        <p:nvSpPr>
          <p:cNvPr id="20" name="Shape 15"/>
          <p:cNvSpPr/>
          <p:nvPr/>
        </p:nvSpPr>
        <p:spPr>
          <a:xfrm>
            <a:off x="914400" y="4617720"/>
            <a:ext cx="777240" cy="777240"/>
          </a:xfrm>
          <a:prstGeom prst="ellipse">
            <a:avLst/>
          </a:prstGeom>
          <a:solidFill>
            <a:srgbClr val="E39A20"/>
          </a:solidFill>
          <a:ln/>
        </p:spPr>
      </p:sp>
      <p:pic>
        <p:nvPicPr>
          <p:cNvPr id="21" name="Image 3" descr="preencoded.png">    </p:cNvPr>
          <p:cNvPicPr>
            <a:picLocks noChangeAspect="1"/>
          </p:cNvPicPr>
          <p:nvPr/>
        </p:nvPicPr>
        <p:blipFill>
          <a:blip r:embed="rId4"/>
          <a:stretch>
            <a:fillRect/>
          </a:stretch>
        </p:blipFill>
        <p:spPr>
          <a:xfrm>
            <a:off x="1124255" y="4827575"/>
            <a:ext cx="357530" cy="357530"/>
          </a:xfrm>
          <a:prstGeom prst="rect">
            <a:avLst/>
          </a:prstGeom>
        </p:spPr>
      </p:pic>
      <p:sp>
        <p:nvSpPr>
          <p:cNvPr id="22" name="Text 16"/>
          <p:cNvSpPr/>
          <p:nvPr/>
        </p:nvSpPr>
        <p:spPr>
          <a:xfrm>
            <a:off x="1965960" y="4526280"/>
            <a:ext cx="923544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Why older adults specifically?</a:t>
            </a:r>
            <a:endParaRPr lang="en-US" sz="2000" dirty="0"/>
          </a:p>
        </p:txBody>
      </p:sp>
      <p:sp>
        <p:nvSpPr>
          <p:cNvPr id="23" name="Text 17"/>
          <p:cNvSpPr/>
          <p:nvPr/>
        </p:nvSpPr>
        <p:spPr>
          <a:xfrm>
            <a:off x="1965960" y="4937760"/>
            <a:ext cx="9235440" cy="777240"/>
          </a:xfrm>
          <a:prstGeom prst="rect">
            <a:avLst/>
          </a:prstGeom>
          <a:noFill/>
          <a:ln/>
        </p:spPr>
        <p:txBody>
          <a:bodyPr wrap="square" lIns="0" tIns="0" rIns="0" bIns="0" rtlCol="0" anchor="ctr"/>
          <a:lstStyle/>
          <a:p>
            <a:pPr indent="0" marL="0">
              <a:buNone/>
            </a:pPr>
            <a:r>
              <a:rPr lang="en-US" sz="1550" dirty="0">
                <a:solidFill>
                  <a:srgbClr val="CADCFC"/>
                </a:solidFill>
                <a:latin typeface="Arial" pitchFamily="34" charset="0"/>
                <a:ea typeface="Arial" pitchFamily="34" charset="-122"/>
                <a:cs typeface="Arial" pitchFamily="34" charset="-120"/>
              </a:rPr>
              <a:t>Not because of confusion. Because you have savings, home equity, good credit, a landline, and — the trait they exploit hardest — you were raised to be polite to strangers and to take a phone call seriously.</a:t>
            </a:r>
            <a:endParaRPr lang="en-US" sz="1550" dirty="0"/>
          </a:p>
        </p:txBody>
      </p:sp>
      <p:sp>
        <p:nvSpPr>
          <p:cNvPr id="24" name="Text 18"/>
          <p:cNvSpPr/>
          <p:nvPr/>
        </p:nvSpPr>
        <p:spPr>
          <a:xfrm>
            <a:off x="548640" y="6355080"/>
            <a:ext cx="11064240" cy="274320"/>
          </a:xfrm>
          <a:prstGeom prst="rect">
            <a:avLst/>
          </a:prstGeom>
          <a:noFill/>
          <a:ln/>
        </p:spPr>
        <p:txBody>
          <a:bodyPr wrap="square" lIns="0" tIns="0" rIns="0" bIns="0" rtlCol="0" anchor="ctr"/>
          <a:lstStyle/>
          <a:p>
            <a:pPr indent="0" marL="0">
              <a:buNone/>
            </a:pPr>
            <a:r>
              <a:rPr lang="en-US" sz="1000" i="1" dirty="0">
                <a:solidFill>
                  <a:srgbClr val="56607A"/>
                </a:solidFill>
                <a:latin typeface="Arial" pitchFamily="34" charset="0"/>
                <a:ea typeface="Arial" pitchFamily="34" charset="-122"/>
                <a:cs typeface="Arial" pitchFamily="34" charset="-120"/>
              </a:rPr>
              <a:t>Source: FBI IC3 2025 Annual Report. Texas: 97,912 complaints, $1.83 billion in losses across all ages.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94360"/>
            <a:ext cx="10881360"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You are not up against "a guy."</a:t>
            </a:r>
            <a:endParaRPr lang="en-US" sz="3800" dirty="0"/>
          </a:p>
        </p:txBody>
      </p:sp>
      <p:sp>
        <p:nvSpPr>
          <p:cNvPr id="3" name="Text 1"/>
          <p:cNvSpPr/>
          <p:nvPr/>
        </p:nvSpPr>
        <p:spPr>
          <a:xfrm>
            <a:off x="640080" y="1298448"/>
            <a:ext cx="10881360" cy="411480"/>
          </a:xfrm>
          <a:prstGeom prst="rect">
            <a:avLst/>
          </a:prstGeom>
          <a:noFill/>
          <a:ln/>
        </p:spPr>
        <p:txBody>
          <a:bodyPr wrap="square" lIns="0" tIns="0" rIns="0" bIns="0" rtlCol="0" anchor="ctr"/>
          <a:lstStyle/>
          <a:p>
            <a:pPr indent="0" marL="0">
              <a:buNone/>
            </a:pPr>
            <a:r>
              <a:rPr lang="en-US" sz="1900" dirty="0">
                <a:solidFill>
                  <a:srgbClr val="E39A20"/>
                </a:solidFill>
                <a:latin typeface="Arial" pitchFamily="34" charset="0"/>
                <a:ea typeface="Arial" pitchFamily="34" charset="-122"/>
                <a:cs typeface="Arial" pitchFamily="34" charset="-120"/>
              </a:rPr>
              <a:t>You're up against an industry with buildings, shifts, and quotas.</a:t>
            </a:r>
            <a:endParaRPr lang="en-US" sz="1900" dirty="0"/>
          </a:p>
        </p:txBody>
      </p:sp>
      <p:sp>
        <p:nvSpPr>
          <p:cNvPr id="4" name="Shape 2"/>
          <p:cNvSpPr/>
          <p:nvPr/>
        </p:nvSpPr>
        <p:spPr>
          <a:xfrm>
            <a:off x="640080" y="2057400"/>
            <a:ext cx="5212080" cy="1691640"/>
          </a:xfrm>
          <a:prstGeom prst="roundRect">
            <a:avLst>
              <a:gd name="adj" fmla="val 5405"/>
            </a:avLst>
          </a:prstGeom>
          <a:solidFill>
            <a:srgbClr val="27346F"/>
          </a:solidFill>
          <a:ln/>
        </p:spPr>
      </p:sp>
      <p:sp>
        <p:nvSpPr>
          <p:cNvPr id="5" name="Shape 3"/>
          <p:cNvSpPr/>
          <p:nvPr/>
        </p:nvSpPr>
        <p:spPr>
          <a:xfrm>
            <a:off x="932688" y="2350008"/>
            <a:ext cx="658368" cy="658368"/>
          </a:xfrm>
          <a:prstGeom prst="ellipse">
            <a:avLst/>
          </a:prstGeom>
          <a:solidFill>
            <a:srgbClr val="E39A20"/>
          </a:solidFill>
          <a:ln/>
        </p:spPr>
      </p:sp>
      <p:pic>
        <p:nvPicPr>
          <p:cNvPr id="6" name="Image 0" descr="preencoded.png">    </p:cNvPr>
          <p:cNvPicPr>
            <a:picLocks noChangeAspect="1"/>
          </p:cNvPicPr>
          <p:nvPr/>
        </p:nvPicPr>
        <p:blipFill>
          <a:blip r:embed="rId1"/>
          <a:stretch>
            <a:fillRect/>
          </a:stretch>
        </p:blipFill>
        <p:spPr>
          <a:xfrm>
            <a:off x="1110447" y="2527767"/>
            <a:ext cx="302849" cy="302849"/>
          </a:xfrm>
          <a:prstGeom prst="rect">
            <a:avLst/>
          </a:prstGeom>
        </p:spPr>
      </p:pic>
      <p:sp>
        <p:nvSpPr>
          <p:cNvPr id="7" name="Text 4"/>
          <p:cNvSpPr/>
          <p:nvPr/>
        </p:nvSpPr>
        <p:spPr>
          <a:xfrm>
            <a:off x="1783080" y="2331720"/>
            <a:ext cx="38404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Call centers</a:t>
            </a:r>
            <a:endParaRPr lang="en-US" sz="2000" dirty="0"/>
          </a:p>
        </p:txBody>
      </p:sp>
      <p:sp>
        <p:nvSpPr>
          <p:cNvPr id="8" name="Text 5"/>
          <p:cNvSpPr/>
          <p:nvPr/>
        </p:nvSpPr>
        <p:spPr>
          <a:xfrm>
            <a:off x="1783080" y="2743200"/>
            <a:ext cx="3840480" cy="868680"/>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Whole floors of workers reading tested scripts, with supervisors coaching in their ear when you hesitate.</a:t>
            </a:r>
            <a:endParaRPr lang="en-US" sz="1400" dirty="0"/>
          </a:p>
        </p:txBody>
      </p:sp>
      <p:sp>
        <p:nvSpPr>
          <p:cNvPr id="9" name="Shape 6"/>
          <p:cNvSpPr/>
          <p:nvPr/>
        </p:nvSpPr>
        <p:spPr>
          <a:xfrm>
            <a:off x="6217920" y="2057400"/>
            <a:ext cx="5212080" cy="1691640"/>
          </a:xfrm>
          <a:prstGeom prst="roundRect">
            <a:avLst>
              <a:gd name="adj" fmla="val 5405"/>
            </a:avLst>
          </a:prstGeom>
          <a:solidFill>
            <a:srgbClr val="27346F"/>
          </a:solidFill>
          <a:ln/>
        </p:spPr>
      </p:sp>
      <p:sp>
        <p:nvSpPr>
          <p:cNvPr id="10" name="Shape 7"/>
          <p:cNvSpPr/>
          <p:nvPr/>
        </p:nvSpPr>
        <p:spPr>
          <a:xfrm>
            <a:off x="6510528" y="2350008"/>
            <a:ext cx="658368" cy="658368"/>
          </a:xfrm>
          <a:prstGeom prst="ellipse">
            <a:avLst/>
          </a:prstGeom>
          <a:solidFill>
            <a:srgbClr val="E39A20"/>
          </a:solidFill>
          <a:ln/>
        </p:spPr>
      </p:sp>
      <p:pic>
        <p:nvPicPr>
          <p:cNvPr id="11" name="Image 1" descr="preencoded.png">    </p:cNvPr>
          <p:cNvPicPr>
            <a:picLocks noChangeAspect="1"/>
          </p:cNvPicPr>
          <p:nvPr/>
        </p:nvPicPr>
        <p:blipFill>
          <a:blip r:embed="rId2"/>
          <a:stretch>
            <a:fillRect/>
          </a:stretch>
        </p:blipFill>
        <p:spPr>
          <a:xfrm>
            <a:off x="6688287" y="2527767"/>
            <a:ext cx="302849" cy="302849"/>
          </a:xfrm>
          <a:prstGeom prst="rect">
            <a:avLst/>
          </a:prstGeom>
        </p:spPr>
      </p:pic>
      <p:sp>
        <p:nvSpPr>
          <p:cNvPr id="12" name="Text 8"/>
          <p:cNvSpPr/>
          <p:nvPr/>
        </p:nvSpPr>
        <p:spPr>
          <a:xfrm>
            <a:off x="7360920" y="2331720"/>
            <a:ext cx="38404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AI tools</a:t>
            </a:r>
            <a:endParaRPr lang="en-US" sz="2000" dirty="0"/>
          </a:p>
        </p:txBody>
      </p:sp>
      <p:sp>
        <p:nvSpPr>
          <p:cNvPr id="13" name="Text 9"/>
          <p:cNvSpPr/>
          <p:nvPr/>
        </p:nvSpPr>
        <p:spPr>
          <a:xfrm>
            <a:off x="7360920" y="2743200"/>
            <a:ext cx="3840480" cy="868680"/>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Cloned voices from a few seconds of audio. Perfect grammar. Fake photos and video used as "proof."</a:t>
            </a:r>
            <a:endParaRPr lang="en-US" sz="1400" dirty="0"/>
          </a:p>
        </p:txBody>
      </p:sp>
      <p:sp>
        <p:nvSpPr>
          <p:cNvPr id="14" name="Shape 10"/>
          <p:cNvSpPr/>
          <p:nvPr/>
        </p:nvSpPr>
        <p:spPr>
          <a:xfrm>
            <a:off x="640080" y="4023360"/>
            <a:ext cx="5212080" cy="1691640"/>
          </a:xfrm>
          <a:prstGeom prst="roundRect">
            <a:avLst>
              <a:gd name="adj" fmla="val 5405"/>
            </a:avLst>
          </a:prstGeom>
          <a:solidFill>
            <a:srgbClr val="27346F"/>
          </a:solidFill>
          <a:ln/>
        </p:spPr>
      </p:sp>
      <p:sp>
        <p:nvSpPr>
          <p:cNvPr id="15" name="Shape 11"/>
          <p:cNvSpPr/>
          <p:nvPr/>
        </p:nvSpPr>
        <p:spPr>
          <a:xfrm>
            <a:off x="932688" y="4315968"/>
            <a:ext cx="658368" cy="658368"/>
          </a:xfrm>
          <a:prstGeom prst="ellipse">
            <a:avLst/>
          </a:prstGeom>
          <a:solidFill>
            <a:srgbClr val="E39A20"/>
          </a:solidFill>
          <a:ln/>
        </p:spPr>
      </p:sp>
      <p:pic>
        <p:nvPicPr>
          <p:cNvPr id="16" name="Image 2" descr="preencoded.png">    </p:cNvPr>
          <p:cNvPicPr>
            <a:picLocks noChangeAspect="1"/>
          </p:cNvPicPr>
          <p:nvPr/>
        </p:nvPicPr>
        <p:blipFill>
          <a:blip r:embed="rId3"/>
          <a:stretch>
            <a:fillRect/>
          </a:stretch>
        </p:blipFill>
        <p:spPr>
          <a:xfrm>
            <a:off x="1110447" y="4493727"/>
            <a:ext cx="302849" cy="302849"/>
          </a:xfrm>
          <a:prstGeom prst="rect">
            <a:avLst/>
          </a:prstGeom>
        </p:spPr>
      </p:pic>
      <p:sp>
        <p:nvSpPr>
          <p:cNvPr id="17" name="Text 12"/>
          <p:cNvSpPr/>
          <p:nvPr/>
        </p:nvSpPr>
        <p:spPr>
          <a:xfrm>
            <a:off x="1783080" y="4297680"/>
            <a:ext cx="38404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Bought data</a:t>
            </a:r>
            <a:endParaRPr lang="en-US" sz="2000" dirty="0"/>
          </a:p>
        </p:txBody>
      </p:sp>
      <p:sp>
        <p:nvSpPr>
          <p:cNvPr id="18" name="Text 13"/>
          <p:cNvSpPr/>
          <p:nvPr/>
        </p:nvSpPr>
        <p:spPr>
          <a:xfrm>
            <a:off x="1783080" y="4709160"/>
            <a:ext cx="3840480" cy="868680"/>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Your details are already for sale. We will look at exactly where that comes from next.</a:t>
            </a:r>
            <a:endParaRPr lang="en-US" sz="1400" dirty="0"/>
          </a:p>
        </p:txBody>
      </p:sp>
      <p:sp>
        <p:nvSpPr>
          <p:cNvPr id="19" name="Shape 14"/>
          <p:cNvSpPr/>
          <p:nvPr/>
        </p:nvSpPr>
        <p:spPr>
          <a:xfrm>
            <a:off x="6217920" y="4023360"/>
            <a:ext cx="5212080" cy="1691640"/>
          </a:xfrm>
          <a:prstGeom prst="roundRect">
            <a:avLst>
              <a:gd name="adj" fmla="val 5405"/>
            </a:avLst>
          </a:prstGeom>
          <a:solidFill>
            <a:srgbClr val="27346F"/>
          </a:solidFill>
          <a:ln/>
        </p:spPr>
      </p:sp>
      <p:sp>
        <p:nvSpPr>
          <p:cNvPr id="20" name="Shape 15"/>
          <p:cNvSpPr/>
          <p:nvPr/>
        </p:nvSpPr>
        <p:spPr>
          <a:xfrm>
            <a:off x="6510528" y="4315968"/>
            <a:ext cx="658368" cy="658368"/>
          </a:xfrm>
          <a:prstGeom prst="ellipse">
            <a:avLst/>
          </a:prstGeom>
          <a:solidFill>
            <a:srgbClr val="E39A20"/>
          </a:solidFill>
          <a:ln/>
        </p:spPr>
      </p:sp>
      <p:pic>
        <p:nvPicPr>
          <p:cNvPr id="21" name="Image 3" descr="preencoded.png">    </p:cNvPr>
          <p:cNvPicPr>
            <a:picLocks noChangeAspect="1"/>
          </p:cNvPicPr>
          <p:nvPr/>
        </p:nvPicPr>
        <p:blipFill>
          <a:blip r:embed="rId4"/>
          <a:stretch>
            <a:fillRect/>
          </a:stretch>
        </p:blipFill>
        <p:spPr>
          <a:xfrm>
            <a:off x="6688287" y="4493727"/>
            <a:ext cx="302849" cy="302849"/>
          </a:xfrm>
          <a:prstGeom prst="rect">
            <a:avLst/>
          </a:prstGeom>
        </p:spPr>
      </p:pic>
      <p:sp>
        <p:nvSpPr>
          <p:cNvPr id="22" name="Text 16"/>
          <p:cNvSpPr/>
          <p:nvPr/>
        </p:nvSpPr>
        <p:spPr>
          <a:xfrm>
            <a:off x="7360920" y="4297680"/>
            <a:ext cx="38404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Instant payout</a:t>
            </a:r>
            <a:endParaRPr lang="en-US" sz="2000" dirty="0"/>
          </a:p>
        </p:txBody>
      </p:sp>
      <p:sp>
        <p:nvSpPr>
          <p:cNvPr id="23" name="Text 17"/>
          <p:cNvSpPr/>
          <p:nvPr/>
        </p:nvSpPr>
        <p:spPr>
          <a:xfrm>
            <a:off x="7360920" y="4709160"/>
            <a:ext cx="3840480" cy="868680"/>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Crypto, wires, and gift cards move money overseas in minutes — before anyone can call it back.</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BEFORE THE PHONE EVEN RINGS</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How do they know so much about you already?</a:t>
            </a:r>
            <a:endParaRPr lang="en-US" sz="3400" dirty="0"/>
          </a:p>
        </p:txBody>
      </p:sp>
      <p:sp>
        <p:nvSpPr>
          <p:cNvPr id="4" name="Shape 2"/>
          <p:cNvSpPr/>
          <p:nvPr/>
        </p:nvSpPr>
        <p:spPr>
          <a:xfrm>
            <a:off x="548640" y="1600200"/>
            <a:ext cx="5349240" cy="1783080"/>
          </a:xfrm>
          <a:prstGeom prst="roundRect">
            <a:avLst>
              <a:gd name="adj" fmla="val 5128"/>
            </a:avLst>
          </a:prstGeom>
          <a:solidFill>
            <a:srgbClr val="FFFFFF"/>
          </a:solidFill>
          <a:ln w="12700">
            <a:solidFill>
              <a:srgbClr val="D8E0EF"/>
            </a:solidFill>
            <a:prstDash val="solid"/>
          </a:ln>
        </p:spPr>
      </p:sp>
      <p:sp>
        <p:nvSpPr>
          <p:cNvPr id="5" name="Shape 3"/>
          <p:cNvSpPr/>
          <p:nvPr/>
        </p:nvSpPr>
        <p:spPr>
          <a:xfrm>
            <a:off x="822960" y="1874520"/>
            <a:ext cx="658368" cy="65836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000719" y="2052279"/>
            <a:ext cx="302849" cy="302849"/>
          </a:xfrm>
          <a:prstGeom prst="rect">
            <a:avLst/>
          </a:prstGeom>
        </p:spPr>
      </p:pic>
      <p:sp>
        <p:nvSpPr>
          <p:cNvPr id="7" name="Text 4"/>
          <p:cNvSpPr/>
          <p:nvPr/>
        </p:nvSpPr>
        <p:spPr>
          <a:xfrm>
            <a:off x="1664208" y="1920240"/>
            <a:ext cx="3931920" cy="384048"/>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Data breaches</a:t>
            </a:r>
            <a:endParaRPr lang="en-US" sz="2000" dirty="0"/>
          </a:p>
        </p:txBody>
      </p:sp>
      <p:sp>
        <p:nvSpPr>
          <p:cNvPr id="8" name="Text 5"/>
          <p:cNvSpPr/>
          <p:nvPr/>
        </p:nvSpPr>
        <p:spPr>
          <a:xfrm>
            <a:off x="822960" y="2606040"/>
            <a:ext cx="4800600" cy="685800"/>
          </a:xfrm>
          <a:prstGeom prst="rect">
            <a:avLst/>
          </a:prstGeom>
          <a:noFill/>
          <a:ln/>
        </p:spPr>
        <p:txBody>
          <a:bodyPr wrap="square" lIns="0" tIns="0" rIns="0" bIns="0" rtlCol="0" anchor="ctr"/>
          <a:lstStyle/>
          <a:p>
            <a:pPr indent="0" marL="0">
              <a:buNone/>
            </a:pPr>
            <a:r>
              <a:rPr lang="en-US" sz="1350" dirty="0">
                <a:solidFill>
                  <a:srgbClr val="16192B"/>
                </a:solidFill>
                <a:latin typeface="Arial" pitchFamily="34" charset="0"/>
                <a:ea typeface="Arial" pitchFamily="34" charset="-122"/>
                <a:cs typeface="Arial" pitchFamily="34" charset="-120"/>
              </a:rPr>
              <a:t>Companies you did business with get hacked. Your name, email, phone, and old passwords end up on lists that get traded and resold for years.</a:t>
            </a:r>
            <a:endParaRPr lang="en-US" sz="1350" dirty="0"/>
          </a:p>
        </p:txBody>
      </p:sp>
      <p:sp>
        <p:nvSpPr>
          <p:cNvPr id="9" name="Shape 6"/>
          <p:cNvSpPr/>
          <p:nvPr/>
        </p:nvSpPr>
        <p:spPr>
          <a:xfrm>
            <a:off x="6172200" y="1600200"/>
            <a:ext cx="5349240" cy="1783080"/>
          </a:xfrm>
          <a:prstGeom prst="roundRect">
            <a:avLst>
              <a:gd name="adj" fmla="val 5128"/>
            </a:avLst>
          </a:prstGeom>
          <a:solidFill>
            <a:srgbClr val="FFFFFF"/>
          </a:solidFill>
          <a:ln w="12700">
            <a:solidFill>
              <a:srgbClr val="D8E0EF"/>
            </a:solidFill>
            <a:prstDash val="solid"/>
          </a:ln>
        </p:spPr>
      </p:sp>
      <p:sp>
        <p:nvSpPr>
          <p:cNvPr id="10" name="Shape 7"/>
          <p:cNvSpPr/>
          <p:nvPr/>
        </p:nvSpPr>
        <p:spPr>
          <a:xfrm>
            <a:off x="6446520" y="1874520"/>
            <a:ext cx="658368" cy="658368"/>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6624279" y="2052279"/>
            <a:ext cx="302849" cy="302849"/>
          </a:xfrm>
          <a:prstGeom prst="rect">
            <a:avLst/>
          </a:prstGeom>
        </p:spPr>
      </p:pic>
      <p:sp>
        <p:nvSpPr>
          <p:cNvPr id="12" name="Text 8"/>
          <p:cNvSpPr/>
          <p:nvPr/>
        </p:nvSpPr>
        <p:spPr>
          <a:xfrm>
            <a:off x="7287768" y="1920240"/>
            <a:ext cx="3931920" cy="384048"/>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Data brokers</a:t>
            </a:r>
            <a:endParaRPr lang="en-US" sz="2000" dirty="0"/>
          </a:p>
        </p:txBody>
      </p:sp>
      <p:sp>
        <p:nvSpPr>
          <p:cNvPr id="13" name="Text 9"/>
          <p:cNvSpPr/>
          <p:nvPr/>
        </p:nvSpPr>
        <p:spPr>
          <a:xfrm>
            <a:off x="6446520" y="2606040"/>
            <a:ext cx="4800600" cy="685800"/>
          </a:xfrm>
          <a:prstGeom prst="rect">
            <a:avLst/>
          </a:prstGeom>
          <a:noFill/>
          <a:ln/>
        </p:spPr>
        <p:txBody>
          <a:bodyPr wrap="square" lIns="0" tIns="0" rIns="0" bIns="0" rtlCol="0" anchor="ctr"/>
          <a:lstStyle/>
          <a:p>
            <a:pPr indent="0" marL="0">
              <a:buNone/>
            </a:pPr>
            <a:r>
              <a:rPr lang="en-US" sz="1350" dirty="0">
                <a:solidFill>
                  <a:srgbClr val="16192B"/>
                </a:solidFill>
                <a:latin typeface="Arial" pitchFamily="34" charset="0"/>
                <a:ea typeface="Arial" pitchFamily="34" charset="-122"/>
                <a:cs typeface="Arial" pitchFamily="34" charset="-120"/>
              </a:rPr>
              <a:t>Legal companies buy and sell your age, address, phone number, income bracket, and your relatives' names. Pennies per record.</a:t>
            </a:r>
            <a:endParaRPr lang="en-US" sz="1350" dirty="0"/>
          </a:p>
        </p:txBody>
      </p:sp>
      <p:sp>
        <p:nvSpPr>
          <p:cNvPr id="14" name="Shape 10"/>
          <p:cNvSpPr/>
          <p:nvPr/>
        </p:nvSpPr>
        <p:spPr>
          <a:xfrm>
            <a:off x="548640" y="3566160"/>
            <a:ext cx="5349240" cy="1783080"/>
          </a:xfrm>
          <a:prstGeom prst="roundRect">
            <a:avLst>
              <a:gd name="adj" fmla="val 5128"/>
            </a:avLst>
          </a:prstGeom>
          <a:solidFill>
            <a:srgbClr val="FFFFFF"/>
          </a:solidFill>
          <a:ln w="12700">
            <a:solidFill>
              <a:srgbClr val="D8E0EF"/>
            </a:solidFill>
            <a:prstDash val="solid"/>
          </a:ln>
        </p:spPr>
      </p:sp>
      <p:sp>
        <p:nvSpPr>
          <p:cNvPr id="15" name="Shape 11"/>
          <p:cNvSpPr/>
          <p:nvPr/>
        </p:nvSpPr>
        <p:spPr>
          <a:xfrm>
            <a:off x="822960" y="3840480"/>
            <a:ext cx="658368" cy="658368"/>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1000719" y="4018239"/>
            <a:ext cx="302849" cy="302849"/>
          </a:xfrm>
          <a:prstGeom prst="rect">
            <a:avLst/>
          </a:prstGeom>
        </p:spPr>
      </p:pic>
      <p:sp>
        <p:nvSpPr>
          <p:cNvPr id="17" name="Text 12"/>
          <p:cNvSpPr/>
          <p:nvPr/>
        </p:nvSpPr>
        <p:spPr>
          <a:xfrm>
            <a:off x="1664208" y="3886200"/>
            <a:ext cx="3931920" cy="384048"/>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Social media</a:t>
            </a:r>
            <a:endParaRPr lang="en-US" sz="2000" dirty="0"/>
          </a:p>
        </p:txBody>
      </p:sp>
      <p:sp>
        <p:nvSpPr>
          <p:cNvPr id="18" name="Text 13"/>
          <p:cNvSpPr/>
          <p:nvPr/>
        </p:nvSpPr>
        <p:spPr>
          <a:xfrm>
            <a:off x="822960" y="4572000"/>
            <a:ext cx="4800600" cy="685800"/>
          </a:xfrm>
          <a:prstGeom prst="rect">
            <a:avLst/>
          </a:prstGeom>
          <a:noFill/>
          <a:ln/>
        </p:spPr>
        <p:txBody>
          <a:bodyPr wrap="square" lIns="0" tIns="0" rIns="0" bIns="0" rtlCol="0" anchor="ctr"/>
          <a:lstStyle/>
          <a:p>
            <a:pPr indent="0" marL="0">
              <a:buNone/>
            </a:pPr>
            <a:r>
              <a:rPr lang="en-US" sz="1350" dirty="0">
                <a:solidFill>
                  <a:srgbClr val="16192B"/>
                </a:solidFill>
                <a:latin typeface="Arial" pitchFamily="34" charset="0"/>
                <a:ea typeface="Arial" pitchFamily="34" charset="-122"/>
                <a:cs typeface="Arial" pitchFamily="34" charset="-120"/>
              </a:rPr>
              <a:t>Grandchildren's names, your birthday, when you're away — and a few seconds of someone's voice, which is all a cloning tool needs.</a:t>
            </a:r>
            <a:endParaRPr lang="en-US" sz="1350" dirty="0"/>
          </a:p>
        </p:txBody>
      </p:sp>
      <p:sp>
        <p:nvSpPr>
          <p:cNvPr id="19" name="Shape 14"/>
          <p:cNvSpPr/>
          <p:nvPr/>
        </p:nvSpPr>
        <p:spPr>
          <a:xfrm>
            <a:off x="6172200" y="3566160"/>
            <a:ext cx="5349240" cy="1783080"/>
          </a:xfrm>
          <a:prstGeom prst="roundRect">
            <a:avLst>
              <a:gd name="adj" fmla="val 5128"/>
            </a:avLst>
          </a:prstGeom>
          <a:solidFill>
            <a:srgbClr val="FFFFFF"/>
          </a:solidFill>
          <a:ln w="12700">
            <a:solidFill>
              <a:srgbClr val="D8E0EF"/>
            </a:solidFill>
            <a:prstDash val="solid"/>
          </a:ln>
        </p:spPr>
      </p:sp>
      <p:sp>
        <p:nvSpPr>
          <p:cNvPr id="20" name="Shape 15"/>
          <p:cNvSpPr/>
          <p:nvPr/>
        </p:nvSpPr>
        <p:spPr>
          <a:xfrm>
            <a:off x="6446520" y="3840480"/>
            <a:ext cx="658368" cy="658368"/>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6624279" y="4018239"/>
            <a:ext cx="302849" cy="302849"/>
          </a:xfrm>
          <a:prstGeom prst="rect">
            <a:avLst/>
          </a:prstGeom>
        </p:spPr>
      </p:pic>
      <p:sp>
        <p:nvSpPr>
          <p:cNvPr id="22" name="Text 16"/>
          <p:cNvSpPr/>
          <p:nvPr/>
        </p:nvSpPr>
        <p:spPr>
          <a:xfrm>
            <a:off x="7287768" y="3886200"/>
            <a:ext cx="3931920" cy="384048"/>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Public records</a:t>
            </a:r>
            <a:endParaRPr lang="en-US" sz="2000" dirty="0"/>
          </a:p>
        </p:txBody>
      </p:sp>
      <p:sp>
        <p:nvSpPr>
          <p:cNvPr id="23" name="Text 17"/>
          <p:cNvSpPr/>
          <p:nvPr/>
        </p:nvSpPr>
        <p:spPr>
          <a:xfrm>
            <a:off x="6446520" y="4572000"/>
            <a:ext cx="4800600" cy="685800"/>
          </a:xfrm>
          <a:prstGeom prst="rect">
            <a:avLst/>
          </a:prstGeom>
          <a:noFill/>
          <a:ln/>
        </p:spPr>
        <p:txBody>
          <a:bodyPr wrap="square" lIns="0" tIns="0" rIns="0" bIns="0" rtlCol="0" anchor="ctr"/>
          <a:lstStyle/>
          <a:p>
            <a:pPr indent="0" marL="0">
              <a:buNone/>
            </a:pPr>
            <a:r>
              <a:rPr lang="en-US" sz="1350" dirty="0">
                <a:solidFill>
                  <a:srgbClr val="16192B"/>
                </a:solidFill>
                <a:latin typeface="Arial" pitchFamily="34" charset="0"/>
                <a:ea typeface="Arial" pitchFamily="34" charset="-122"/>
                <a:cs typeface="Arial" pitchFamily="34" charset="-120"/>
              </a:rPr>
              <a:t>Property records, church bulletins, and obituaries hand over family names, relationships, and addresses — all free to look up.</a:t>
            </a:r>
            <a:endParaRPr lang="en-US" sz="1350" dirty="0"/>
          </a:p>
        </p:txBody>
      </p:sp>
      <p:sp>
        <p:nvSpPr>
          <p:cNvPr id="24" name="Shape 18"/>
          <p:cNvSpPr/>
          <p:nvPr/>
        </p:nvSpPr>
        <p:spPr>
          <a:xfrm>
            <a:off x="548640" y="5577840"/>
            <a:ext cx="11064240" cy="777240"/>
          </a:xfrm>
          <a:prstGeom prst="roundRect">
            <a:avLst>
              <a:gd name="adj" fmla="val 9412"/>
            </a:avLst>
          </a:prstGeom>
          <a:solidFill>
            <a:srgbClr val="B02A28"/>
          </a:solidFill>
          <a:ln/>
        </p:spPr>
      </p:sp>
      <p:sp>
        <p:nvSpPr>
          <p:cNvPr id="25" name="Text 19"/>
          <p:cNvSpPr/>
          <p:nvPr/>
        </p:nvSpPr>
        <p:spPr>
          <a:xfrm>
            <a:off x="822960" y="5596128"/>
            <a:ext cx="10515600" cy="73152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So a caller knowing your name, your bank, or your grandson's name proves nothing at all.</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IF YOU REMEMBER ONE SLIDE, MAKE IT THIS ONE</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Every single scam runs this same three-step play</a:t>
            </a:r>
            <a:endParaRPr lang="en-US" sz="3400" dirty="0"/>
          </a:p>
        </p:txBody>
      </p:sp>
      <p:sp>
        <p:nvSpPr>
          <p:cNvPr id="4" name="Shape 2"/>
          <p:cNvSpPr/>
          <p:nvPr/>
        </p:nvSpPr>
        <p:spPr>
          <a:xfrm>
            <a:off x="548640" y="1645920"/>
            <a:ext cx="3520440" cy="2743200"/>
          </a:xfrm>
          <a:prstGeom prst="roundRect">
            <a:avLst>
              <a:gd name="adj" fmla="val 3333"/>
            </a:avLst>
          </a:prstGeom>
          <a:solidFill>
            <a:srgbClr val="FFFFFF"/>
          </a:solidFill>
          <a:ln w="12700">
            <a:solidFill>
              <a:srgbClr val="D8E0EF"/>
            </a:solidFill>
            <a:prstDash val="solid"/>
          </a:ln>
        </p:spPr>
      </p:sp>
      <p:sp>
        <p:nvSpPr>
          <p:cNvPr id="5" name="Shape 3"/>
          <p:cNvSpPr/>
          <p:nvPr/>
        </p:nvSpPr>
        <p:spPr>
          <a:xfrm>
            <a:off x="822960" y="1920240"/>
            <a:ext cx="685800" cy="685800"/>
          </a:xfrm>
          <a:prstGeom prst="ellipse">
            <a:avLst/>
          </a:prstGeom>
          <a:solidFill>
            <a:srgbClr val="1E2761"/>
          </a:solidFill>
          <a:ln/>
        </p:spPr>
      </p:sp>
      <p:sp>
        <p:nvSpPr>
          <p:cNvPr id="6" name="Text 4"/>
          <p:cNvSpPr/>
          <p:nvPr/>
        </p:nvSpPr>
        <p:spPr>
          <a:xfrm>
            <a:off x="822960" y="1920240"/>
            <a:ext cx="685800" cy="6858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1</a:t>
            </a:r>
            <a:endParaRPr lang="en-US" sz="3200" dirty="0"/>
          </a:p>
        </p:txBody>
      </p:sp>
      <p:sp>
        <p:nvSpPr>
          <p:cNvPr id="7" name="Text 5"/>
          <p:cNvSpPr/>
          <p:nvPr/>
        </p:nvSpPr>
        <p:spPr>
          <a:xfrm>
            <a:off x="822960" y="2788920"/>
            <a:ext cx="2971800" cy="822960"/>
          </a:xfrm>
          <a:prstGeom prst="rect">
            <a:avLst/>
          </a:prstGeom>
          <a:noFill/>
          <a:ln/>
        </p:spPr>
        <p:txBody>
          <a:bodyPr wrap="square" lIns="0" tIns="0" rIns="0" bIns="0" rtlCol="0" anchor="ctr"/>
          <a:lstStyle/>
          <a:p>
            <a:pPr indent="0" marL="0">
              <a:buNone/>
            </a:pPr>
            <a:r>
              <a:rPr lang="en-US" sz="2300" b="1" dirty="0">
                <a:solidFill>
                  <a:srgbClr val="1E2761"/>
                </a:solidFill>
                <a:latin typeface="Cambria" pitchFamily="34" charset="0"/>
                <a:ea typeface="Cambria" pitchFamily="34" charset="-122"/>
                <a:cs typeface="Cambria" pitchFamily="34" charset="-120"/>
              </a:rPr>
              <a:t>Unexpected contact</a:t>
            </a:r>
            <a:endParaRPr lang="en-US" sz="2300" dirty="0"/>
          </a:p>
        </p:txBody>
      </p:sp>
      <p:sp>
        <p:nvSpPr>
          <p:cNvPr id="8" name="Text 6"/>
          <p:cNvSpPr/>
          <p:nvPr/>
        </p:nvSpPr>
        <p:spPr>
          <a:xfrm>
            <a:off x="822960" y="3520440"/>
            <a:ext cx="2971800" cy="777240"/>
          </a:xfrm>
          <a:prstGeom prst="rect">
            <a:avLst/>
          </a:prstGeom>
          <a:noFill/>
          <a:ln/>
        </p:spPr>
        <p:txBody>
          <a:bodyPr wrap="square" lIns="0" tIns="0" rIns="0" bIns="0" rtlCol="0" anchor="ctr"/>
          <a:lstStyle/>
          <a:p>
            <a:pPr indent="0" marL="0">
              <a:buNone/>
            </a:pPr>
            <a:r>
              <a:rPr lang="en-US" sz="1450" dirty="0">
                <a:solidFill>
                  <a:srgbClr val="16192B"/>
                </a:solidFill>
                <a:latin typeface="Arial" pitchFamily="34" charset="0"/>
                <a:ea typeface="Arial" pitchFamily="34" charset="-122"/>
                <a:cs typeface="Arial" pitchFamily="34" charset="-120"/>
              </a:rPr>
              <a:t>They reach you. A call, text, pop-up, email, or friend request you didn't ask for.</a:t>
            </a:r>
            <a:endParaRPr lang="en-US" sz="1450" dirty="0"/>
          </a:p>
        </p:txBody>
      </p:sp>
      <p:sp>
        <p:nvSpPr>
          <p:cNvPr id="9" name="Shape 7"/>
          <p:cNvSpPr/>
          <p:nvPr/>
        </p:nvSpPr>
        <p:spPr>
          <a:xfrm>
            <a:off x="4343400" y="1645920"/>
            <a:ext cx="3520440" cy="2743200"/>
          </a:xfrm>
          <a:prstGeom prst="roundRect">
            <a:avLst>
              <a:gd name="adj" fmla="val 3333"/>
            </a:avLst>
          </a:prstGeom>
          <a:solidFill>
            <a:srgbClr val="FFFFFF"/>
          </a:solidFill>
          <a:ln w="12700">
            <a:solidFill>
              <a:srgbClr val="D8E0EF"/>
            </a:solidFill>
            <a:prstDash val="solid"/>
          </a:ln>
        </p:spPr>
      </p:sp>
      <p:sp>
        <p:nvSpPr>
          <p:cNvPr id="10" name="Shape 8"/>
          <p:cNvSpPr/>
          <p:nvPr/>
        </p:nvSpPr>
        <p:spPr>
          <a:xfrm>
            <a:off x="4617720" y="1920240"/>
            <a:ext cx="685800" cy="685800"/>
          </a:xfrm>
          <a:prstGeom prst="ellipse">
            <a:avLst/>
          </a:prstGeom>
          <a:solidFill>
            <a:srgbClr val="E39A20"/>
          </a:solidFill>
          <a:ln/>
        </p:spPr>
      </p:sp>
      <p:sp>
        <p:nvSpPr>
          <p:cNvPr id="11" name="Text 9"/>
          <p:cNvSpPr/>
          <p:nvPr/>
        </p:nvSpPr>
        <p:spPr>
          <a:xfrm>
            <a:off x="4617720" y="1920240"/>
            <a:ext cx="685800" cy="6858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2</a:t>
            </a:r>
            <a:endParaRPr lang="en-US" sz="3200" dirty="0"/>
          </a:p>
        </p:txBody>
      </p:sp>
      <p:sp>
        <p:nvSpPr>
          <p:cNvPr id="12" name="Text 10"/>
          <p:cNvSpPr/>
          <p:nvPr/>
        </p:nvSpPr>
        <p:spPr>
          <a:xfrm>
            <a:off x="4617720" y="2788920"/>
            <a:ext cx="2971800" cy="822960"/>
          </a:xfrm>
          <a:prstGeom prst="rect">
            <a:avLst/>
          </a:prstGeom>
          <a:noFill/>
          <a:ln/>
        </p:spPr>
        <p:txBody>
          <a:bodyPr wrap="square" lIns="0" tIns="0" rIns="0" bIns="0" rtlCol="0" anchor="ctr"/>
          <a:lstStyle/>
          <a:p>
            <a:pPr indent="0" marL="0">
              <a:buNone/>
            </a:pPr>
            <a:r>
              <a:rPr lang="en-US" sz="2300" b="1" dirty="0">
                <a:solidFill>
                  <a:srgbClr val="E39A20"/>
                </a:solidFill>
                <a:latin typeface="Cambria" pitchFamily="34" charset="0"/>
                <a:ea typeface="Cambria" pitchFamily="34" charset="-122"/>
                <a:cs typeface="Cambria" pitchFamily="34" charset="-120"/>
              </a:rPr>
              <a:t>A spike of emotion</a:t>
            </a:r>
            <a:endParaRPr lang="en-US" sz="2300" dirty="0"/>
          </a:p>
        </p:txBody>
      </p:sp>
      <p:sp>
        <p:nvSpPr>
          <p:cNvPr id="13" name="Text 11"/>
          <p:cNvSpPr/>
          <p:nvPr/>
        </p:nvSpPr>
        <p:spPr>
          <a:xfrm>
            <a:off x="4617720" y="3520440"/>
            <a:ext cx="2971800" cy="777240"/>
          </a:xfrm>
          <a:prstGeom prst="rect">
            <a:avLst/>
          </a:prstGeom>
          <a:noFill/>
          <a:ln/>
        </p:spPr>
        <p:txBody>
          <a:bodyPr wrap="square" lIns="0" tIns="0" rIns="0" bIns="0" rtlCol="0" anchor="ctr"/>
          <a:lstStyle/>
          <a:p>
            <a:pPr indent="0" marL="0">
              <a:buNone/>
            </a:pPr>
            <a:r>
              <a:rPr lang="en-US" sz="1450" dirty="0">
                <a:solidFill>
                  <a:srgbClr val="16192B"/>
                </a:solidFill>
                <a:latin typeface="Arial" pitchFamily="34" charset="0"/>
                <a:ea typeface="Arial" pitchFamily="34" charset="-122"/>
                <a:cs typeface="Arial" pitchFamily="34" charset="-120"/>
              </a:rPr>
              <a:t>Fear, love, urgency, or excitement. Something to stop you thinking and start you reacting.</a:t>
            </a:r>
            <a:endParaRPr lang="en-US" sz="1450" dirty="0"/>
          </a:p>
        </p:txBody>
      </p:sp>
      <p:sp>
        <p:nvSpPr>
          <p:cNvPr id="14" name="Shape 12"/>
          <p:cNvSpPr/>
          <p:nvPr/>
        </p:nvSpPr>
        <p:spPr>
          <a:xfrm>
            <a:off x="8138160" y="1645920"/>
            <a:ext cx="3520440" cy="2743200"/>
          </a:xfrm>
          <a:prstGeom prst="roundRect">
            <a:avLst>
              <a:gd name="adj" fmla="val 3333"/>
            </a:avLst>
          </a:prstGeom>
          <a:solidFill>
            <a:srgbClr val="FFFFFF"/>
          </a:solidFill>
          <a:ln w="12700">
            <a:solidFill>
              <a:srgbClr val="D8E0EF"/>
            </a:solidFill>
            <a:prstDash val="solid"/>
          </a:ln>
        </p:spPr>
      </p:sp>
      <p:sp>
        <p:nvSpPr>
          <p:cNvPr id="15" name="Shape 13"/>
          <p:cNvSpPr/>
          <p:nvPr/>
        </p:nvSpPr>
        <p:spPr>
          <a:xfrm>
            <a:off x="8412480" y="1920240"/>
            <a:ext cx="685800" cy="685800"/>
          </a:xfrm>
          <a:prstGeom prst="ellipse">
            <a:avLst/>
          </a:prstGeom>
          <a:solidFill>
            <a:srgbClr val="B02A28"/>
          </a:solidFill>
          <a:ln/>
        </p:spPr>
      </p:sp>
      <p:sp>
        <p:nvSpPr>
          <p:cNvPr id="16" name="Text 14"/>
          <p:cNvSpPr/>
          <p:nvPr/>
        </p:nvSpPr>
        <p:spPr>
          <a:xfrm>
            <a:off x="8412480" y="1920240"/>
            <a:ext cx="685800" cy="6858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3</a:t>
            </a:r>
            <a:endParaRPr lang="en-US" sz="3200" dirty="0"/>
          </a:p>
        </p:txBody>
      </p:sp>
      <p:sp>
        <p:nvSpPr>
          <p:cNvPr id="17" name="Text 15"/>
          <p:cNvSpPr/>
          <p:nvPr/>
        </p:nvSpPr>
        <p:spPr>
          <a:xfrm>
            <a:off x="8412480" y="2788920"/>
            <a:ext cx="2971800" cy="822960"/>
          </a:xfrm>
          <a:prstGeom prst="rect">
            <a:avLst/>
          </a:prstGeom>
          <a:noFill/>
          <a:ln/>
        </p:spPr>
        <p:txBody>
          <a:bodyPr wrap="square" lIns="0" tIns="0" rIns="0" bIns="0" rtlCol="0" anchor="ctr"/>
          <a:lstStyle/>
          <a:p>
            <a:pPr indent="0" marL="0">
              <a:buNone/>
            </a:pPr>
            <a:r>
              <a:rPr lang="en-US" sz="2300" b="1" dirty="0">
                <a:solidFill>
                  <a:srgbClr val="B02A28"/>
                </a:solidFill>
                <a:latin typeface="Cambria" pitchFamily="34" charset="0"/>
                <a:ea typeface="Cambria" pitchFamily="34" charset="-122"/>
                <a:cs typeface="Cambria" pitchFamily="34" charset="-120"/>
              </a:rPr>
              <a:t>An odd way to pay</a:t>
            </a:r>
            <a:endParaRPr lang="en-US" sz="2300" dirty="0"/>
          </a:p>
        </p:txBody>
      </p:sp>
      <p:sp>
        <p:nvSpPr>
          <p:cNvPr id="18" name="Text 16"/>
          <p:cNvSpPr/>
          <p:nvPr/>
        </p:nvSpPr>
        <p:spPr>
          <a:xfrm>
            <a:off x="8412480" y="3520440"/>
            <a:ext cx="2971800" cy="777240"/>
          </a:xfrm>
          <a:prstGeom prst="rect">
            <a:avLst/>
          </a:prstGeom>
          <a:noFill/>
          <a:ln/>
        </p:spPr>
        <p:txBody>
          <a:bodyPr wrap="square" lIns="0" tIns="0" rIns="0" bIns="0" rtlCol="0" anchor="ctr"/>
          <a:lstStyle/>
          <a:p>
            <a:pPr indent="0" marL="0">
              <a:buNone/>
            </a:pPr>
            <a:r>
              <a:rPr lang="en-US" sz="1450" dirty="0">
                <a:solidFill>
                  <a:srgbClr val="16192B"/>
                </a:solidFill>
                <a:latin typeface="Arial" pitchFamily="34" charset="0"/>
                <a:ea typeface="Arial" pitchFamily="34" charset="-122"/>
                <a:cs typeface="Arial" pitchFamily="34" charset="-120"/>
              </a:rPr>
              <a:t>Gift cards, wire, crypto, cash by courier, gold. Or "just move it to a safe account."</a:t>
            </a:r>
            <a:endParaRPr lang="en-US" sz="1450" dirty="0"/>
          </a:p>
        </p:txBody>
      </p:sp>
      <p:sp>
        <p:nvSpPr>
          <p:cNvPr id="19" name="Shape 17"/>
          <p:cNvSpPr/>
          <p:nvPr/>
        </p:nvSpPr>
        <p:spPr>
          <a:xfrm>
            <a:off x="548640" y="4663440"/>
            <a:ext cx="11064240" cy="1234440"/>
          </a:xfrm>
          <a:prstGeom prst="roundRect">
            <a:avLst>
              <a:gd name="adj" fmla="val 7407"/>
            </a:avLst>
          </a:prstGeom>
          <a:solidFill>
            <a:srgbClr val="1F7A4D"/>
          </a:solidFill>
          <a:ln/>
        </p:spPr>
      </p:sp>
      <p:sp>
        <p:nvSpPr>
          <p:cNvPr id="20" name="Shape 18"/>
          <p:cNvSpPr/>
          <p:nvPr/>
        </p:nvSpPr>
        <p:spPr>
          <a:xfrm>
            <a:off x="914400" y="4937760"/>
            <a:ext cx="685800" cy="685800"/>
          </a:xfrm>
          <a:prstGeom prst="ellipse">
            <a:avLst/>
          </a:prstGeom>
          <a:solidFill>
            <a:srgbClr val="FFFFFF"/>
          </a:solidFill>
          <a:ln/>
        </p:spPr>
      </p:sp>
      <p:pic>
        <p:nvPicPr>
          <p:cNvPr id="21" name="Image 0" descr="preencoded.png">    </p:cNvPr>
          <p:cNvPicPr>
            <a:picLocks noChangeAspect="1"/>
          </p:cNvPicPr>
          <p:nvPr/>
        </p:nvPicPr>
        <p:blipFill>
          <a:blip r:embed="rId1"/>
          <a:stretch>
            <a:fillRect/>
          </a:stretch>
        </p:blipFill>
        <p:spPr>
          <a:xfrm>
            <a:off x="1099566" y="5122926"/>
            <a:ext cx="315468" cy="315468"/>
          </a:xfrm>
          <a:prstGeom prst="rect">
            <a:avLst/>
          </a:prstGeom>
        </p:spPr>
      </p:pic>
      <p:sp>
        <p:nvSpPr>
          <p:cNvPr id="22" name="Text 19"/>
          <p:cNvSpPr/>
          <p:nvPr/>
        </p:nvSpPr>
        <p:spPr>
          <a:xfrm>
            <a:off x="1874520" y="4983480"/>
            <a:ext cx="9418320" cy="64008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All three at once? It's a scam. Every time. You don't need to figure out which one.</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SCAM 1 OF 8</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Phishing: the most common one you'll see</a:t>
            </a:r>
            <a:endParaRPr lang="en-US" sz="3400" dirty="0"/>
          </a:p>
        </p:txBody>
      </p:sp>
      <p:sp>
        <p:nvSpPr>
          <p:cNvPr id="4" name="Shape 2"/>
          <p:cNvSpPr/>
          <p:nvPr/>
        </p:nvSpPr>
        <p:spPr>
          <a:xfrm>
            <a:off x="548640" y="1600200"/>
            <a:ext cx="6675120" cy="3977640"/>
          </a:xfrm>
          <a:prstGeom prst="roundRect">
            <a:avLst>
              <a:gd name="adj" fmla="val 2299"/>
            </a:avLst>
          </a:prstGeom>
          <a:solidFill>
            <a:srgbClr val="FFFFFF"/>
          </a:solidFill>
          <a:ln w="12700">
            <a:solidFill>
              <a:srgbClr val="D8E0EF"/>
            </a:solidFill>
            <a:prstDash val="solid"/>
          </a:ln>
        </p:spPr>
      </p:sp>
      <p:sp>
        <p:nvSpPr>
          <p:cNvPr id="5" name="Shape 3"/>
          <p:cNvSpPr/>
          <p:nvPr/>
        </p:nvSpPr>
        <p:spPr>
          <a:xfrm>
            <a:off x="868680" y="1874520"/>
            <a:ext cx="731520" cy="73152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066190" y="2072030"/>
            <a:ext cx="336499" cy="336499"/>
          </a:xfrm>
          <a:prstGeom prst="rect">
            <a:avLst/>
          </a:prstGeom>
        </p:spPr>
      </p:pic>
      <p:sp>
        <p:nvSpPr>
          <p:cNvPr id="7" name="Text 4"/>
          <p:cNvSpPr/>
          <p:nvPr/>
        </p:nvSpPr>
        <p:spPr>
          <a:xfrm>
            <a:off x="1783080" y="1938528"/>
            <a:ext cx="5212080" cy="45720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A message that impersonates someone you trust</a:t>
            </a:r>
            <a:endParaRPr lang="en-US" sz="2000" dirty="0"/>
          </a:p>
        </p:txBody>
      </p:sp>
      <p:sp>
        <p:nvSpPr>
          <p:cNvPr id="8" name="Text 5"/>
          <p:cNvSpPr/>
          <p:nvPr/>
        </p:nvSpPr>
        <p:spPr>
          <a:xfrm>
            <a:off x="914400" y="2788920"/>
            <a:ext cx="6035040" cy="182880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16192B"/>
                </a:solidFill>
                <a:latin typeface="Arial" pitchFamily="34" charset="0"/>
                <a:ea typeface="Arial" pitchFamily="34" charset="-122"/>
                <a:cs typeface="Arial" pitchFamily="34" charset="-120"/>
              </a:rPr>
              <a:t>Your bank, Amazon, Medicare, the post office, Apple, your church.</a:t>
            </a:r>
            <a:endParaRPr lang="en-US" sz="1500" dirty="0"/>
          </a:p>
          <a:p>
            <a:pPr marL="342900" indent="-342900">
              <a:spcAft>
                <a:spcPts val="800"/>
              </a:spcAft>
              <a:buSzPct val="100000"/>
              <a:buChar char="•"/>
            </a:pPr>
            <a:r>
              <a:rPr lang="en-US" sz="1500" dirty="0">
                <a:solidFill>
                  <a:srgbClr val="16192B"/>
                </a:solidFill>
                <a:latin typeface="Arial" pitchFamily="34" charset="0"/>
                <a:ea typeface="Arial" pitchFamily="34" charset="-122"/>
                <a:cs typeface="Arial" pitchFamily="34" charset="-120"/>
              </a:rPr>
              <a:t>"Suspicious charge — click to verify."  "Your package couldn't be delivered."  "Your account will be closed."</a:t>
            </a:r>
            <a:endParaRPr lang="en-US" sz="1500" dirty="0"/>
          </a:p>
          <a:p>
            <a:pPr marL="342900" indent="-342900">
              <a:spcAft>
                <a:spcPts val="800"/>
              </a:spcAft>
              <a:buSzPct val="100000"/>
              <a:buChar char="•"/>
            </a:pPr>
            <a:r>
              <a:rPr lang="en-US" sz="1500" dirty="0">
                <a:solidFill>
                  <a:srgbClr val="16192B"/>
                </a:solidFill>
                <a:latin typeface="Arial" pitchFamily="34" charset="0"/>
                <a:ea typeface="Arial" pitchFamily="34" charset="-122"/>
                <a:cs typeface="Arial" pitchFamily="34" charset="-120"/>
              </a:rPr>
              <a:t>The link goes to a copy of the real website. You type your password in, and now they have it.</a:t>
            </a:r>
            <a:endParaRPr lang="en-US" sz="1500" dirty="0"/>
          </a:p>
          <a:p>
            <a:pPr marL="342900" indent="-342900">
              <a:spcAft>
                <a:spcPts val="800"/>
              </a:spcAft>
              <a:buSzPct val="100000"/>
              <a:buChar char="•"/>
            </a:pPr>
            <a:r>
              <a:rPr lang="en-US" sz="1500" dirty="0">
                <a:solidFill>
                  <a:srgbClr val="16192B"/>
                </a:solidFill>
                <a:latin typeface="Arial" pitchFamily="34" charset="0"/>
                <a:ea typeface="Arial" pitchFamily="34" charset="-122"/>
                <a:cs typeface="Arial" pitchFamily="34" charset="-120"/>
              </a:rPr>
              <a:t>Newest twist: a fake "product recall" with a refund link.</a:t>
            </a:r>
            <a:endParaRPr lang="en-US" sz="1500" dirty="0"/>
          </a:p>
        </p:txBody>
      </p:sp>
      <p:sp>
        <p:nvSpPr>
          <p:cNvPr id="9" name="Shape 6"/>
          <p:cNvSpPr/>
          <p:nvPr/>
        </p:nvSpPr>
        <p:spPr>
          <a:xfrm>
            <a:off x="868680" y="4709160"/>
            <a:ext cx="6035040" cy="685800"/>
          </a:xfrm>
          <a:prstGeom prst="roundRect">
            <a:avLst>
              <a:gd name="adj" fmla="val 10667"/>
            </a:avLst>
          </a:prstGeom>
          <a:solidFill>
            <a:srgbClr val="E8EFFC"/>
          </a:solidFill>
          <a:ln/>
        </p:spPr>
      </p:sp>
      <p:sp>
        <p:nvSpPr>
          <p:cNvPr id="10" name="Text 7"/>
          <p:cNvSpPr/>
          <p:nvPr/>
        </p:nvSpPr>
        <p:spPr>
          <a:xfrm>
            <a:off x="1051560" y="4754880"/>
            <a:ext cx="5715000" cy="594360"/>
          </a:xfrm>
          <a:prstGeom prst="rect">
            <a:avLst/>
          </a:prstGeom>
          <a:noFill/>
          <a:ln/>
        </p:spPr>
        <p:txBody>
          <a:bodyPr wrap="square" lIns="0" tIns="0" rIns="0" bIns="0" rtlCol="0" anchor="ctr"/>
          <a:lstStyle/>
          <a:p>
            <a:pPr indent="0" marL="0">
              <a:buNone/>
            </a:pPr>
            <a:r>
              <a:rPr lang="en-US" sz="1450" b="1" dirty="0">
                <a:solidFill>
                  <a:srgbClr val="1E2761"/>
                </a:solidFill>
                <a:latin typeface="Arial" pitchFamily="34" charset="0"/>
                <a:ea typeface="Arial" pitchFamily="34" charset="-122"/>
                <a:cs typeface="Arial" pitchFamily="34" charset="-120"/>
              </a:rPr>
              <a:t>The rule: never use the link. Go to the website yourself, or call the number on your card or statement.</a:t>
            </a:r>
            <a:endParaRPr lang="en-US" sz="1450" dirty="0"/>
          </a:p>
        </p:txBody>
      </p:sp>
      <p:sp>
        <p:nvSpPr>
          <p:cNvPr id="11" name="Shape 8"/>
          <p:cNvSpPr/>
          <p:nvPr/>
        </p:nvSpPr>
        <p:spPr>
          <a:xfrm>
            <a:off x="7498080" y="1600200"/>
            <a:ext cx="4114800" cy="3977640"/>
          </a:xfrm>
          <a:prstGeom prst="roundRect">
            <a:avLst>
              <a:gd name="adj" fmla="val 2299"/>
            </a:avLst>
          </a:prstGeom>
          <a:solidFill>
            <a:srgbClr val="1E2761"/>
          </a:solidFill>
          <a:ln w="12700">
            <a:solidFill>
              <a:srgbClr val="D8E0EF"/>
            </a:solidFill>
            <a:prstDash val="solid"/>
          </a:ln>
        </p:spPr>
      </p:sp>
      <p:sp>
        <p:nvSpPr>
          <p:cNvPr id="12" name="Text 9"/>
          <p:cNvSpPr/>
          <p:nvPr/>
        </p:nvSpPr>
        <p:spPr>
          <a:xfrm>
            <a:off x="7772400" y="1965960"/>
            <a:ext cx="3566160" cy="777240"/>
          </a:xfrm>
          <a:prstGeom prst="rect">
            <a:avLst/>
          </a:prstGeom>
          <a:noFill/>
          <a:ln/>
        </p:spPr>
        <p:txBody>
          <a:bodyPr wrap="square" lIns="0" tIns="0" rIns="0" bIns="0" rtlCol="0" anchor="ctr"/>
          <a:lstStyle/>
          <a:p>
            <a:pPr indent="0" marL="0">
              <a:buNone/>
            </a:pPr>
            <a:r>
              <a:rPr lang="en-US" sz="4600" b="1" dirty="0">
                <a:solidFill>
                  <a:srgbClr val="E39A20"/>
                </a:solidFill>
                <a:latin typeface="Cambria" pitchFamily="34" charset="0"/>
                <a:ea typeface="Cambria" pitchFamily="34" charset="-122"/>
                <a:cs typeface="Cambria" pitchFamily="34" charset="-120"/>
              </a:rPr>
              <a:t>48,064</a:t>
            </a:r>
            <a:endParaRPr lang="en-US" sz="4600" dirty="0"/>
          </a:p>
        </p:txBody>
      </p:sp>
      <p:sp>
        <p:nvSpPr>
          <p:cNvPr id="13" name="Text 10"/>
          <p:cNvSpPr/>
          <p:nvPr/>
        </p:nvSpPr>
        <p:spPr>
          <a:xfrm>
            <a:off x="7772400" y="2743200"/>
            <a:ext cx="3566160" cy="1097280"/>
          </a:xfrm>
          <a:prstGeom prst="rect">
            <a:avLst/>
          </a:prstGeom>
          <a:noFill/>
          <a:ln/>
        </p:spPr>
        <p:txBody>
          <a:bodyPr wrap="square" lIns="0" tIns="0" rIns="0" bIns="0" rtlCol="0" anchor="ctr"/>
          <a:lstStyle/>
          <a:p>
            <a:pPr indent="0" marL="0">
              <a:buNone/>
            </a:pPr>
            <a:r>
              <a:rPr lang="en-US" sz="1450" dirty="0">
                <a:solidFill>
                  <a:srgbClr val="CADCFC"/>
                </a:solidFill>
                <a:latin typeface="Arial" pitchFamily="34" charset="0"/>
                <a:ea typeface="Arial" pitchFamily="34" charset="-122"/>
                <a:cs typeface="Arial" pitchFamily="34" charset="-120"/>
              </a:rPr>
              <a:t>complaints from people 60+ in 2025 — more than any other scam type, and more than double the year before.</a:t>
            </a:r>
            <a:endParaRPr lang="en-US" sz="1450" dirty="0"/>
          </a:p>
        </p:txBody>
      </p:sp>
      <p:sp>
        <p:nvSpPr>
          <p:cNvPr id="14" name="Shape 11"/>
          <p:cNvSpPr/>
          <p:nvPr/>
        </p:nvSpPr>
        <p:spPr>
          <a:xfrm>
            <a:off x="7772400" y="3886200"/>
            <a:ext cx="3566160" cy="18288"/>
          </a:xfrm>
          <a:prstGeom prst="rect">
            <a:avLst/>
          </a:prstGeom>
          <a:solidFill>
            <a:srgbClr val="3F4E8C"/>
          </a:solidFill>
          <a:ln/>
        </p:spPr>
      </p:sp>
      <p:sp>
        <p:nvSpPr>
          <p:cNvPr id="15" name="Text 12"/>
          <p:cNvSpPr/>
          <p:nvPr/>
        </p:nvSpPr>
        <p:spPr>
          <a:xfrm>
            <a:off x="7772400" y="4069080"/>
            <a:ext cx="356616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$77 million</a:t>
            </a:r>
            <a:endParaRPr lang="en-US" sz="2600" dirty="0"/>
          </a:p>
        </p:txBody>
      </p:sp>
      <p:sp>
        <p:nvSpPr>
          <p:cNvPr id="16" name="Text 13"/>
          <p:cNvSpPr/>
          <p:nvPr/>
        </p:nvSpPr>
        <p:spPr>
          <a:xfrm>
            <a:off x="7772400" y="4526280"/>
            <a:ext cx="3566160" cy="914400"/>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lost — which is small next to the others. Phishing usually isn't the theft. It's the front door to it.</a:t>
            </a:r>
            <a:endParaRPr lang="en-US" sz="1400" dirty="0"/>
          </a:p>
        </p:txBody>
      </p:sp>
      <p:sp>
        <p:nvSpPr>
          <p:cNvPr id="17" name="Text 14"/>
          <p:cNvSpPr/>
          <p:nvPr/>
        </p:nvSpPr>
        <p:spPr>
          <a:xfrm>
            <a:off x="548640" y="6355080"/>
            <a:ext cx="11064240" cy="274320"/>
          </a:xfrm>
          <a:prstGeom prst="rect">
            <a:avLst/>
          </a:prstGeom>
          <a:noFill/>
          <a:ln/>
        </p:spPr>
        <p:txBody>
          <a:bodyPr wrap="square" lIns="0" tIns="0" rIns="0" bIns="0" rtlCol="0" anchor="ctr"/>
          <a:lstStyle/>
          <a:p>
            <a:pPr indent="0" marL="0">
              <a:buNone/>
            </a:pPr>
            <a:r>
              <a:rPr lang="en-US" sz="1000" i="1" dirty="0">
                <a:solidFill>
                  <a:srgbClr val="56607A"/>
                </a:solidFill>
                <a:latin typeface="Arial" pitchFamily="34" charset="0"/>
                <a:ea typeface="Arial" pitchFamily="34" charset="-122"/>
                <a:cs typeface="Arial" pitchFamily="34" charset="-120"/>
              </a:rPr>
              <a:t>Source: FBI IC3 2025 Annual Report; AARP Fraud Watch Network.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SCAM 2 OF 8</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Tech support: the pop-up that won't go away</a:t>
            </a:r>
            <a:endParaRPr lang="en-US" sz="3400" dirty="0"/>
          </a:p>
        </p:txBody>
      </p:sp>
      <p:sp>
        <p:nvSpPr>
          <p:cNvPr id="4" name="Text 2"/>
          <p:cNvSpPr/>
          <p:nvPr/>
        </p:nvSpPr>
        <p:spPr>
          <a:xfrm>
            <a:off x="548640" y="1481328"/>
            <a:ext cx="11064240" cy="411480"/>
          </a:xfrm>
          <a:prstGeom prst="rect">
            <a:avLst/>
          </a:prstGeom>
          <a:noFill/>
          <a:ln/>
        </p:spPr>
        <p:txBody>
          <a:bodyPr wrap="square" lIns="0" tIns="0" rIns="0" bIns="0" rtlCol="0" anchor="ctr"/>
          <a:lstStyle/>
          <a:p>
            <a:pPr indent="0" marL="0">
              <a:buNone/>
            </a:pPr>
            <a:r>
              <a:rPr lang="en-US" sz="1700" b="1" dirty="0">
                <a:solidFill>
                  <a:srgbClr val="B02A28"/>
                </a:solidFill>
                <a:latin typeface="Arial" pitchFamily="34" charset="0"/>
                <a:ea typeface="Arial" pitchFamily="34" charset="-122"/>
                <a:cs typeface="Arial" pitchFamily="34" charset="-120"/>
              </a:rPr>
              <a:t>$1.04 billion lost by older adults in 2025 — the second-costliest scam in this room.</a:t>
            </a:r>
            <a:endParaRPr lang="en-US" sz="1700" dirty="0"/>
          </a:p>
        </p:txBody>
      </p:sp>
      <p:sp>
        <p:nvSpPr>
          <p:cNvPr id="5" name="Shape 3"/>
          <p:cNvSpPr/>
          <p:nvPr/>
        </p:nvSpPr>
        <p:spPr>
          <a:xfrm>
            <a:off x="548640" y="2057400"/>
            <a:ext cx="2606040" cy="3063240"/>
          </a:xfrm>
          <a:prstGeom prst="roundRect">
            <a:avLst>
              <a:gd name="adj" fmla="val 3509"/>
            </a:avLst>
          </a:prstGeom>
          <a:solidFill>
            <a:srgbClr val="FFFFFF"/>
          </a:solidFill>
          <a:ln w="12700">
            <a:solidFill>
              <a:srgbClr val="D8E0EF"/>
            </a:solidFill>
            <a:prstDash val="solid"/>
          </a:ln>
        </p:spPr>
      </p:sp>
      <p:sp>
        <p:nvSpPr>
          <p:cNvPr id="6" name="Shape 4"/>
          <p:cNvSpPr/>
          <p:nvPr/>
        </p:nvSpPr>
        <p:spPr>
          <a:xfrm>
            <a:off x="804672" y="2331720"/>
            <a:ext cx="566928" cy="566928"/>
          </a:xfrm>
          <a:prstGeom prst="ellipse">
            <a:avLst/>
          </a:prstGeom>
          <a:solidFill>
            <a:srgbClr val="1E2761"/>
          </a:solidFill>
          <a:ln/>
        </p:spPr>
      </p:sp>
      <p:sp>
        <p:nvSpPr>
          <p:cNvPr id="7" name="Text 5"/>
          <p:cNvSpPr/>
          <p:nvPr/>
        </p:nvSpPr>
        <p:spPr>
          <a:xfrm>
            <a:off x="804672" y="233172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8" name="Text 6"/>
          <p:cNvSpPr/>
          <p:nvPr/>
        </p:nvSpPr>
        <p:spPr>
          <a:xfrm>
            <a:off x="804672" y="3017520"/>
            <a:ext cx="210312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The scare</a:t>
            </a:r>
            <a:endParaRPr lang="en-US" sz="1900" dirty="0"/>
          </a:p>
        </p:txBody>
      </p:sp>
      <p:sp>
        <p:nvSpPr>
          <p:cNvPr id="9" name="Text 7"/>
          <p:cNvSpPr/>
          <p:nvPr/>
        </p:nvSpPr>
        <p:spPr>
          <a:xfrm>
            <a:off x="804672" y="3429000"/>
            <a:ext cx="2121408" cy="1554480"/>
          </a:xfrm>
          <a:prstGeom prst="rect">
            <a:avLst/>
          </a:prstGeom>
          <a:noFill/>
          <a:ln/>
        </p:spPr>
        <p:txBody>
          <a:bodyPr wrap="square" lIns="0" tIns="0" rIns="0" bIns="0" rtlCol="0" anchor="ctr"/>
          <a:lstStyle/>
          <a:p>
            <a:pPr indent="0" marL="0">
              <a:buNone/>
            </a:pPr>
            <a:r>
              <a:rPr lang="en-US" sz="1350" dirty="0">
                <a:solidFill>
                  <a:srgbClr val="16192B"/>
                </a:solidFill>
                <a:latin typeface="Arial" pitchFamily="34" charset="0"/>
                <a:ea typeface="Arial" pitchFamily="34" charset="-122"/>
                <a:cs typeface="Arial" pitchFamily="34" charset="-120"/>
              </a:rPr>
              <a:t>A loud pop-up, alarm sound, or frozen screen: "VIRUS DETECTED — call Microsoft now." Sometimes it's just a cold call.</a:t>
            </a:r>
            <a:endParaRPr lang="en-US" sz="1350" dirty="0"/>
          </a:p>
        </p:txBody>
      </p:sp>
      <p:sp>
        <p:nvSpPr>
          <p:cNvPr id="10" name="Shape 8"/>
          <p:cNvSpPr/>
          <p:nvPr/>
        </p:nvSpPr>
        <p:spPr>
          <a:xfrm>
            <a:off x="3392424" y="2057400"/>
            <a:ext cx="2606040" cy="3063240"/>
          </a:xfrm>
          <a:prstGeom prst="roundRect">
            <a:avLst>
              <a:gd name="adj" fmla="val 3509"/>
            </a:avLst>
          </a:prstGeom>
          <a:solidFill>
            <a:srgbClr val="FFFFFF"/>
          </a:solidFill>
          <a:ln w="12700">
            <a:solidFill>
              <a:srgbClr val="D8E0EF"/>
            </a:solidFill>
            <a:prstDash val="solid"/>
          </a:ln>
        </p:spPr>
      </p:sp>
      <p:sp>
        <p:nvSpPr>
          <p:cNvPr id="11" name="Shape 9"/>
          <p:cNvSpPr/>
          <p:nvPr/>
        </p:nvSpPr>
        <p:spPr>
          <a:xfrm>
            <a:off x="3648456" y="2331720"/>
            <a:ext cx="566928" cy="566928"/>
          </a:xfrm>
          <a:prstGeom prst="ellipse">
            <a:avLst/>
          </a:prstGeom>
          <a:solidFill>
            <a:srgbClr val="1E2761"/>
          </a:solidFill>
          <a:ln/>
        </p:spPr>
      </p:sp>
      <p:sp>
        <p:nvSpPr>
          <p:cNvPr id="12" name="Text 10"/>
          <p:cNvSpPr/>
          <p:nvPr/>
        </p:nvSpPr>
        <p:spPr>
          <a:xfrm>
            <a:off x="3648456" y="233172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3" name="Text 11"/>
          <p:cNvSpPr/>
          <p:nvPr/>
        </p:nvSpPr>
        <p:spPr>
          <a:xfrm>
            <a:off x="3648456" y="3017520"/>
            <a:ext cx="210312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The access</a:t>
            </a:r>
            <a:endParaRPr lang="en-US" sz="1900" dirty="0"/>
          </a:p>
        </p:txBody>
      </p:sp>
      <p:sp>
        <p:nvSpPr>
          <p:cNvPr id="14" name="Text 12"/>
          <p:cNvSpPr/>
          <p:nvPr/>
        </p:nvSpPr>
        <p:spPr>
          <a:xfrm>
            <a:off x="3648456" y="3429000"/>
            <a:ext cx="2121408" cy="1554480"/>
          </a:xfrm>
          <a:prstGeom prst="rect">
            <a:avLst/>
          </a:prstGeom>
          <a:noFill/>
          <a:ln/>
        </p:spPr>
        <p:txBody>
          <a:bodyPr wrap="square" lIns="0" tIns="0" rIns="0" bIns="0" rtlCol="0" anchor="ctr"/>
          <a:lstStyle/>
          <a:p>
            <a:pPr indent="0" marL="0">
              <a:buNone/>
            </a:pPr>
            <a:r>
              <a:rPr lang="en-US" sz="1350" dirty="0">
                <a:solidFill>
                  <a:srgbClr val="16192B"/>
                </a:solidFill>
                <a:latin typeface="Arial" pitchFamily="34" charset="0"/>
                <a:ea typeface="Arial" pitchFamily="34" charset="-122"/>
                <a:cs typeface="Arial" pitchFamily="34" charset="-120"/>
              </a:rPr>
              <a:t>They talk you into installing software so they can "fix it." Now they're driving your computer and watching your screen.</a:t>
            </a:r>
            <a:endParaRPr lang="en-US" sz="1350" dirty="0"/>
          </a:p>
        </p:txBody>
      </p:sp>
      <p:sp>
        <p:nvSpPr>
          <p:cNvPr id="15" name="Shape 13"/>
          <p:cNvSpPr/>
          <p:nvPr/>
        </p:nvSpPr>
        <p:spPr>
          <a:xfrm>
            <a:off x="6236208" y="2057400"/>
            <a:ext cx="2606040" cy="3063240"/>
          </a:xfrm>
          <a:prstGeom prst="roundRect">
            <a:avLst>
              <a:gd name="adj" fmla="val 3509"/>
            </a:avLst>
          </a:prstGeom>
          <a:solidFill>
            <a:srgbClr val="FFFFFF"/>
          </a:solidFill>
          <a:ln w="12700">
            <a:solidFill>
              <a:srgbClr val="D8E0EF"/>
            </a:solidFill>
            <a:prstDash val="solid"/>
          </a:ln>
        </p:spPr>
      </p:sp>
      <p:sp>
        <p:nvSpPr>
          <p:cNvPr id="16" name="Shape 14"/>
          <p:cNvSpPr/>
          <p:nvPr/>
        </p:nvSpPr>
        <p:spPr>
          <a:xfrm>
            <a:off x="6492240" y="2331720"/>
            <a:ext cx="566928" cy="566928"/>
          </a:xfrm>
          <a:prstGeom prst="ellipse">
            <a:avLst/>
          </a:prstGeom>
          <a:solidFill>
            <a:srgbClr val="1E2761"/>
          </a:solidFill>
          <a:ln/>
        </p:spPr>
      </p:sp>
      <p:sp>
        <p:nvSpPr>
          <p:cNvPr id="17" name="Text 15"/>
          <p:cNvSpPr/>
          <p:nvPr/>
        </p:nvSpPr>
        <p:spPr>
          <a:xfrm>
            <a:off x="6492240" y="233172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8" name="Text 16"/>
          <p:cNvSpPr/>
          <p:nvPr/>
        </p:nvSpPr>
        <p:spPr>
          <a:xfrm>
            <a:off x="6492240" y="3017520"/>
            <a:ext cx="210312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The look-around</a:t>
            </a:r>
            <a:endParaRPr lang="en-US" sz="1900" dirty="0"/>
          </a:p>
        </p:txBody>
      </p:sp>
      <p:sp>
        <p:nvSpPr>
          <p:cNvPr id="19" name="Text 17"/>
          <p:cNvSpPr/>
          <p:nvPr/>
        </p:nvSpPr>
        <p:spPr>
          <a:xfrm>
            <a:off x="6492240" y="3429000"/>
            <a:ext cx="2121408" cy="1554480"/>
          </a:xfrm>
          <a:prstGeom prst="rect">
            <a:avLst/>
          </a:prstGeom>
          <a:noFill/>
          <a:ln/>
        </p:spPr>
        <p:txBody>
          <a:bodyPr wrap="square" lIns="0" tIns="0" rIns="0" bIns="0" rtlCol="0" anchor="ctr"/>
          <a:lstStyle/>
          <a:p>
            <a:pPr indent="0" marL="0">
              <a:buNone/>
            </a:pPr>
            <a:r>
              <a:rPr lang="en-US" sz="1350" dirty="0">
                <a:solidFill>
                  <a:srgbClr val="16192B"/>
                </a:solidFill>
                <a:latin typeface="Arial" pitchFamily="34" charset="0"/>
                <a:ea typeface="Arial" pitchFamily="34" charset="-122"/>
                <a:cs typeface="Arial" pitchFamily="34" charset="-120"/>
              </a:rPr>
              <a:t>They ask you to log into your bank "to check for damage." They're shopping — picking the account with the most in it.</a:t>
            </a:r>
            <a:endParaRPr lang="en-US" sz="1350" dirty="0"/>
          </a:p>
        </p:txBody>
      </p:sp>
      <p:sp>
        <p:nvSpPr>
          <p:cNvPr id="20" name="Shape 18"/>
          <p:cNvSpPr/>
          <p:nvPr/>
        </p:nvSpPr>
        <p:spPr>
          <a:xfrm>
            <a:off x="9079992" y="2057400"/>
            <a:ext cx="2606040" cy="3063240"/>
          </a:xfrm>
          <a:prstGeom prst="roundRect">
            <a:avLst>
              <a:gd name="adj" fmla="val 3509"/>
            </a:avLst>
          </a:prstGeom>
          <a:solidFill>
            <a:srgbClr val="FFFFFF"/>
          </a:solidFill>
          <a:ln w="12700">
            <a:solidFill>
              <a:srgbClr val="D8E0EF"/>
            </a:solidFill>
            <a:prstDash val="solid"/>
          </a:ln>
        </p:spPr>
      </p:sp>
      <p:sp>
        <p:nvSpPr>
          <p:cNvPr id="21" name="Shape 19"/>
          <p:cNvSpPr/>
          <p:nvPr/>
        </p:nvSpPr>
        <p:spPr>
          <a:xfrm>
            <a:off x="9336024" y="2331720"/>
            <a:ext cx="566928" cy="566928"/>
          </a:xfrm>
          <a:prstGeom prst="ellipse">
            <a:avLst/>
          </a:prstGeom>
          <a:solidFill>
            <a:srgbClr val="1E2761"/>
          </a:solidFill>
          <a:ln/>
        </p:spPr>
      </p:sp>
      <p:sp>
        <p:nvSpPr>
          <p:cNvPr id="22" name="Text 20"/>
          <p:cNvSpPr/>
          <p:nvPr/>
        </p:nvSpPr>
        <p:spPr>
          <a:xfrm>
            <a:off x="9336024" y="233172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23" name="Text 21"/>
          <p:cNvSpPr/>
          <p:nvPr/>
        </p:nvSpPr>
        <p:spPr>
          <a:xfrm>
            <a:off x="9336024" y="3017520"/>
            <a:ext cx="210312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The ask</a:t>
            </a:r>
            <a:endParaRPr lang="en-US" sz="1900" dirty="0"/>
          </a:p>
        </p:txBody>
      </p:sp>
      <p:sp>
        <p:nvSpPr>
          <p:cNvPr id="24" name="Text 22"/>
          <p:cNvSpPr/>
          <p:nvPr/>
        </p:nvSpPr>
        <p:spPr>
          <a:xfrm>
            <a:off x="9336024" y="3429000"/>
            <a:ext cx="2121408" cy="1554480"/>
          </a:xfrm>
          <a:prstGeom prst="rect">
            <a:avLst/>
          </a:prstGeom>
          <a:noFill/>
          <a:ln/>
        </p:spPr>
        <p:txBody>
          <a:bodyPr wrap="square" lIns="0" tIns="0" rIns="0" bIns="0" rtlCol="0" anchor="ctr"/>
          <a:lstStyle/>
          <a:p>
            <a:pPr indent="0" marL="0">
              <a:buNone/>
            </a:pPr>
            <a:r>
              <a:rPr lang="en-US" sz="1350" dirty="0">
                <a:solidFill>
                  <a:srgbClr val="16192B"/>
                </a:solidFill>
                <a:latin typeface="Arial" pitchFamily="34" charset="0"/>
                <a:ea typeface="Arial" pitchFamily="34" charset="-122"/>
                <a:cs typeface="Arial" pitchFamily="34" charset="-120"/>
              </a:rPr>
              <a:t>A fee, gift cards, or a transfer. Often they'll "accidentally refund too much" and ask you to send the difference back.</a:t>
            </a:r>
            <a:endParaRPr lang="en-US" sz="1350" dirty="0"/>
          </a:p>
        </p:txBody>
      </p:sp>
      <p:sp>
        <p:nvSpPr>
          <p:cNvPr id="25" name="Shape 23"/>
          <p:cNvSpPr/>
          <p:nvPr/>
        </p:nvSpPr>
        <p:spPr>
          <a:xfrm>
            <a:off x="548640" y="5349240"/>
            <a:ext cx="11064240" cy="868680"/>
          </a:xfrm>
          <a:prstGeom prst="roundRect">
            <a:avLst>
              <a:gd name="adj" fmla="val 10526"/>
            </a:avLst>
          </a:prstGeom>
          <a:solidFill>
            <a:srgbClr val="B02A28"/>
          </a:solidFill>
          <a:ln/>
        </p:spPr>
      </p:sp>
      <p:sp>
        <p:nvSpPr>
          <p:cNvPr id="26" name="Shape 24"/>
          <p:cNvSpPr/>
          <p:nvPr/>
        </p:nvSpPr>
        <p:spPr>
          <a:xfrm>
            <a:off x="868680" y="5532120"/>
            <a:ext cx="502920" cy="502920"/>
          </a:xfrm>
          <a:prstGeom prst="ellipse">
            <a:avLst/>
          </a:prstGeom>
          <a:solidFill>
            <a:srgbClr val="FFFFFF"/>
          </a:solidFill>
          <a:ln/>
        </p:spPr>
      </p:sp>
      <p:pic>
        <p:nvPicPr>
          <p:cNvPr id="27" name="Image 0" descr="preencoded.png">    </p:cNvPr>
          <p:cNvPicPr>
            <a:picLocks noChangeAspect="1"/>
          </p:cNvPicPr>
          <p:nvPr/>
        </p:nvPicPr>
        <p:blipFill>
          <a:blip r:embed="rId1"/>
          <a:stretch>
            <a:fillRect/>
          </a:stretch>
        </p:blipFill>
        <p:spPr>
          <a:xfrm>
            <a:off x="1004468" y="5667908"/>
            <a:ext cx="231343" cy="231343"/>
          </a:xfrm>
          <a:prstGeom prst="rect">
            <a:avLst/>
          </a:prstGeom>
        </p:spPr>
      </p:pic>
      <p:sp>
        <p:nvSpPr>
          <p:cNvPr id="28" name="Text 25"/>
          <p:cNvSpPr/>
          <p:nvPr/>
        </p:nvSpPr>
        <p:spPr>
          <a:xfrm>
            <a:off x="1600200" y="5440680"/>
            <a:ext cx="9692640" cy="6858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Microsoft, Apple, and Google will never call you. Ever. There is no exception to this.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SCAM 3 OF 8 — THE ONE THAT TAKES EVERYTHING</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The Phantom Hacker: a three-act play with three actors</a:t>
            </a:r>
            <a:endParaRPr lang="en-US" sz="3400" dirty="0"/>
          </a:p>
        </p:txBody>
      </p:sp>
      <p:sp>
        <p:nvSpPr>
          <p:cNvPr id="4" name="Shape 2"/>
          <p:cNvSpPr/>
          <p:nvPr/>
        </p:nvSpPr>
        <p:spPr>
          <a:xfrm>
            <a:off x="548640" y="1600200"/>
            <a:ext cx="7589520" cy="1170432"/>
          </a:xfrm>
          <a:prstGeom prst="roundRect">
            <a:avLst>
              <a:gd name="adj" fmla="val 7813"/>
            </a:avLst>
          </a:prstGeom>
          <a:solidFill>
            <a:srgbClr val="FFFFFF"/>
          </a:solidFill>
          <a:ln w="12700">
            <a:solidFill>
              <a:srgbClr val="D8E0EF"/>
            </a:solidFill>
            <a:prstDash val="solid"/>
          </a:ln>
        </p:spPr>
      </p:sp>
      <p:sp>
        <p:nvSpPr>
          <p:cNvPr id="5" name="Shape 3"/>
          <p:cNvSpPr/>
          <p:nvPr/>
        </p:nvSpPr>
        <p:spPr>
          <a:xfrm>
            <a:off x="777240" y="1856232"/>
            <a:ext cx="960120" cy="658368"/>
          </a:xfrm>
          <a:prstGeom prst="roundRect">
            <a:avLst>
              <a:gd name="adj" fmla="val 8333"/>
            </a:avLst>
          </a:prstGeom>
          <a:solidFill>
            <a:srgbClr val="1E2761"/>
          </a:solidFill>
          <a:ln/>
        </p:spPr>
      </p:sp>
      <p:sp>
        <p:nvSpPr>
          <p:cNvPr id="6" name="Text 4"/>
          <p:cNvSpPr/>
          <p:nvPr/>
        </p:nvSpPr>
        <p:spPr>
          <a:xfrm>
            <a:off x="777240" y="1856232"/>
            <a:ext cx="96012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ACT I</a:t>
            </a:r>
            <a:endParaRPr lang="en-US" sz="1500" dirty="0"/>
          </a:p>
        </p:txBody>
      </p:sp>
      <p:sp>
        <p:nvSpPr>
          <p:cNvPr id="7" name="Text 5"/>
          <p:cNvSpPr/>
          <p:nvPr/>
        </p:nvSpPr>
        <p:spPr>
          <a:xfrm>
            <a:off x="1920240" y="1783080"/>
            <a:ext cx="5943600" cy="347472"/>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"Tech support"</a:t>
            </a:r>
            <a:endParaRPr lang="en-US" sz="1900" dirty="0"/>
          </a:p>
        </p:txBody>
      </p:sp>
      <p:sp>
        <p:nvSpPr>
          <p:cNvPr id="8" name="Text 6"/>
          <p:cNvSpPr/>
          <p:nvPr/>
        </p:nvSpPr>
        <p:spPr>
          <a:xfrm>
            <a:off x="1920240" y="2148840"/>
            <a:ext cx="5989320" cy="548640"/>
          </a:xfrm>
          <a:prstGeom prst="rect">
            <a:avLst/>
          </a:prstGeom>
          <a:noFill/>
          <a:ln/>
        </p:spPr>
        <p:txBody>
          <a:bodyPr wrap="square" lIns="0" tIns="0" rIns="0" bIns="0" rtlCol="0" anchor="ctr"/>
          <a:lstStyle/>
          <a:p>
            <a:pPr indent="0" marL="0">
              <a:buNone/>
            </a:pPr>
            <a:r>
              <a:rPr lang="en-US" sz="1400" dirty="0">
                <a:solidFill>
                  <a:srgbClr val="16192B"/>
                </a:solidFill>
                <a:latin typeface="Arial" pitchFamily="34" charset="0"/>
                <a:ea typeface="Arial" pitchFamily="34" charset="-122"/>
                <a:cs typeface="Arial" pitchFamily="34" charset="-120"/>
              </a:rPr>
              <a:t>Your computer is infected. Let me in to check. Now log into your accounts so we can look for damage.</a:t>
            </a:r>
            <a:endParaRPr lang="en-US" sz="1400" dirty="0"/>
          </a:p>
        </p:txBody>
      </p:sp>
      <p:sp>
        <p:nvSpPr>
          <p:cNvPr id="9" name="Shape 7"/>
          <p:cNvSpPr/>
          <p:nvPr/>
        </p:nvSpPr>
        <p:spPr>
          <a:xfrm>
            <a:off x="548640" y="2898648"/>
            <a:ext cx="7589520" cy="1170432"/>
          </a:xfrm>
          <a:prstGeom prst="roundRect">
            <a:avLst>
              <a:gd name="adj" fmla="val 7813"/>
            </a:avLst>
          </a:prstGeom>
          <a:solidFill>
            <a:srgbClr val="FFFFFF"/>
          </a:solidFill>
          <a:ln w="12700">
            <a:solidFill>
              <a:srgbClr val="D8E0EF"/>
            </a:solidFill>
            <a:prstDash val="solid"/>
          </a:ln>
        </p:spPr>
      </p:sp>
      <p:sp>
        <p:nvSpPr>
          <p:cNvPr id="10" name="Shape 8"/>
          <p:cNvSpPr/>
          <p:nvPr/>
        </p:nvSpPr>
        <p:spPr>
          <a:xfrm>
            <a:off x="777240" y="3154680"/>
            <a:ext cx="960120" cy="658368"/>
          </a:xfrm>
          <a:prstGeom prst="roundRect">
            <a:avLst>
              <a:gd name="adj" fmla="val 8333"/>
            </a:avLst>
          </a:prstGeom>
          <a:solidFill>
            <a:srgbClr val="E39A20"/>
          </a:solidFill>
          <a:ln/>
        </p:spPr>
      </p:sp>
      <p:sp>
        <p:nvSpPr>
          <p:cNvPr id="11" name="Text 9"/>
          <p:cNvSpPr/>
          <p:nvPr/>
        </p:nvSpPr>
        <p:spPr>
          <a:xfrm>
            <a:off x="777240" y="3154680"/>
            <a:ext cx="96012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ACT II</a:t>
            </a:r>
            <a:endParaRPr lang="en-US" sz="1500" dirty="0"/>
          </a:p>
        </p:txBody>
      </p:sp>
      <p:sp>
        <p:nvSpPr>
          <p:cNvPr id="12" name="Text 10"/>
          <p:cNvSpPr/>
          <p:nvPr/>
        </p:nvSpPr>
        <p:spPr>
          <a:xfrm>
            <a:off x="1920240" y="3081528"/>
            <a:ext cx="5943600" cy="347472"/>
          </a:xfrm>
          <a:prstGeom prst="rect">
            <a:avLst/>
          </a:prstGeom>
          <a:noFill/>
          <a:ln/>
        </p:spPr>
        <p:txBody>
          <a:bodyPr wrap="square" lIns="0" tIns="0" rIns="0" bIns="0" rtlCol="0" anchor="ctr"/>
          <a:lstStyle/>
          <a:p>
            <a:pPr indent="0" marL="0">
              <a:buNone/>
            </a:pPr>
            <a:r>
              <a:rPr lang="en-US" sz="1900" b="1" dirty="0">
                <a:solidFill>
                  <a:srgbClr val="E39A20"/>
                </a:solidFill>
                <a:latin typeface="Cambria" pitchFamily="34" charset="0"/>
                <a:ea typeface="Cambria" pitchFamily="34" charset="-122"/>
                <a:cs typeface="Cambria" pitchFamily="34" charset="-120"/>
              </a:rPr>
              <a:t>"Your bank's fraud department"</a:t>
            </a:r>
            <a:endParaRPr lang="en-US" sz="1900" dirty="0"/>
          </a:p>
        </p:txBody>
      </p:sp>
      <p:sp>
        <p:nvSpPr>
          <p:cNvPr id="13" name="Text 11"/>
          <p:cNvSpPr/>
          <p:nvPr/>
        </p:nvSpPr>
        <p:spPr>
          <a:xfrm>
            <a:off x="1920240" y="3447288"/>
            <a:ext cx="5989320" cy="548640"/>
          </a:xfrm>
          <a:prstGeom prst="rect">
            <a:avLst/>
          </a:prstGeom>
          <a:noFill/>
          <a:ln/>
        </p:spPr>
        <p:txBody>
          <a:bodyPr wrap="square" lIns="0" tIns="0" rIns="0" bIns="0" rtlCol="0" anchor="ctr"/>
          <a:lstStyle/>
          <a:p>
            <a:pPr indent="0" marL="0">
              <a:buNone/>
            </a:pPr>
            <a:r>
              <a:rPr lang="en-US" sz="1400" dirty="0">
                <a:solidFill>
                  <a:srgbClr val="16192B"/>
                </a:solidFill>
                <a:latin typeface="Arial" pitchFamily="34" charset="0"/>
                <a:ea typeface="Arial" pitchFamily="34" charset="-122"/>
                <a:cs typeface="Arial" pitchFamily="34" charset="-120"/>
              </a:rPr>
              <a:t>A foreign hacker is inside your accounts. Your money isn't safe here. Move it to a secure account we've set up.</a:t>
            </a:r>
            <a:endParaRPr lang="en-US" sz="1400" dirty="0"/>
          </a:p>
        </p:txBody>
      </p:sp>
      <p:sp>
        <p:nvSpPr>
          <p:cNvPr id="14" name="Shape 12"/>
          <p:cNvSpPr/>
          <p:nvPr/>
        </p:nvSpPr>
        <p:spPr>
          <a:xfrm>
            <a:off x="548640" y="4197096"/>
            <a:ext cx="7589520" cy="1170432"/>
          </a:xfrm>
          <a:prstGeom prst="roundRect">
            <a:avLst>
              <a:gd name="adj" fmla="val 7813"/>
            </a:avLst>
          </a:prstGeom>
          <a:solidFill>
            <a:srgbClr val="FFFFFF"/>
          </a:solidFill>
          <a:ln w="12700">
            <a:solidFill>
              <a:srgbClr val="D8E0EF"/>
            </a:solidFill>
            <a:prstDash val="solid"/>
          </a:ln>
        </p:spPr>
      </p:sp>
      <p:sp>
        <p:nvSpPr>
          <p:cNvPr id="15" name="Shape 13"/>
          <p:cNvSpPr/>
          <p:nvPr/>
        </p:nvSpPr>
        <p:spPr>
          <a:xfrm>
            <a:off x="777240" y="4453128"/>
            <a:ext cx="960120" cy="658368"/>
          </a:xfrm>
          <a:prstGeom prst="roundRect">
            <a:avLst>
              <a:gd name="adj" fmla="val 8333"/>
            </a:avLst>
          </a:prstGeom>
          <a:solidFill>
            <a:srgbClr val="B02A28"/>
          </a:solidFill>
          <a:ln/>
        </p:spPr>
      </p:sp>
      <p:sp>
        <p:nvSpPr>
          <p:cNvPr id="16" name="Text 14"/>
          <p:cNvSpPr/>
          <p:nvPr/>
        </p:nvSpPr>
        <p:spPr>
          <a:xfrm>
            <a:off x="777240" y="4453128"/>
            <a:ext cx="96012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ACT III</a:t>
            </a:r>
            <a:endParaRPr lang="en-US" sz="1500" dirty="0"/>
          </a:p>
        </p:txBody>
      </p:sp>
      <p:sp>
        <p:nvSpPr>
          <p:cNvPr id="17" name="Text 15"/>
          <p:cNvSpPr/>
          <p:nvPr/>
        </p:nvSpPr>
        <p:spPr>
          <a:xfrm>
            <a:off x="1920240" y="4379976"/>
            <a:ext cx="5943600" cy="347472"/>
          </a:xfrm>
          <a:prstGeom prst="rect">
            <a:avLst/>
          </a:prstGeom>
          <a:noFill/>
          <a:ln/>
        </p:spPr>
        <p:txBody>
          <a:bodyPr wrap="square" lIns="0" tIns="0" rIns="0" bIns="0" rtlCol="0" anchor="ctr"/>
          <a:lstStyle/>
          <a:p>
            <a:pPr indent="0" marL="0">
              <a:buNone/>
            </a:pPr>
            <a:r>
              <a:rPr lang="en-US" sz="1900" b="1" dirty="0">
                <a:solidFill>
                  <a:srgbClr val="B02A28"/>
                </a:solidFill>
                <a:latin typeface="Cambria" pitchFamily="34" charset="0"/>
                <a:ea typeface="Cambria" pitchFamily="34" charset="-122"/>
                <a:cs typeface="Cambria" pitchFamily="34" charset="-120"/>
              </a:rPr>
              <a:t>"A federal official"</a:t>
            </a:r>
            <a:endParaRPr lang="en-US" sz="1900" dirty="0"/>
          </a:p>
        </p:txBody>
      </p:sp>
      <p:sp>
        <p:nvSpPr>
          <p:cNvPr id="18" name="Text 16"/>
          <p:cNvSpPr/>
          <p:nvPr/>
        </p:nvSpPr>
        <p:spPr>
          <a:xfrm>
            <a:off x="1920240" y="4745736"/>
            <a:ext cx="5989320" cy="548640"/>
          </a:xfrm>
          <a:prstGeom prst="rect">
            <a:avLst/>
          </a:prstGeom>
          <a:noFill/>
          <a:ln/>
        </p:spPr>
        <p:txBody>
          <a:bodyPr wrap="square" lIns="0" tIns="0" rIns="0" bIns="0" rtlCol="0" anchor="ctr"/>
          <a:lstStyle/>
          <a:p>
            <a:pPr indent="0" marL="0">
              <a:buNone/>
            </a:pPr>
            <a:r>
              <a:rPr lang="en-US" sz="1400" dirty="0">
                <a:solidFill>
                  <a:srgbClr val="16192B"/>
                </a:solidFill>
                <a:latin typeface="Arial" pitchFamily="34" charset="0"/>
                <a:ea typeface="Arial" pitchFamily="34" charset="-122"/>
                <a:cs typeface="Arial" pitchFamily="34" charset="-120"/>
              </a:rPr>
              <a:t>This is an active investigation. Don't discuss it with family or your branch. Here's our letterhead to prove it.</a:t>
            </a:r>
            <a:endParaRPr lang="en-US" sz="1400" dirty="0"/>
          </a:p>
        </p:txBody>
      </p:sp>
      <p:sp>
        <p:nvSpPr>
          <p:cNvPr id="19" name="Shape 17"/>
          <p:cNvSpPr/>
          <p:nvPr/>
        </p:nvSpPr>
        <p:spPr>
          <a:xfrm>
            <a:off x="8412480" y="1600200"/>
            <a:ext cx="3200400" cy="3886200"/>
          </a:xfrm>
          <a:prstGeom prst="roundRect">
            <a:avLst>
              <a:gd name="adj" fmla="val 2857"/>
            </a:avLst>
          </a:prstGeom>
          <a:solidFill>
            <a:srgbClr val="1E2761"/>
          </a:solidFill>
          <a:ln w="12700">
            <a:solidFill>
              <a:srgbClr val="D8E0EF"/>
            </a:solidFill>
            <a:prstDash val="solid"/>
          </a:ln>
        </p:spPr>
      </p:sp>
      <p:sp>
        <p:nvSpPr>
          <p:cNvPr id="20" name="Shape 18"/>
          <p:cNvSpPr/>
          <p:nvPr/>
        </p:nvSpPr>
        <p:spPr>
          <a:xfrm>
            <a:off x="8732520" y="1874520"/>
            <a:ext cx="685800" cy="685800"/>
          </a:xfrm>
          <a:prstGeom prst="ellipse">
            <a:avLst/>
          </a:prstGeom>
          <a:solidFill>
            <a:srgbClr val="E39A20"/>
          </a:solidFill>
          <a:ln/>
        </p:spPr>
      </p:sp>
      <p:pic>
        <p:nvPicPr>
          <p:cNvPr id="21" name="Image 0" descr="preencoded.png">    </p:cNvPr>
          <p:cNvPicPr>
            <a:picLocks noChangeAspect="1"/>
          </p:cNvPicPr>
          <p:nvPr/>
        </p:nvPicPr>
        <p:blipFill>
          <a:blip r:embed="rId1"/>
          <a:stretch>
            <a:fillRect/>
          </a:stretch>
        </p:blipFill>
        <p:spPr>
          <a:xfrm>
            <a:off x="8917686" y="2059686"/>
            <a:ext cx="315468" cy="315468"/>
          </a:xfrm>
          <a:prstGeom prst="rect">
            <a:avLst/>
          </a:prstGeom>
        </p:spPr>
      </p:pic>
      <p:sp>
        <p:nvSpPr>
          <p:cNvPr id="22" name="Text 19"/>
          <p:cNvSpPr/>
          <p:nvPr/>
        </p:nvSpPr>
        <p:spPr>
          <a:xfrm>
            <a:off x="8732520" y="2697480"/>
            <a:ext cx="2651760" cy="502920"/>
          </a:xfrm>
          <a:prstGeom prst="rect">
            <a:avLst/>
          </a:prstGeom>
          <a:noFill/>
          <a:ln/>
        </p:spPr>
        <p:txBody>
          <a:bodyPr wrap="square" lIns="0" tIns="0" rIns="0" bIns="0" rtlCol="0" anchor="ctr"/>
          <a:lstStyle/>
          <a:p>
            <a:pPr indent="0" marL="0">
              <a:buNone/>
            </a:pPr>
            <a:r>
              <a:rPr lang="en-US" sz="3000" b="1" dirty="0">
                <a:solidFill>
                  <a:srgbClr val="E39A20"/>
                </a:solidFill>
                <a:latin typeface="Cambria" pitchFamily="34" charset="0"/>
                <a:ea typeface="Cambria" pitchFamily="34" charset="-122"/>
                <a:cs typeface="Cambria" pitchFamily="34" charset="-120"/>
              </a:rPr>
              <a:t>$1 billion+</a:t>
            </a:r>
            <a:endParaRPr lang="en-US" sz="3000" dirty="0"/>
          </a:p>
        </p:txBody>
      </p:sp>
      <p:sp>
        <p:nvSpPr>
          <p:cNvPr id="23" name="Text 20"/>
          <p:cNvSpPr/>
          <p:nvPr/>
        </p:nvSpPr>
        <p:spPr>
          <a:xfrm>
            <a:off x="8732520" y="3200400"/>
            <a:ext cx="2651760" cy="548640"/>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stolen this way since 2024, per FBI warnings.</a:t>
            </a:r>
            <a:endParaRPr lang="en-US" sz="1400" dirty="0"/>
          </a:p>
        </p:txBody>
      </p:sp>
      <p:sp>
        <p:nvSpPr>
          <p:cNvPr id="24" name="Text 21"/>
          <p:cNvSpPr/>
          <p:nvPr/>
        </p:nvSpPr>
        <p:spPr>
          <a:xfrm>
            <a:off x="8732520" y="3840480"/>
            <a:ext cx="2651760" cy="5486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All three "people" are the same crew.</a:t>
            </a:r>
            <a:endParaRPr lang="en-US" sz="1600" dirty="0"/>
          </a:p>
        </p:txBody>
      </p:sp>
      <p:sp>
        <p:nvSpPr>
          <p:cNvPr id="25" name="Text 22"/>
          <p:cNvSpPr/>
          <p:nvPr/>
        </p:nvSpPr>
        <p:spPr>
          <a:xfrm>
            <a:off x="8732520" y="4434840"/>
            <a:ext cx="2651760" cy="914400"/>
          </a:xfrm>
          <a:prstGeom prst="rect">
            <a:avLst/>
          </a:prstGeom>
          <a:noFill/>
          <a:ln/>
        </p:spPr>
        <p:txBody>
          <a:bodyPr wrap="square" lIns="0" tIns="0" rIns="0" bIns="0" rtlCol="0" anchor="ctr"/>
          <a:lstStyle/>
          <a:p>
            <a:pPr indent="0" marL="0">
              <a:buNone/>
            </a:pPr>
            <a:r>
              <a:rPr lang="en-US" sz="1350" dirty="0">
                <a:solidFill>
                  <a:srgbClr val="CADCFC"/>
                </a:solidFill>
                <a:latin typeface="Arial" pitchFamily="34" charset="0"/>
                <a:ea typeface="Arial" pitchFamily="34" charset="-122"/>
                <a:cs typeface="Arial" pitchFamily="34" charset="-120"/>
              </a:rPr>
              <a:t>Victims often lose checking, savings, and retirement — all of it — believing they were protecting it.</a:t>
            </a:r>
            <a:endParaRPr lang="en-US" sz="1350" dirty="0"/>
          </a:p>
        </p:txBody>
      </p:sp>
      <p:sp>
        <p:nvSpPr>
          <p:cNvPr id="26" name="Shape 23"/>
          <p:cNvSpPr/>
          <p:nvPr/>
        </p:nvSpPr>
        <p:spPr>
          <a:xfrm>
            <a:off x="548640" y="5532120"/>
            <a:ext cx="7589520" cy="713232"/>
          </a:xfrm>
          <a:prstGeom prst="roundRect">
            <a:avLst>
              <a:gd name="adj" fmla="val 10256"/>
            </a:avLst>
          </a:prstGeom>
          <a:solidFill>
            <a:srgbClr val="FDF0D9"/>
          </a:solidFill>
          <a:ln/>
        </p:spPr>
      </p:sp>
      <p:sp>
        <p:nvSpPr>
          <p:cNvPr id="27" name="Text 24"/>
          <p:cNvSpPr/>
          <p:nvPr/>
        </p:nvSpPr>
        <p:spPr>
          <a:xfrm>
            <a:off x="777240" y="5559552"/>
            <a:ext cx="7132320" cy="658368"/>
          </a:xfrm>
          <a:prstGeom prst="rect">
            <a:avLst/>
          </a:prstGeom>
          <a:noFill/>
          <a:ln/>
        </p:spPr>
        <p:txBody>
          <a:bodyPr wrap="square" lIns="0" tIns="0" rIns="0" bIns="0" rtlCol="0" anchor="ctr"/>
          <a:lstStyle/>
          <a:p>
            <a:pPr indent="0" marL="0">
              <a:buNone/>
            </a:pPr>
            <a:r>
              <a:rPr lang="en-US" sz="1700" b="1" dirty="0">
                <a:solidFill>
                  <a:srgbClr val="16192B"/>
                </a:solidFill>
                <a:latin typeface="Cambria" pitchFamily="34" charset="0"/>
                <a:ea typeface="Cambria" pitchFamily="34" charset="-122"/>
                <a:cs typeface="Cambria" pitchFamily="34" charset="-120"/>
              </a:rPr>
              <a:t>No bank and no government agency will EVER ask you to move money to keep it safe.</a:t>
            </a:r>
            <a:endParaRPr lang="en-US" sz="1700" dirty="0"/>
          </a:p>
        </p:txBody>
      </p:sp>
      <p:sp>
        <p:nvSpPr>
          <p:cNvPr id="28" name="Text 25"/>
          <p:cNvSpPr/>
          <p:nvPr/>
        </p:nvSpPr>
        <p:spPr>
          <a:xfrm>
            <a:off x="548640" y="6355080"/>
            <a:ext cx="11064240" cy="274320"/>
          </a:xfrm>
          <a:prstGeom prst="rect">
            <a:avLst/>
          </a:prstGeom>
          <a:noFill/>
          <a:ln/>
        </p:spPr>
        <p:txBody>
          <a:bodyPr wrap="square" lIns="0" tIns="0" rIns="0" bIns="0" rtlCol="0" anchor="ctr"/>
          <a:lstStyle/>
          <a:p>
            <a:pPr indent="0" marL="0">
              <a:buNone/>
            </a:pPr>
            <a:r>
              <a:rPr lang="en-US" sz="1000" i="1" dirty="0">
                <a:solidFill>
                  <a:srgbClr val="56607A"/>
                </a:solidFill>
                <a:latin typeface="Arial" pitchFamily="34" charset="0"/>
                <a:ea typeface="Arial" pitchFamily="34" charset="-122"/>
                <a:cs typeface="Arial" pitchFamily="34" charset="-120"/>
              </a:rPr>
              <a:t>Source: FBI IC3 Public Service Announcement on "Phantom Hacker" scams; FBI field office alerts, 2023-2026.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SCAM 4 OF 8</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Government impersonation: badges and threats</a:t>
            </a:r>
            <a:endParaRPr lang="en-US" sz="3400" dirty="0"/>
          </a:p>
        </p:txBody>
      </p:sp>
      <p:sp>
        <p:nvSpPr>
          <p:cNvPr id="4" name="Shape 2"/>
          <p:cNvSpPr/>
          <p:nvPr/>
        </p:nvSpPr>
        <p:spPr>
          <a:xfrm>
            <a:off x="548640" y="1600200"/>
            <a:ext cx="5532120" cy="2331720"/>
          </a:xfrm>
          <a:prstGeom prst="roundRect">
            <a:avLst>
              <a:gd name="adj" fmla="val 3922"/>
            </a:avLst>
          </a:prstGeom>
          <a:solidFill>
            <a:srgbClr val="FFFFFF"/>
          </a:solidFill>
          <a:ln w="12700">
            <a:solidFill>
              <a:srgbClr val="D8E0EF"/>
            </a:solidFill>
            <a:prstDash val="solid"/>
          </a:ln>
        </p:spPr>
      </p:sp>
      <p:sp>
        <p:nvSpPr>
          <p:cNvPr id="5" name="Shape 3"/>
          <p:cNvSpPr/>
          <p:nvPr/>
        </p:nvSpPr>
        <p:spPr>
          <a:xfrm>
            <a:off x="868680" y="1874520"/>
            <a:ext cx="685800" cy="68580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053846" y="2059686"/>
            <a:ext cx="315468" cy="315468"/>
          </a:xfrm>
          <a:prstGeom prst="rect">
            <a:avLst/>
          </a:prstGeom>
        </p:spPr>
      </p:pic>
      <p:sp>
        <p:nvSpPr>
          <p:cNvPr id="7" name="Text 4"/>
          <p:cNvSpPr/>
          <p:nvPr/>
        </p:nvSpPr>
        <p:spPr>
          <a:xfrm>
            <a:off x="1737360" y="1965960"/>
            <a:ext cx="4023360" cy="41148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Who they claim to be</a:t>
            </a:r>
            <a:endParaRPr lang="en-US" sz="2000" dirty="0"/>
          </a:p>
        </p:txBody>
      </p:sp>
      <p:sp>
        <p:nvSpPr>
          <p:cNvPr id="8" name="Text 5"/>
          <p:cNvSpPr/>
          <p:nvPr/>
        </p:nvSpPr>
        <p:spPr>
          <a:xfrm>
            <a:off x="914400" y="2743200"/>
            <a:ext cx="4937760" cy="1097280"/>
          </a:xfrm>
          <a:prstGeom prst="rect">
            <a:avLst/>
          </a:prstGeom>
          <a:noFill/>
          <a:ln/>
        </p:spPr>
        <p:txBody>
          <a:bodyPr wrap="square" lIns="0" tIns="0" rIns="0" bIns="0" rtlCol="0" anchor="ctr"/>
          <a:lstStyle/>
          <a:p>
            <a:pPr marL="342900" indent="-342900">
              <a:spcAft>
                <a:spcPts val="600"/>
              </a:spcAft>
              <a:buSzPct val="100000"/>
              <a:buChar char="•"/>
            </a:pPr>
            <a:r>
              <a:rPr lang="en-US" sz="1450" dirty="0">
                <a:solidFill>
                  <a:srgbClr val="16192B"/>
                </a:solidFill>
                <a:latin typeface="Arial" pitchFamily="34" charset="0"/>
                <a:ea typeface="Arial" pitchFamily="34" charset="-122"/>
                <a:cs typeface="Arial" pitchFamily="34" charset="-120"/>
              </a:rPr>
              <a:t>Social Security — "your number has been suspended"</a:t>
            </a:r>
            <a:endParaRPr lang="en-US" sz="1450" dirty="0"/>
          </a:p>
          <a:p>
            <a:pPr marL="342900" indent="-342900">
              <a:spcAft>
                <a:spcPts val="600"/>
              </a:spcAft>
              <a:buSzPct val="100000"/>
              <a:buChar char="•"/>
            </a:pPr>
            <a:r>
              <a:rPr lang="en-US" sz="1450" dirty="0">
                <a:solidFill>
                  <a:srgbClr val="16192B"/>
                </a:solidFill>
                <a:latin typeface="Arial" pitchFamily="34" charset="0"/>
                <a:ea typeface="Arial" pitchFamily="34" charset="-122"/>
                <a:cs typeface="Arial" pitchFamily="34" charset="-120"/>
              </a:rPr>
              <a:t>Medicare — "we need to reissue your card"</a:t>
            </a:r>
            <a:endParaRPr lang="en-US" sz="1450" dirty="0"/>
          </a:p>
          <a:p>
            <a:pPr marL="342900" indent="-342900">
              <a:spcAft>
                <a:spcPts val="600"/>
              </a:spcAft>
              <a:buSzPct val="100000"/>
              <a:buChar char="•"/>
            </a:pPr>
            <a:r>
              <a:rPr lang="en-US" sz="1450" dirty="0">
                <a:solidFill>
                  <a:srgbClr val="16192B"/>
                </a:solidFill>
                <a:latin typeface="Arial" pitchFamily="34" charset="0"/>
                <a:ea typeface="Arial" pitchFamily="34" charset="-122"/>
                <a:cs typeface="Arial" pitchFamily="34" charset="-120"/>
              </a:rPr>
              <a:t>IRS — "you owe back taxes, pay today"</a:t>
            </a:r>
            <a:endParaRPr lang="en-US" sz="1450" dirty="0"/>
          </a:p>
          <a:p>
            <a:pPr marL="342900" indent="-342900">
              <a:spcAft>
                <a:spcPts val="600"/>
              </a:spcAft>
              <a:buSzPct val="100000"/>
              <a:buChar char="•"/>
            </a:pPr>
            <a:r>
              <a:rPr lang="en-US" sz="1450" dirty="0">
                <a:solidFill>
                  <a:srgbClr val="16192B"/>
                </a:solidFill>
                <a:latin typeface="Arial" pitchFamily="34" charset="0"/>
                <a:ea typeface="Arial" pitchFamily="34" charset="-122"/>
                <a:cs typeface="Arial" pitchFamily="34" charset="-120"/>
              </a:rPr>
              <a:t>Local police — "there's a warrant for a missed jury summons"</a:t>
            </a:r>
            <a:endParaRPr lang="en-US" sz="1450" dirty="0"/>
          </a:p>
        </p:txBody>
      </p:sp>
      <p:sp>
        <p:nvSpPr>
          <p:cNvPr id="9" name="Shape 6"/>
          <p:cNvSpPr/>
          <p:nvPr/>
        </p:nvSpPr>
        <p:spPr>
          <a:xfrm>
            <a:off x="6309360" y="1600200"/>
            <a:ext cx="5303520" cy="2331720"/>
          </a:xfrm>
          <a:prstGeom prst="roundRect">
            <a:avLst>
              <a:gd name="adj" fmla="val 3922"/>
            </a:avLst>
          </a:prstGeom>
          <a:solidFill>
            <a:srgbClr val="1E2761"/>
          </a:solidFill>
          <a:ln w="12700">
            <a:solidFill>
              <a:srgbClr val="D8E0EF"/>
            </a:solidFill>
            <a:prstDash val="solid"/>
          </a:ln>
        </p:spPr>
      </p:sp>
      <p:sp>
        <p:nvSpPr>
          <p:cNvPr id="10" name="Text 7"/>
          <p:cNvSpPr/>
          <p:nvPr/>
        </p:nvSpPr>
        <p:spPr>
          <a:xfrm>
            <a:off x="6629400" y="1874520"/>
            <a:ext cx="4663440" cy="685800"/>
          </a:xfrm>
          <a:prstGeom prst="rect">
            <a:avLst/>
          </a:prstGeom>
          <a:noFill/>
          <a:ln/>
        </p:spPr>
        <p:txBody>
          <a:bodyPr wrap="square" lIns="0" tIns="0" rIns="0" bIns="0" rtlCol="0" anchor="ctr"/>
          <a:lstStyle/>
          <a:p>
            <a:pPr indent="0" marL="0">
              <a:buNone/>
            </a:pPr>
            <a:r>
              <a:rPr lang="en-US" sz="4200" b="1" dirty="0">
                <a:solidFill>
                  <a:srgbClr val="E39A20"/>
                </a:solidFill>
                <a:latin typeface="Cambria" pitchFamily="34" charset="0"/>
                <a:ea typeface="Cambria" pitchFamily="34" charset="-122"/>
                <a:cs typeface="Cambria" pitchFamily="34" charset="-120"/>
              </a:rPr>
              <a:t>8,628</a:t>
            </a:r>
            <a:endParaRPr lang="en-US" sz="4200" dirty="0"/>
          </a:p>
        </p:txBody>
      </p:sp>
      <p:sp>
        <p:nvSpPr>
          <p:cNvPr id="11" name="Text 8"/>
          <p:cNvSpPr/>
          <p:nvPr/>
        </p:nvSpPr>
        <p:spPr>
          <a:xfrm>
            <a:off x="6629400" y="2606040"/>
            <a:ext cx="4663440" cy="1143000"/>
          </a:xfrm>
          <a:prstGeom prst="rect">
            <a:avLst/>
          </a:prstGeom>
          <a:noFill/>
          <a:ln/>
        </p:spPr>
        <p:txBody>
          <a:bodyPr wrap="square" lIns="0" tIns="0" rIns="0" bIns="0" rtlCol="0" anchor="ctr"/>
          <a:lstStyle/>
          <a:p>
            <a:pPr indent="0" marL="0">
              <a:buNone/>
            </a:pPr>
            <a:r>
              <a:rPr lang="en-US" sz="1500" dirty="0">
                <a:solidFill>
                  <a:srgbClr val="CADCFC"/>
                </a:solidFill>
                <a:latin typeface="Arial" pitchFamily="34" charset="0"/>
                <a:ea typeface="Arial" pitchFamily="34" charset="-122"/>
                <a:cs typeface="Arial" pitchFamily="34" charset="-120"/>
              </a:rPr>
              <a:t>older adults reported this in 2025 — nearly double the 4,521 who reported it in 2024. It is the fastest-climbing scam aimed at this age group.</a:t>
            </a:r>
            <a:endParaRPr lang="en-US" sz="1500" dirty="0"/>
          </a:p>
        </p:txBody>
      </p:sp>
      <p:sp>
        <p:nvSpPr>
          <p:cNvPr id="12" name="Shape 9"/>
          <p:cNvSpPr/>
          <p:nvPr/>
        </p:nvSpPr>
        <p:spPr>
          <a:xfrm>
            <a:off x="548640" y="4160520"/>
            <a:ext cx="11064240" cy="1783080"/>
          </a:xfrm>
          <a:prstGeom prst="roundRect">
            <a:avLst>
              <a:gd name="adj" fmla="val 5128"/>
            </a:avLst>
          </a:prstGeom>
          <a:solidFill>
            <a:srgbClr val="1F7A4D"/>
          </a:solidFill>
          <a:ln/>
        </p:spPr>
      </p:sp>
      <p:sp>
        <p:nvSpPr>
          <p:cNvPr id="13" name="Shape 10"/>
          <p:cNvSpPr/>
          <p:nvPr/>
        </p:nvSpPr>
        <p:spPr>
          <a:xfrm>
            <a:off x="914400" y="4480560"/>
            <a:ext cx="731520" cy="731520"/>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1111910" y="4678070"/>
            <a:ext cx="336499" cy="336499"/>
          </a:xfrm>
          <a:prstGeom prst="rect">
            <a:avLst/>
          </a:prstGeom>
        </p:spPr>
      </p:pic>
      <p:sp>
        <p:nvSpPr>
          <p:cNvPr id="15" name="Text 11"/>
          <p:cNvSpPr/>
          <p:nvPr/>
        </p:nvSpPr>
        <p:spPr>
          <a:xfrm>
            <a:off x="1920240" y="4434840"/>
            <a:ext cx="93268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Four things the real government never does:</a:t>
            </a:r>
            <a:endParaRPr lang="en-US" sz="2000" dirty="0"/>
          </a:p>
        </p:txBody>
      </p:sp>
      <p:sp>
        <p:nvSpPr>
          <p:cNvPr id="16" name="Text 12"/>
          <p:cNvSpPr/>
          <p:nvPr/>
        </p:nvSpPr>
        <p:spPr>
          <a:xfrm>
            <a:off x="1920240" y="4846320"/>
            <a:ext cx="9326880" cy="1005840"/>
          </a:xfrm>
          <a:prstGeom prst="rect">
            <a:avLst/>
          </a:prstGeom>
          <a:noFill/>
          <a:ln/>
        </p:spPr>
        <p:txBody>
          <a:bodyPr wrap="square" lIns="0" tIns="0" rIns="0" bIns="0" rtlCol="0" anchor="ctr"/>
          <a:lstStyle/>
          <a:p>
            <a:pPr marL="342900" indent="-342900">
              <a:spcAft>
                <a:spcPts val="300"/>
              </a:spcAft>
              <a:buSzPct val="100000"/>
              <a:buChar char="•"/>
            </a:pPr>
            <a:r>
              <a:rPr lang="en-US" sz="1500" dirty="0">
                <a:solidFill>
                  <a:srgbClr val="FFFFFF"/>
                </a:solidFill>
                <a:latin typeface="Arial" pitchFamily="34" charset="0"/>
                <a:ea typeface="Arial" pitchFamily="34" charset="-122"/>
                <a:cs typeface="Arial" pitchFamily="34" charset="-120"/>
              </a:rPr>
              <a:t>Call and threaten you with immediate arrest</a:t>
            </a:r>
            <a:endParaRPr lang="en-US" sz="1500" dirty="0"/>
          </a:p>
          <a:p>
            <a:pPr marL="342900" indent="-342900">
              <a:spcAft>
                <a:spcPts val="300"/>
              </a:spcAft>
              <a:buSzPct val="100000"/>
              <a:buChar char="•"/>
            </a:pPr>
            <a:r>
              <a:rPr lang="en-US" sz="1500" dirty="0">
                <a:solidFill>
                  <a:srgbClr val="FFFFFF"/>
                </a:solidFill>
                <a:latin typeface="Arial" pitchFamily="34" charset="0"/>
                <a:ea typeface="Arial" pitchFamily="34" charset="-122"/>
                <a:cs typeface="Arial" pitchFamily="34" charset="-120"/>
              </a:rPr>
              <a:t>Ask to be paid in gift cards, crypto, wire, or cash in the mail</a:t>
            </a:r>
            <a:endParaRPr lang="en-US" sz="1500" dirty="0"/>
          </a:p>
          <a:p>
            <a:pPr marL="342900" indent="-342900">
              <a:spcAft>
                <a:spcPts val="300"/>
              </a:spcAft>
              <a:buSzPct val="100000"/>
              <a:buChar char="•"/>
            </a:pPr>
            <a:r>
              <a:rPr lang="en-US" sz="1500" dirty="0">
                <a:solidFill>
                  <a:srgbClr val="FFFFFF"/>
                </a:solidFill>
                <a:latin typeface="Arial" pitchFamily="34" charset="0"/>
                <a:ea typeface="Arial" pitchFamily="34" charset="-122"/>
                <a:cs typeface="Arial" pitchFamily="34" charset="-120"/>
              </a:rPr>
              <a:t>Tell you to keep the matter secret from your family</a:t>
            </a:r>
            <a:endParaRPr lang="en-US" sz="1500" dirty="0"/>
          </a:p>
          <a:p>
            <a:pPr marL="342900" indent="-342900">
              <a:spcAft>
                <a:spcPts val="300"/>
              </a:spcAft>
              <a:buSzPct val="100000"/>
              <a:buChar char="•"/>
            </a:pPr>
            <a:r>
              <a:rPr lang="en-US" sz="1500" dirty="0">
                <a:solidFill>
                  <a:srgbClr val="FFFFFF"/>
                </a:solidFill>
                <a:latin typeface="Arial" pitchFamily="34" charset="0"/>
                <a:ea typeface="Arial" pitchFamily="34" charset="-122"/>
                <a:cs typeface="Arial" pitchFamily="34" charset="-120"/>
              </a:rPr>
              <a:t>Demand you stay on the line while you go to the bank</a:t>
            </a:r>
            <a:endParaRPr lang="en-US" sz="1500" dirty="0"/>
          </a:p>
        </p:txBody>
      </p:sp>
      <p:sp>
        <p:nvSpPr>
          <p:cNvPr id="17" name="Text 13"/>
          <p:cNvSpPr/>
          <p:nvPr/>
        </p:nvSpPr>
        <p:spPr>
          <a:xfrm>
            <a:off x="548640" y="6355080"/>
            <a:ext cx="11064240" cy="274320"/>
          </a:xfrm>
          <a:prstGeom prst="rect">
            <a:avLst/>
          </a:prstGeom>
          <a:noFill/>
          <a:ln/>
        </p:spPr>
        <p:txBody>
          <a:bodyPr wrap="square" lIns="0" tIns="0" rIns="0" bIns="0" rtlCol="0" anchor="ctr"/>
          <a:lstStyle/>
          <a:p>
            <a:pPr indent="0" marL="0">
              <a:buNone/>
            </a:pPr>
            <a:r>
              <a:rPr lang="en-US" sz="1000" i="1" dirty="0">
                <a:solidFill>
                  <a:srgbClr val="56607A"/>
                </a:solidFill>
                <a:latin typeface="Arial" pitchFamily="34" charset="0"/>
                <a:ea typeface="Arial" pitchFamily="34" charset="-122"/>
                <a:cs typeface="Arial" pitchFamily="34" charset="-120"/>
              </a:rPr>
              <a:t>Source: FBI IC3 2025 Annual Report — government impersonation complaints from victims 60+.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SCAM 5 OF 8</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Romance and friendship scams: the long con</a:t>
            </a:r>
            <a:endParaRPr lang="en-US" sz="3400" dirty="0"/>
          </a:p>
        </p:txBody>
      </p:sp>
      <p:sp>
        <p:nvSpPr>
          <p:cNvPr id="4" name="Shape 2"/>
          <p:cNvSpPr/>
          <p:nvPr/>
        </p:nvSpPr>
        <p:spPr>
          <a:xfrm>
            <a:off x="548640" y="1600200"/>
            <a:ext cx="6903720" cy="4023360"/>
          </a:xfrm>
          <a:prstGeom prst="roundRect">
            <a:avLst>
              <a:gd name="adj" fmla="val 2273"/>
            </a:avLst>
          </a:prstGeom>
          <a:solidFill>
            <a:srgbClr val="FFFFFF"/>
          </a:solidFill>
          <a:ln w="12700">
            <a:solidFill>
              <a:srgbClr val="D8E0EF"/>
            </a:solidFill>
            <a:prstDash val="solid"/>
          </a:ln>
        </p:spPr>
      </p:sp>
      <p:sp>
        <p:nvSpPr>
          <p:cNvPr id="5" name="Shape 3"/>
          <p:cNvSpPr/>
          <p:nvPr/>
        </p:nvSpPr>
        <p:spPr>
          <a:xfrm>
            <a:off x="868680" y="1874520"/>
            <a:ext cx="731520" cy="731520"/>
          </a:xfrm>
          <a:prstGeom prst="ellipse">
            <a:avLst/>
          </a:prstGeom>
          <a:solidFill>
            <a:srgbClr val="B02A28"/>
          </a:solidFill>
          <a:ln/>
        </p:spPr>
      </p:sp>
      <p:pic>
        <p:nvPicPr>
          <p:cNvPr id="6" name="Image 0" descr="preencoded.png">    </p:cNvPr>
          <p:cNvPicPr>
            <a:picLocks noChangeAspect="1"/>
          </p:cNvPicPr>
          <p:nvPr/>
        </p:nvPicPr>
        <p:blipFill>
          <a:blip r:embed="rId1"/>
          <a:stretch>
            <a:fillRect/>
          </a:stretch>
        </p:blipFill>
        <p:spPr>
          <a:xfrm>
            <a:off x="1066190" y="2072030"/>
            <a:ext cx="336499" cy="336499"/>
          </a:xfrm>
          <a:prstGeom prst="rect">
            <a:avLst/>
          </a:prstGeom>
        </p:spPr>
      </p:pic>
      <p:sp>
        <p:nvSpPr>
          <p:cNvPr id="7" name="Text 4"/>
          <p:cNvSpPr/>
          <p:nvPr/>
        </p:nvSpPr>
        <p:spPr>
          <a:xfrm>
            <a:off x="1783080" y="1965960"/>
            <a:ext cx="5394960" cy="45720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It doesn't start with money. That's the point.</a:t>
            </a:r>
            <a:endParaRPr lang="en-US" sz="2000" dirty="0"/>
          </a:p>
        </p:txBody>
      </p:sp>
      <p:sp>
        <p:nvSpPr>
          <p:cNvPr id="8" name="Text 5"/>
          <p:cNvSpPr/>
          <p:nvPr/>
        </p:nvSpPr>
        <p:spPr>
          <a:xfrm>
            <a:off x="914400" y="2743200"/>
            <a:ext cx="6309360" cy="2743200"/>
          </a:xfrm>
          <a:prstGeom prst="rect">
            <a:avLst/>
          </a:prstGeom>
          <a:noFill/>
          <a:ln/>
        </p:spPr>
        <p:txBody>
          <a:bodyPr wrap="square" lIns="0" tIns="0" rIns="0" bIns="0" rtlCol="0" anchor="ctr"/>
          <a:lstStyle/>
          <a:p>
            <a:pPr marL="342900" indent="-342900">
              <a:spcAft>
                <a:spcPts val="900"/>
              </a:spcAft>
              <a:buSzPct val="100000"/>
              <a:buChar char="•"/>
            </a:pPr>
            <a:r>
              <a:rPr lang="en-US" sz="1450" dirty="0">
                <a:solidFill>
                  <a:srgbClr val="16192B"/>
                </a:solidFill>
                <a:latin typeface="Arial" pitchFamily="34" charset="0"/>
                <a:ea typeface="Arial" pitchFamily="34" charset="-122"/>
                <a:cs typeface="Arial" pitchFamily="34" charset="-120"/>
              </a:rPr>
              <a:t>It may begin as friendship, faith, or a shared hobby — not romance. A wrong-number text that turns into a warm daily conversation is a common opener.</a:t>
            </a:r>
            <a:endParaRPr lang="en-US" sz="1450" dirty="0"/>
          </a:p>
          <a:p>
            <a:pPr marL="342900" indent="-342900">
              <a:spcAft>
                <a:spcPts val="900"/>
              </a:spcAft>
              <a:buSzPct val="100000"/>
              <a:buChar char="•"/>
            </a:pPr>
            <a:r>
              <a:rPr lang="en-US" sz="1450" dirty="0">
                <a:solidFill>
                  <a:srgbClr val="16192B"/>
                </a:solidFill>
                <a:latin typeface="Arial" pitchFamily="34" charset="0"/>
                <a:ea typeface="Arial" pitchFamily="34" charset="-122"/>
                <a:cs typeface="Arial" pitchFamily="34" charset="-120"/>
              </a:rPr>
              <a:t>They call and text every day for weeks or months. That attention is real to you, and it is deliberate on their side.</a:t>
            </a:r>
            <a:endParaRPr lang="en-US" sz="1450" dirty="0"/>
          </a:p>
          <a:p>
            <a:pPr marL="342900" indent="-342900">
              <a:spcAft>
                <a:spcPts val="900"/>
              </a:spcAft>
              <a:buSzPct val="100000"/>
              <a:buChar char="•"/>
            </a:pPr>
            <a:r>
              <a:rPr lang="en-US" sz="1450" dirty="0">
                <a:solidFill>
                  <a:srgbClr val="16192B"/>
                </a:solidFill>
                <a:latin typeface="Arial" pitchFamily="34" charset="0"/>
                <a:ea typeface="Arial" pitchFamily="34" charset="-122"/>
                <a:cs typeface="Arial" pitchFamily="34" charset="-120"/>
              </a:rPr>
              <a:t>There is always a reason they can't meet or video call — deployed overseas, an oil rig, a hospital, a work contract abroad.</a:t>
            </a:r>
            <a:endParaRPr lang="en-US" sz="1450" dirty="0"/>
          </a:p>
          <a:p>
            <a:pPr marL="342900" indent="-342900">
              <a:spcAft>
                <a:spcPts val="900"/>
              </a:spcAft>
              <a:buSzPct val="100000"/>
              <a:buChar char="•"/>
            </a:pPr>
            <a:r>
              <a:rPr lang="en-US" sz="1450" dirty="0">
                <a:solidFill>
                  <a:srgbClr val="16192B"/>
                </a:solidFill>
                <a:latin typeface="Arial" pitchFamily="34" charset="0"/>
                <a:ea typeface="Arial" pitchFamily="34" charset="-122"/>
                <a:cs typeface="Arial" pitchFamily="34" charset="-120"/>
              </a:rPr>
              <a:t>Then: a medical emergency, a customs fee, a stuck inheritance. Or an "investment opportunity" they want to share with you.</a:t>
            </a:r>
            <a:endParaRPr lang="en-US" sz="1450" dirty="0"/>
          </a:p>
          <a:p>
            <a:pPr marL="342900" indent="-342900">
              <a:spcAft>
                <a:spcPts val="900"/>
              </a:spcAft>
              <a:buSzPct val="100000"/>
              <a:buChar char="•"/>
            </a:pPr>
            <a:r>
              <a:rPr lang="en-US" sz="1450" dirty="0">
                <a:solidFill>
                  <a:srgbClr val="16192B"/>
                </a:solidFill>
                <a:latin typeface="Arial" pitchFamily="34" charset="0"/>
                <a:ea typeface="Arial" pitchFamily="34" charset="-122"/>
                <a:cs typeface="Arial" pitchFamily="34" charset="-120"/>
              </a:rPr>
              <a:t>Never send money, gift cards, or crypto to someone you have not met in person. No exceptions, no matter how long you've talked.</a:t>
            </a:r>
            <a:endParaRPr lang="en-US" sz="1450" dirty="0"/>
          </a:p>
        </p:txBody>
      </p:sp>
      <p:sp>
        <p:nvSpPr>
          <p:cNvPr id="9" name="Shape 6"/>
          <p:cNvSpPr/>
          <p:nvPr/>
        </p:nvSpPr>
        <p:spPr>
          <a:xfrm>
            <a:off x="7726680" y="1600200"/>
            <a:ext cx="3886200" cy="4023360"/>
          </a:xfrm>
          <a:prstGeom prst="roundRect">
            <a:avLst>
              <a:gd name="adj" fmla="val 2353"/>
            </a:avLst>
          </a:prstGeom>
          <a:solidFill>
            <a:srgbClr val="1E2761"/>
          </a:solidFill>
          <a:ln w="12700">
            <a:solidFill>
              <a:srgbClr val="D8E0EF"/>
            </a:solidFill>
            <a:prstDash val="solid"/>
          </a:ln>
        </p:spPr>
      </p:sp>
      <p:sp>
        <p:nvSpPr>
          <p:cNvPr id="10" name="Shape 7"/>
          <p:cNvSpPr/>
          <p:nvPr/>
        </p:nvSpPr>
        <p:spPr>
          <a:xfrm>
            <a:off x="8046720" y="1874520"/>
            <a:ext cx="685800" cy="685800"/>
          </a:xfrm>
          <a:prstGeom prst="ellipse">
            <a:avLst/>
          </a:prstGeom>
          <a:solidFill>
            <a:srgbClr val="E39A20"/>
          </a:solidFill>
          <a:ln/>
        </p:spPr>
      </p:sp>
      <p:pic>
        <p:nvPicPr>
          <p:cNvPr id="11" name="Image 1" descr="preencoded.png">    </p:cNvPr>
          <p:cNvPicPr>
            <a:picLocks noChangeAspect="1"/>
          </p:cNvPicPr>
          <p:nvPr/>
        </p:nvPicPr>
        <p:blipFill>
          <a:blip r:embed="rId2"/>
          <a:stretch>
            <a:fillRect/>
          </a:stretch>
        </p:blipFill>
        <p:spPr>
          <a:xfrm>
            <a:off x="8231886" y="2059686"/>
            <a:ext cx="315468" cy="315468"/>
          </a:xfrm>
          <a:prstGeom prst="rect">
            <a:avLst/>
          </a:prstGeom>
        </p:spPr>
      </p:pic>
      <p:sp>
        <p:nvSpPr>
          <p:cNvPr id="12" name="Text 8"/>
          <p:cNvSpPr/>
          <p:nvPr/>
        </p:nvSpPr>
        <p:spPr>
          <a:xfrm>
            <a:off x="8046720" y="2697480"/>
            <a:ext cx="3291840"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it works</a:t>
            </a:r>
            <a:endParaRPr lang="en-US" sz="2100" dirty="0"/>
          </a:p>
        </p:txBody>
      </p:sp>
      <p:sp>
        <p:nvSpPr>
          <p:cNvPr id="13" name="Text 9"/>
          <p:cNvSpPr/>
          <p:nvPr/>
        </p:nvSpPr>
        <p:spPr>
          <a:xfrm>
            <a:off x="8046720" y="3154680"/>
            <a:ext cx="3291840" cy="1417320"/>
          </a:xfrm>
          <a:prstGeom prst="rect">
            <a:avLst/>
          </a:prstGeom>
          <a:noFill/>
          <a:ln/>
        </p:spPr>
        <p:txBody>
          <a:bodyPr wrap="square" lIns="0" tIns="0" rIns="0" bIns="0" rtlCol="0" anchor="ctr"/>
          <a:lstStyle/>
          <a:p>
            <a:pPr indent="0" marL="0">
              <a:buNone/>
            </a:pPr>
            <a:r>
              <a:rPr lang="en-US" sz="1450" dirty="0">
                <a:solidFill>
                  <a:srgbClr val="CADCFC"/>
                </a:solidFill>
                <a:latin typeface="Arial" pitchFamily="34" charset="0"/>
                <a:ea typeface="Arial" pitchFamily="34" charset="-122"/>
                <a:cs typeface="Arial" pitchFamily="34" charset="-120"/>
              </a:rPr>
              <a:t>Loneliness isn't a weakness — it's a normal part of losing a spouse, moving, or outliving your friends. These crews look for exactly that, and they are patient.</a:t>
            </a:r>
            <a:endParaRPr lang="en-US" sz="1450" dirty="0"/>
          </a:p>
        </p:txBody>
      </p:sp>
      <p:sp>
        <p:nvSpPr>
          <p:cNvPr id="14" name="Shape 10"/>
          <p:cNvSpPr/>
          <p:nvPr/>
        </p:nvSpPr>
        <p:spPr>
          <a:xfrm>
            <a:off x="8046720" y="4617720"/>
            <a:ext cx="3291840" cy="18288"/>
          </a:xfrm>
          <a:prstGeom prst="rect">
            <a:avLst/>
          </a:prstGeom>
          <a:solidFill>
            <a:srgbClr val="3F4E8C"/>
          </a:solidFill>
          <a:ln/>
        </p:spPr>
      </p:sp>
      <p:sp>
        <p:nvSpPr>
          <p:cNvPr id="15" name="Text 11"/>
          <p:cNvSpPr/>
          <p:nvPr/>
        </p:nvSpPr>
        <p:spPr>
          <a:xfrm>
            <a:off x="8046720" y="4800600"/>
            <a:ext cx="3291840" cy="777240"/>
          </a:xfrm>
          <a:prstGeom prst="rect">
            <a:avLst/>
          </a:prstGeom>
          <a:noFill/>
          <a:ln/>
        </p:spPr>
        <p:txBody>
          <a:bodyPr wrap="square" lIns="0" tIns="0" rIns="0" bIns="0" rtlCol="0" anchor="ctr"/>
          <a:lstStyle/>
          <a:p>
            <a:pPr indent="0" marL="0">
              <a:buNone/>
            </a:pPr>
            <a:r>
              <a:rPr lang="en-US" sz="1350" i="1" dirty="0">
                <a:solidFill>
                  <a:srgbClr val="E39A20"/>
                </a:solidFill>
                <a:latin typeface="Arial" pitchFamily="34" charset="0"/>
                <a:ea typeface="Arial" pitchFamily="34" charset="-122"/>
                <a:cs typeface="Arial" pitchFamily="34" charset="-120"/>
              </a:rPr>
              <a:t>If a friend here mentions someone new online, be curious and kind — not mocking. Mockery is what keeps people quiet.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SCAM 6 OF 8</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The grandchild in trouble — now in their actual voice</a:t>
            </a:r>
            <a:endParaRPr lang="en-US" sz="3400" dirty="0"/>
          </a:p>
        </p:txBody>
      </p:sp>
      <p:sp>
        <p:nvSpPr>
          <p:cNvPr id="4" name="Shape 2"/>
          <p:cNvSpPr/>
          <p:nvPr/>
        </p:nvSpPr>
        <p:spPr>
          <a:xfrm>
            <a:off x="548640" y="1554480"/>
            <a:ext cx="5532120" cy="2468880"/>
          </a:xfrm>
          <a:prstGeom prst="roundRect">
            <a:avLst>
              <a:gd name="adj" fmla="val 3704"/>
            </a:avLst>
          </a:prstGeom>
          <a:solidFill>
            <a:srgbClr val="FFFFFF"/>
          </a:solidFill>
          <a:ln w="12700">
            <a:solidFill>
              <a:srgbClr val="D8E0EF"/>
            </a:solidFill>
            <a:prstDash val="solid"/>
          </a:ln>
        </p:spPr>
      </p:sp>
      <p:sp>
        <p:nvSpPr>
          <p:cNvPr id="5" name="Shape 3"/>
          <p:cNvSpPr/>
          <p:nvPr/>
        </p:nvSpPr>
        <p:spPr>
          <a:xfrm>
            <a:off x="868680" y="1828800"/>
            <a:ext cx="685800" cy="685800"/>
          </a:xfrm>
          <a:prstGeom prst="ellipse">
            <a:avLst/>
          </a:prstGeom>
          <a:solidFill>
            <a:srgbClr val="E39A20"/>
          </a:solidFill>
          <a:ln/>
        </p:spPr>
      </p:sp>
      <p:pic>
        <p:nvPicPr>
          <p:cNvPr id="6" name="Image 0" descr="preencoded.png">    </p:cNvPr>
          <p:cNvPicPr>
            <a:picLocks noChangeAspect="1"/>
          </p:cNvPicPr>
          <p:nvPr/>
        </p:nvPicPr>
        <p:blipFill>
          <a:blip r:embed="rId1"/>
          <a:stretch>
            <a:fillRect/>
          </a:stretch>
        </p:blipFill>
        <p:spPr>
          <a:xfrm>
            <a:off x="1053846" y="2013966"/>
            <a:ext cx="315468" cy="315468"/>
          </a:xfrm>
          <a:prstGeom prst="rect">
            <a:avLst/>
          </a:prstGeom>
        </p:spPr>
      </p:pic>
      <p:sp>
        <p:nvSpPr>
          <p:cNvPr id="7" name="Text 4"/>
          <p:cNvSpPr/>
          <p:nvPr/>
        </p:nvSpPr>
        <p:spPr>
          <a:xfrm>
            <a:off x="1737360" y="1920240"/>
            <a:ext cx="4023360" cy="36576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The classic version</a:t>
            </a:r>
            <a:endParaRPr lang="en-US" sz="2000" dirty="0"/>
          </a:p>
        </p:txBody>
      </p:sp>
      <p:sp>
        <p:nvSpPr>
          <p:cNvPr id="8" name="Text 5"/>
          <p:cNvSpPr/>
          <p:nvPr/>
        </p:nvSpPr>
        <p:spPr>
          <a:xfrm>
            <a:off x="914400" y="2606040"/>
            <a:ext cx="4937760" cy="1280160"/>
          </a:xfrm>
          <a:prstGeom prst="rect">
            <a:avLst/>
          </a:prstGeom>
          <a:noFill/>
          <a:ln/>
        </p:spPr>
        <p:txBody>
          <a:bodyPr wrap="square" lIns="0" tIns="0" rIns="0" bIns="0" rtlCol="0" anchor="ctr"/>
          <a:lstStyle/>
          <a:p>
            <a:pPr indent="0" marL="0">
              <a:buNone/>
            </a:pPr>
            <a:r>
              <a:rPr lang="en-US" sz="1450" dirty="0">
                <a:solidFill>
                  <a:srgbClr val="16192B"/>
                </a:solidFill>
                <a:latin typeface="Arial" pitchFamily="34" charset="0"/>
                <a:ea typeface="Arial" pitchFamily="34" charset="-122"/>
                <a:cs typeface="Arial" pitchFamily="34" charset="-120"/>
              </a:rPr>
              <a:t>A panicked young voice: "Grandma? I've been in an accident / arrested. Please don't tell Mom and Dad." Then a "lawyer" or "officer" takes the phone and asks for bail money — by wire, gift card, or a courier sent to your door for cash.</a:t>
            </a:r>
            <a:endParaRPr lang="en-US" sz="1450" dirty="0"/>
          </a:p>
        </p:txBody>
      </p:sp>
      <p:sp>
        <p:nvSpPr>
          <p:cNvPr id="9" name="Shape 6"/>
          <p:cNvSpPr/>
          <p:nvPr/>
        </p:nvSpPr>
        <p:spPr>
          <a:xfrm>
            <a:off x="6309360" y="1554480"/>
            <a:ext cx="5303520" cy="2468880"/>
          </a:xfrm>
          <a:prstGeom prst="roundRect">
            <a:avLst>
              <a:gd name="adj" fmla="val 3704"/>
            </a:avLst>
          </a:prstGeom>
          <a:solidFill>
            <a:srgbClr val="1E2761"/>
          </a:solidFill>
          <a:ln w="12700">
            <a:solidFill>
              <a:srgbClr val="D8E0EF"/>
            </a:solidFill>
            <a:prstDash val="solid"/>
          </a:ln>
        </p:spPr>
      </p:sp>
      <p:sp>
        <p:nvSpPr>
          <p:cNvPr id="10" name="Shape 7"/>
          <p:cNvSpPr/>
          <p:nvPr/>
        </p:nvSpPr>
        <p:spPr>
          <a:xfrm>
            <a:off x="6629400" y="1828800"/>
            <a:ext cx="685800" cy="685800"/>
          </a:xfrm>
          <a:prstGeom prst="ellipse">
            <a:avLst/>
          </a:prstGeom>
          <a:solidFill>
            <a:srgbClr val="E39A20"/>
          </a:solidFill>
          <a:ln/>
        </p:spPr>
      </p:sp>
      <p:pic>
        <p:nvPicPr>
          <p:cNvPr id="11" name="Image 1" descr="preencoded.png">    </p:cNvPr>
          <p:cNvPicPr>
            <a:picLocks noChangeAspect="1"/>
          </p:cNvPicPr>
          <p:nvPr/>
        </p:nvPicPr>
        <p:blipFill>
          <a:blip r:embed="rId2"/>
          <a:stretch>
            <a:fillRect/>
          </a:stretch>
        </p:blipFill>
        <p:spPr>
          <a:xfrm>
            <a:off x="6814566" y="2013966"/>
            <a:ext cx="315468" cy="315468"/>
          </a:xfrm>
          <a:prstGeom prst="rect">
            <a:avLst/>
          </a:prstGeom>
        </p:spPr>
      </p:pic>
      <p:sp>
        <p:nvSpPr>
          <p:cNvPr id="12" name="Text 8"/>
          <p:cNvSpPr/>
          <p:nvPr/>
        </p:nvSpPr>
        <p:spPr>
          <a:xfrm>
            <a:off x="7498080" y="1920240"/>
            <a:ext cx="38404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changed in 2025</a:t>
            </a:r>
            <a:endParaRPr lang="en-US" sz="2000" dirty="0"/>
          </a:p>
        </p:txBody>
      </p:sp>
      <p:sp>
        <p:nvSpPr>
          <p:cNvPr id="13" name="Text 9"/>
          <p:cNvSpPr/>
          <p:nvPr/>
        </p:nvSpPr>
        <p:spPr>
          <a:xfrm>
            <a:off x="6629400" y="2606040"/>
            <a:ext cx="4663440" cy="1280160"/>
          </a:xfrm>
          <a:prstGeom prst="rect">
            <a:avLst/>
          </a:prstGeom>
          <a:noFill/>
          <a:ln/>
        </p:spPr>
        <p:txBody>
          <a:bodyPr wrap="square" lIns="0" tIns="0" rIns="0" bIns="0" rtlCol="0" anchor="ctr"/>
          <a:lstStyle/>
          <a:p>
            <a:pPr indent="0" marL="0">
              <a:buNone/>
            </a:pPr>
            <a:r>
              <a:rPr lang="en-US" sz="1450" dirty="0">
                <a:solidFill>
                  <a:srgbClr val="CADCFC"/>
                </a:solidFill>
                <a:latin typeface="Arial" pitchFamily="34" charset="0"/>
                <a:ea typeface="Arial" pitchFamily="34" charset="-122"/>
                <a:cs typeface="Arial" pitchFamily="34" charset="-120"/>
              </a:rPr>
              <a:t>They no longer have to fake the voice. A few seconds of your grandchild speaking — from a Facebook video or a voicemail greeting — is enough to clone it convincingly.</a:t>
            </a:r>
            <a:endParaRPr lang="en-US" sz="1450" dirty="0"/>
          </a:p>
        </p:txBody>
      </p:sp>
      <p:sp>
        <p:nvSpPr>
          <p:cNvPr id="14" name="Shape 10"/>
          <p:cNvSpPr/>
          <p:nvPr/>
        </p:nvSpPr>
        <p:spPr>
          <a:xfrm>
            <a:off x="548640" y="4160520"/>
            <a:ext cx="11064240" cy="2084832"/>
          </a:xfrm>
          <a:prstGeom prst="roundRect">
            <a:avLst>
              <a:gd name="adj" fmla="val 4386"/>
            </a:avLst>
          </a:prstGeom>
          <a:solidFill>
            <a:srgbClr val="1F7A4D"/>
          </a:solidFill>
          <a:ln/>
        </p:spPr>
      </p:sp>
      <p:sp>
        <p:nvSpPr>
          <p:cNvPr id="15" name="Shape 11"/>
          <p:cNvSpPr/>
          <p:nvPr/>
        </p:nvSpPr>
        <p:spPr>
          <a:xfrm>
            <a:off x="914400" y="4434840"/>
            <a:ext cx="731520" cy="73152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1111910" y="4632350"/>
            <a:ext cx="336499" cy="336499"/>
          </a:xfrm>
          <a:prstGeom prst="rect">
            <a:avLst/>
          </a:prstGeom>
        </p:spPr>
      </p:pic>
      <p:sp>
        <p:nvSpPr>
          <p:cNvPr id="17" name="Text 12"/>
          <p:cNvSpPr/>
          <p:nvPr/>
        </p:nvSpPr>
        <p:spPr>
          <a:xfrm>
            <a:off x="1920240" y="4389120"/>
            <a:ext cx="932688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Your defense costs nothing: a family password.</a:t>
            </a:r>
            <a:endParaRPr lang="en-US" sz="2200" dirty="0"/>
          </a:p>
        </p:txBody>
      </p:sp>
      <p:sp>
        <p:nvSpPr>
          <p:cNvPr id="18" name="Text 13"/>
          <p:cNvSpPr/>
          <p:nvPr/>
        </p:nvSpPr>
        <p:spPr>
          <a:xfrm>
            <a:off x="1920240" y="4800600"/>
            <a:ext cx="9326880" cy="137160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Pick a word or phrase your family would know and a stranger never would — an old pet, a street you lived on, a family joke.</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Anyone calling in an emergency has to say it. No password, no money — however much the voice sounds like them.</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Keep it off Facebook — and hang up and call the person back yourself. A cloned voice can't answer your call.</a:t>
            </a:r>
            <a:endParaRPr lang="en-US" sz="1400" dirty="0"/>
          </a:p>
        </p:txBody>
      </p:sp>
      <p:sp>
        <p:nvSpPr>
          <p:cNvPr id="19" name="Text 14"/>
          <p:cNvSpPr/>
          <p:nvPr/>
        </p:nvSpPr>
        <p:spPr>
          <a:xfrm>
            <a:off x="548640" y="6355080"/>
            <a:ext cx="11064240" cy="274320"/>
          </a:xfrm>
          <a:prstGeom prst="rect">
            <a:avLst/>
          </a:prstGeom>
          <a:noFill/>
          <a:ln/>
        </p:spPr>
        <p:txBody>
          <a:bodyPr wrap="square" lIns="0" tIns="0" rIns="0" bIns="0" rtlCol="0" anchor="ctr"/>
          <a:lstStyle/>
          <a:p>
            <a:pPr indent="0" marL="0">
              <a:buNone/>
            </a:pPr>
            <a:r>
              <a:rPr lang="en-US" sz="1000" i="1" dirty="0">
                <a:solidFill>
                  <a:srgbClr val="56607A"/>
                </a:solidFill>
                <a:latin typeface="Arial" pitchFamily="34" charset="0"/>
                <a:ea typeface="Arial" pitchFamily="34" charset="-122"/>
                <a:cs typeface="Arial" pitchFamily="34" charset="-120"/>
              </a:rPr>
              <a:t>Source: FBI IC3 2025 Annual Report — 3,100+ complaints from victims 60+ referencing AI, with losses over $352 million.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SCAM 7 OF 8 — THE MOST FRIGHTENING ONE</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Virtual kidnapping: "We have your grandson."</a:t>
            </a:r>
            <a:endParaRPr lang="en-US" sz="3400" dirty="0"/>
          </a:p>
        </p:txBody>
      </p:sp>
      <p:sp>
        <p:nvSpPr>
          <p:cNvPr id="4" name="Text 2"/>
          <p:cNvSpPr/>
          <p:nvPr/>
        </p:nvSpPr>
        <p:spPr>
          <a:xfrm>
            <a:off x="548640" y="1463040"/>
            <a:ext cx="11064240" cy="457200"/>
          </a:xfrm>
          <a:prstGeom prst="rect">
            <a:avLst/>
          </a:prstGeom>
          <a:noFill/>
          <a:ln/>
        </p:spPr>
        <p:txBody>
          <a:bodyPr wrap="square" lIns="0" tIns="0" rIns="0" bIns="0" rtlCol="0" anchor="ctr"/>
          <a:lstStyle/>
          <a:p>
            <a:pPr indent="0" marL="0">
              <a:buNone/>
            </a:pPr>
            <a:r>
              <a:rPr lang="en-US" sz="1700" b="1" dirty="0">
                <a:solidFill>
                  <a:srgbClr val="B02A28"/>
                </a:solidFill>
                <a:latin typeface="Arial" pitchFamily="34" charset="0"/>
                <a:ea typeface="Arial" pitchFamily="34" charset="-122"/>
                <a:cs typeface="Arial" pitchFamily="34" charset="-120"/>
              </a:rPr>
              <a:t>Nobody has been kidnapped. The entire crime is the phone call — and it depends on you being too terrified to check.</a:t>
            </a:r>
            <a:endParaRPr lang="en-US" sz="1700" dirty="0"/>
          </a:p>
        </p:txBody>
      </p:sp>
      <p:sp>
        <p:nvSpPr>
          <p:cNvPr id="5" name="Shape 3"/>
          <p:cNvSpPr/>
          <p:nvPr/>
        </p:nvSpPr>
        <p:spPr>
          <a:xfrm>
            <a:off x="548640" y="2057400"/>
            <a:ext cx="5394960" cy="2788920"/>
          </a:xfrm>
          <a:prstGeom prst="roundRect">
            <a:avLst>
              <a:gd name="adj" fmla="val 3279"/>
            </a:avLst>
          </a:prstGeom>
          <a:solidFill>
            <a:srgbClr val="FFFFFF"/>
          </a:solidFill>
          <a:ln w="12700">
            <a:solidFill>
              <a:srgbClr val="D8E0EF"/>
            </a:solidFill>
            <a:prstDash val="solid"/>
          </a:ln>
        </p:spPr>
      </p:sp>
      <p:sp>
        <p:nvSpPr>
          <p:cNvPr id="6" name="Shape 4"/>
          <p:cNvSpPr/>
          <p:nvPr/>
        </p:nvSpPr>
        <p:spPr>
          <a:xfrm>
            <a:off x="868680" y="2331720"/>
            <a:ext cx="658368" cy="658368"/>
          </a:xfrm>
          <a:prstGeom prst="ellipse">
            <a:avLst/>
          </a:prstGeom>
          <a:solidFill>
            <a:srgbClr val="B02A28"/>
          </a:solidFill>
          <a:ln/>
        </p:spPr>
      </p:sp>
      <p:pic>
        <p:nvPicPr>
          <p:cNvPr id="7" name="Image 0" descr="preencoded.png">    </p:cNvPr>
          <p:cNvPicPr>
            <a:picLocks noChangeAspect="1"/>
          </p:cNvPicPr>
          <p:nvPr/>
        </p:nvPicPr>
        <p:blipFill>
          <a:blip r:embed="rId1"/>
          <a:stretch>
            <a:fillRect/>
          </a:stretch>
        </p:blipFill>
        <p:spPr>
          <a:xfrm>
            <a:off x="1046439" y="2509479"/>
            <a:ext cx="302849" cy="302849"/>
          </a:xfrm>
          <a:prstGeom prst="rect">
            <a:avLst/>
          </a:prstGeom>
        </p:spPr>
      </p:pic>
      <p:sp>
        <p:nvSpPr>
          <p:cNvPr id="8" name="Text 5"/>
          <p:cNvSpPr/>
          <p:nvPr/>
        </p:nvSpPr>
        <p:spPr>
          <a:xfrm>
            <a:off x="1737360" y="2395728"/>
            <a:ext cx="393192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How it runs</a:t>
            </a:r>
            <a:endParaRPr lang="en-US" sz="1900" dirty="0"/>
          </a:p>
        </p:txBody>
      </p:sp>
      <p:sp>
        <p:nvSpPr>
          <p:cNvPr id="9" name="Text 6"/>
          <p:cNvSpPr/>
          <p:nvPr/>
        </p:nvSpPr>
        <p:spPr>
          <a:xfrm>
            <a:off x="914400" y="2926080"/>
            <a:ext cx="4846320" cy="1828800"/>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16192B"/>
                </a:solidFill>
                <a:latin typeface="Arial" pitchFamily="34" charset="0"/>
                <a:ea typeface="Arial" pitchFamily="34" charset="-122"/>
                <a:cs typeface="Arial" pitchFamily="34" charset="-120"/>
              </a:rPr>
              <a:t>Screaming in the background. Threats of violence. A demand for money right now.</a:t>
            </a:r>
            <a:endParaRPr lang="en-US" sz="1400" dirty="0"/>
          </a:p>
          <a:p>
            <a:pPr marL="342900" indent="-342900">
              <a:spcAft>
                <a:spcPts val="700"/>
              </a:spcAft>
              <a:buSzPct val="100000"/>
              <a:buChar char="•"/>
            </a:pPr>
            <a:r>
              <a:rPr lang="en-US" sz="1400" dirty="0">
                <a:solidFill>
                  <a:srgbClr val="16192B"/>
                </a:solidFill>
                <a:latin typeface="Arial" pitchFamily="34" charset="0"/>
                <a:ea typeface="Arial" pitchFamily="34" charset="-122"/>
                <a:cs typeface="Arial" pitchFamily="34" charset="-120"/>
              </a:rPr>
              <a:t>They keep you on the line so you can't call anyone — that's the whole trick.</a:t>
            </a:r>
            <a:endParaRPr lang="en-US" sz="1400" dirty="0"/>
          </a:p>
          <a:p>
            <a:pPr marL="342900" indent="-342900">
              <a:spcAft>
                <a:spcPts val="700"/>
              </a:spcAft>
              <a:buSzPct val="100000"/>
              <a:buChar char="•"/>
            </a:pPr>
            <a:r>
              <a:rPr lang="en-US" sz="1400" dirty="0">
                <a:solidFill>
                  <a:srgbClr val="16192B"/>
                </a:solidFill>
                <a:latin typeface="Arial" pitchFamily="34" charset="0"/>
                <a:ea typeface="Arial" pitchFamily="34" charset="-122"/>
                <a:cs typeface="Arial" pitchFamily="34" charset="-120"/>
              </a:rPr>
              <a:t>"Proof" may be an altered photo or AI video pulled from social media, sometimes set to disappear so you can't study it.</a:t>
            </a:r>
            <a:endParaRPr lang="en-US" sz="1400" dirty="0"/>
          </a:p>
          <a:p>
            <a:pPr marL="342900" indent="-342900">
              <a:spcAft>
                <a:spcPts val="700"/>
              </a:spcAft>
              <a:buSzPct val="100000"/>
              <a:buChar char="•"/>
            </a:pPr>
            <a:r>
              <a:rPr lang="en-US" sz="1400" dirty="0">
                <a:solidFill>
                  <a:srgbClr val="16192B"/>
                </a:solidFill>
                <a:latin typeface="Arial" pitchFamily="34" charset="0"/>
                <a:ea typeface="Arial" pitchFamily="34" charset="-122"/>
                <a:cs typeface="Arial" pitchFamily="34" charset="-120"/>
              </a:rPr>
              <a:t>Payment: wire, crypto, or a courier. The demand often drops fast if you hesitate.</a:t>
            </a:r>
            <a:endParaRPr lang="en-US" sz="1400" dirty="0"/>
          </a:p>
        </p:txBody>
      </p:sp>
      <p:sp>
        <p:nvSpPr>
          <p:cNvPr id="10" name="Shape 7"/>
          <p:cNvSpPr/>
          <p:nvPr/>
        </p:nvSpPr>
        <p:spPr>
          <a:xfrm>
            <a:off x="6217920" y="2057400"/>
            <a:ext cx="5394960" cy="2788920"/>
          </a:xfrm>
          <a:prstGeom prst="roundRect">
            <a:avLst>
              <a:gd name="adj" fmla="val 3279"/>
            </a:avLst>
          </a:prstGeom>
          <a:solidFill>
            <a:srgbClr val="1E2761"/>
          </a:solidFill>
          <a:ln w="12700">
            <a:solidFill>
              <a:srgbClr val="D8E0EF"/>
            </a:solidFill>
            <a:prstDash val="solid"/>
          </a:ln>
        </p:spPr>
      </p:sp>
      <p:sp>
        <p:nvSpPr>
          <p:cNvPr id="11" name="Shape 8"/>
          <p:cNvSpPr/>
          <p:nvPr/>
        </p:nvSpPr>
        <p:spPr>
          <a:xfrm>
            <a:off x="6537960" y="2331720"/>
            <a:ext cx="658368" cy="658368"/>
          </a:xfrm>
          <a:prstGeom prst="ellipse">
            <a:avLst/>
          </a:prstGeom>
          <a:solidFill>
            <a:srgbClr val="1F7A4D"/>
          </a:solidFill>
          <a:ln/>
        </p:spPr>
      </p:sp>
      <p:pic>
        <p:nvPicPr>
          <p:cNvPr id="12" name="Image 1" descr="preencoded.png">    </p:cNvPr>
          <p:cNvPicPr>
            <a:picLocks noChangeAspect="1"/>
          </p:cNvPicPr>
          <p:nvPr/>
        </p:nvPicPr>
        <p:blipFill>
          <a:blip r:embed="rId2"/>
          <a:stretch>
            <a:fillRect/>
          </a:stretch>
        </p:blipFill>
        <p:spPr>
          <a:xfrm>
            <a:off x="6715719" y="2509479"/>
            <a:ext cx="302849" cy="302849"/>
          </a:xfrm>
          <a:prstGeom prst="rect">
            <a:avLst/>
          </a:prstGeom>
        </p:spPr>
      </p:pic>
      <p:sp>
        <p:nvSpPr>
          <p:cNvPr id="13" name="Text 9"/>
          <p:cNvSpPr/>
          <p:nvPr/>
        </p:nvSpPr>
        <p:spPr>
          <a:xfrm>
            <a:off x="7406640" y="2395728"/>
            <a:ext cx="393192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What the FBI says to do</a:t>
            </a:r>
            <a:endParaRPr lang="en-US" sz="1900" dirty="0"/>
          </a:p>
        </p:txBody>
      </p:sp>
      <p:sp>
        <p:nvSpPr>
          <p:cNvPr id="14" name="Text 10"/>
          <p:cNvSpPr/>
          <p:nvPr/>
        </p:nvSpPr>
        <p:spPr>
          <a:xfrm>
            <a:off x="6583680" y="2926080"/>
            <a:ext cx="4846320" cy="1828800"/>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CADCFC"/>
                </a:solidFill>
                <a:latin typeface="Arial" pitchFamily="34" charset="0"/>
                <a:ea typeface="Arial" pitchFamily="34" charset="-122"/>
                <a:cs typeface="Arial" pitchFamily="34" charset="-120"/>
              </a:rPr>
              <a:t>Slow it down. Say you're writing the demand down. Their whole plan depends on speed.</a:t>
            </a:r>
            <a:endParaRPr lang="en-US" sz="1400" dirty="0"/>
          </a:p>
          <a:p>
            <a:pPr marL="342900" indent="-342900">
              <a:spcAft>
                <a:spcPts val="700"/>
              </a:spcAft>
              <a:buSzPct val="100000"/>
              <a:buChar char="•"/>
            </a:pPr>
            <a:r>
              <a:rPr lang="en-US" sz="1400" dirty="0">
                <a:solidFill>
                  <a:srgbClr val="CADCFC"/>
                </a:solidFill>
                <a:latin typeface="Arial" pitchFamily="34" charset="0"/>
                <a:ea typeface="Arial" pitchFamily="34" charset="-122"/>
                <a:cs typeface="Arial" pitchFamily="34" charset="-120"/>
              </a:rPr>
              <a:t>Ask to speak to them. Ask something only they'd know — the name of a pet.</a:t>
            </a:r>
            <a:endParaRPr lang="en-US" sz="1400" dirty="0"/>
          </a:p>
          <a:p>
            <a:pPr marL="342900" indent="-342900">
              <a:spcAft>
                <a:spcPts val="700"/>
              </a:spcAft>
              <a:buSzPct val="100000"/>
              <a:buChar char="•"/>
            </a:pPr>
            <a:r>
              <a:rPr lang="en-US" sz="1400" dirty="0">
                <a:solidFill>
                  <a:srgbClr val="CADCFC"/>
                </a:solidFill>
                <a:latin typeface="Arial" pitchFamily="34" charset="0"/>
                <a:ea typeface="Arial" pitchFamily="34" charset="-122"/>
                <a:cs typeface="Arial" pitchFamily="34" charset="-120"/>
              </a:rPr>
              <a:t>Use another phone — or the person next to you — to call or text your family right now.</a:t>
            </a:r>
            <a:endParaRPr lang="en-US" sz="1400" dirty="0"/>
          </a:p>
          <a:p>
            <a:pPr marL="342900" indent="-342900">
              <a:spcAft>
                <a:spcPts val="700"/>
              </a:spcAft>
              <a:buSzPct val="100000"/>
              <a:buChar char="•"/>
            </a:pPr>
            <a:r>
              <a:rPr lang="en-US" sz="1400" dirty="0">
                <a:solidFill>
                  <a:srgbClr val="CADCFC"/>
                </a:solidFill>
                <a:latin typeface="Arial" pitchFamily="34" charset="0"/>
                <a:ea typeface="Arial" pitchFamily="34" charset="-122"/>
                <a:cs typeface="Arial" pitchFamily="34" charset="-120"/>
              </a:rPr>
              <a:t>Don't give out names or details. Don't pay. Then call 911 and report to ic3.gov.</a:t>
            </a:r>
            <a:endParaRPr lang="en-US" sz="1400" dirty="0"/>
          </a:p>
        </p:txBody>
      </p:sp>
      <p:sp>
        <p:nvSpPr>
          <p:cNvPr id="15" name="Shape 11"/>
          <p:cNvSpPr/>
          <p:nvPr/>
        </p:nvSpPr>
        <p:spPr>
          <a:xfrm>
            <a:off x="548640" y="5074920"/>
            <a:ext cx="11064240" cy="777240"/>
          </a:xfrm>
          <a:prstGeom prst="roundRect">
            <a:avLst>
              <a:gd name="adj" fmla="val 9412"/>
            </a:avLst>
          </a:prstGeom>
          <a:solidFill>
            <a:srgbClr val="FDF0D9"/>
          </a:solidFill>
          <a:ln/>
        </p:spPr>
      </p:sp>
      <p:sp>
        <p:nvSpPr>
          <p:cNvPr id="16" name="Text 12"/>
          <p:cNvSpPr/>
          <p:nvPr/>
        </p:nvSpPr>
        <p:spPr>
          <a:xfrm>
            <a:off x="777240" y="5120640"/>
            <a:ext cx="10607040" cy="713232"/>
          </a:xfrm>
          <a:prstGeom prst="rect">
            <a:avLst/>
          </a:prstGeom>
          <a:noFill/>
          <a:ln/>
        </p:spPr>
        <p:txBody>
          <a:bodyPr wrap="square" lIns="0" tIns="0" rIns="0" bIns="0" rtlCol="0" anchor="ctr"/>
          <a:lstStyle/>
          <a:p>
            <a:pPr indent="0" marL="0">
              <a:buNone/>
            </a:pPr>
            <a:r>
              <a:rPr lang="en-US" sz="1700" b="1" dirty="0">
                <a:solidFill>
                  <a:srgbClr val="16192B"/>
                </a:solidFill>
                <a:latin typeface="Cambria" pitchFamily="34" charset="0"/>
                <a:ea typeface="Cambria" pitchFamily="34" charset="-122"/>
                <a:cs typeface="Cambria" pitchFamily="34" charset="-120"/>
              </a:rPr>
              <a:t>Real kidnappings for ransom are extraordinarily rare. Calls claiming one are not. Your family password works here too.</a:t>
            </a:r>
            <a:endParaRPr lang="en-US" sz="1700" dirty="0"/>
          </a:p>
        </p:txBody>
      </p:sp>
      <p:sp>
        <p:nvSpPr>
          <p:cNvPr id="17" name="Text 13"/>
          <p:cNvSpPr/>
          <p:nvPr/>
        </p:nvSpPr>
        <p:spPr>
          <a:xfrm>
            <a:off x="548640" y="6355080"/>
            <a:ext cx="11064240" cy="274320"/>
          </a:xfrm>
          <a:prstGeom prst="rect">
            <a:avLst/>
          </a:prstGeom>
          <a:noFill/>
          <a:ln/>
        </p:spPr>
        <p:txBody>
          <a:bodyPr wrap="square" lIns="0" tIns="0" rIns="0" bIns="0" rtlCol="0" anchor="ctr"/>
          <a:lstStyle/>
          <a:p>
            <a:pPr indent="0" marL="0">
              <a:buNone/>
            </a:pPr>
            <a:r>
              <a:rPr lang="en-US" sz="1000" i="1" dirty="0">
                <a:solidFill>
                  <a:srgbClr val="56607A"/>
                </a:solidFill>
                <a:latin typeface="Arial" pitchFamily="34" charset="0"/>
                <a:ea typeface="Arial" pitchFamily="34" charset="-122"/>
                <a:cs typeface="Arial" pitchFamily="34" charset="-120"/>
              </a:rPr>
              <a:t>Source: FBI virtual kidnapping alerts and IC3 PSA (Dec 2025) on altered proof-of-life media.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SCAM 8 OF 8</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Investment scams: where the real money goes</a:t>
            </a:r>
            <a:endParaRPr lang="en-US" sz="3400" dirty="0"/>
          </a:p>
        </p:txBody>
      </p:sp>
      <p:sp>
        <p:nvSpPr>
          <p:cNvPr id="4" name="Shape 2"/>
          <p:cNvSpPr/>
          <p:nvPr/>
        </p:nvSpPr>
        <p:spPr>
          <a:xfrm>
            <a:off x="548640" y="1554480"/>
            <a:ext cx="3520440" cy="1554480"/>
          </a:xfrm>
          <a:prstGeom prst="roundRect">
            <a:avLst>
              <a:gd name="adj" fmla="val 5882"/>
            </a:avLst>
          </a:prstGeom>
          <a:solidFill>
            <a:srgbClr val="FFFFFF"/>
          </a:solidFill>
          <a:ln w="12700">
            <a:solidFill>
              <a:srgbClr val="D8E0EF"/>
            </a:solidFill>
            <a:prstDash val="solid"/>
          </a:ln>
        </p:spPr>
      </p:sp>
      <p:sp>
        <p:nvSpPr>
          <p:cNvPr id="5" name="Text 3"/>
          <p:cNvSpPr/>
          <p:nvPr/>
        </p:nvSpPr>
        <p:spPr>
          <a:xfrm>
            <a:off x="822960" y="1691640"/>
            <a:ext cx="3017520" cy="548640"/>
          </a:xfrm>
          <a:prstGeom prst="rect">
            <a:avLst/>
          </a:prstGeom>
          <a:noFill/>
          <a:ln/>
        </p:spPr>
        <p:txBody>
          <a:bodyPr wrap="square" lIns="0" tIns="0" rIns="0" bIns="0" rtlCol="0" anchor="ctr"/>
          <a:lstStyle/>
          <a:p>
            <a:pPr indent="0" marL="0">
              <a:buNone/>
            </a:pPr>
            <a:r>
              <a:rPr lang="en-US" sz="3400" b="1" dirty="0">
                <a:solidFill>
                  <a:srgbClr val="B02A28"/>
                </a:solidFill>
                <a:latin typeface="Cambria" pitchFamily="34" charset="0"/>
                <a:ea typeface="Cambria" pitchFamily="34" charset="-122"/>
                <a:cs typeface="Cambria" pitchFamily="34" charset="-120"/>
              </a:rPr>
              <a:t>$3.52B</a:t>
            </a:r>
            <a:endParaRPr lang="en-US" sz="3400" dirty="0"/>
          </a:p>
        </p:txBody>
      </p:sp>
      <p:sp>
        <p:nvSpPr>
          <p:cNvPr id="6" name="Text 4"/>
          <p:cNvSpPr/>
          <p:nvPr/>
        </p:nvSpPr>
        <p:spPr>
          <a:xfrm>
            <a:off x="822960" y="2240280"/>
            <a:ext cx="3017520" cy="777240"/>
          </a:xfrm>
          <a:prstGeom prst="rect">
            <a:avLst/>
          </a:prstGeom>
          <a:noFill/>
          <a:ln/>
        </p:spPr>
        <p:txBody>
          <a:bodyPr wrap="square" lIns="0" tIns="0" rIns="0" bIns="0" rtlCol="0" anchor="ctr"/>
          <a:lstStyle/>
          <a:p>
            <a:pPr indent="0" marL="0">
              <a:buNone/>
            </a:pPr>
            <a:r>
              <a:rPr lang="en-US" sz="1300" dirty="0">
                <a:solidFill>
                  <a:srgbClr val="56607A"/>
                </a:solidFill>
                <a:latin typeface="Arial" pitchFamily="34" charset="0"/>
                <a:ea typeface="Arial" pitchFamily="34" charset="-122"/>
                <a:cs typeface="Arial" pitchFamily="34" charset="-120"/>
              </a:rPr>
              <a:t>lost by older adults to investment scams in 2025 — nearly half of all elder fraud losses</a:t>
            </a:r>
            <a:endParaRPr lang="en-US" sz="1300" dirty="0"/>
          </a:p>
        </p:txBody>
      </p:sp>
      <p:sp>
        <p:nvSpPr>
          <p:cNvPr id="7" name="Shape 5"/>
          <p:cNvSpPr/>
          <p:nvPr/>
        </p:nvSpPr>
        <p:spPr>
          <a:xfrm>
            <a:off x="4343400" y="1554480"/>
            <a:ext cx="3520440" cy="1554480"/>
          </a:xfrm>
          <a:prstGeom prst="roundRect">
            <a:avLst>
              <a:gd name="adj" fmla="val 5882"/>
            </a:avLst>
          </a:prstGeom>
          <a:solidFill>
            <a:srgbClr val="FFFFFF"/>
          </a:solidFill>
          <a:ln w="12700">
            <a:solidFill>
              <a:srgbClr val="D8E0EF"/>
            </a:solidFill>
            <a:prstDash val="solid"/>
          </a:ln>
        </p:spPr>
      </p:sp>
      <p:sp>
        <p:nvSpPr>
          <p:cNvPr id="8" name="Text 6"/>
          <p:cNvSpPr/>
          <p:nvPr/>
        </p:nvSpPr>
        <p:spPr>
          <a:xfrm>
            <a:off x="4617720" y="1691640"/>
            <a:ext cx="3017520" cy="54864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$4.35B</a:t>
            </a:r>
            <a:endParaRPr lang="en-US" sz="3400" dirty="0"/>
          </a:p>
        </p:txBody>
      </p:sp>
      <p:sp>
        <p:nvSpPr>
          <p:cNvPr id="9" name="Text 7"/>
          <p:cNvSpPr/>
          <p:nvPr/>
        </p:nvSpPr>
        <p:spPr>
          <a:xfrm>
            <a:off x="4617720" y="2240280"/>
            <a:ext cx="3017520" cy="777240"/>
          </a:xfrm>
          <a:prstGeom prst="rect">
            <a:avLst/>
          </a:prstGeom>
          <a:noFill/>
          <a:ln/>
        </p:spPr>
        <p:txBody>
          <a:bodyPr wrap="square" lIns="0" tIns="0" rIns="0" bIns="0" rtlCol="0" anchor="ctr"/>
          <a:lstStyle/>
          <a:p>
            <a:pPr indent="0" marL="0">
              <a:buNone/>
            </a:pPr>
            <a:r>
              <a:rPr lang="en-US" sz="1300" dirty="0">
                <a:solidFill>
                  <a:srgbClr val="56607A"/>
                </a:solidFill>
                <a:latin typeface="Arial" pitchFamily="34" charset="0"/>
                <a:ea typeface="Arial" pitchFamily="34" charset="-122"/>
                <a:cs typeface="Arial" pitchFamily="34" charset="-120"/>
              </a:rPr>
              <a:t>of elder losses involved cryptocurrency across 42,271 complaints</a:t>
            </a:r>
            <a:endParaRPr lang="en-US" sz="1300" dirty="0"/>
          </a:p>
        </p:txBody>
      </p:sp>
      <p:sp>
        <p:nvSpPr>
          <p:cNvPr id="10" name="Shape 8"/>
          <p:cNvSpPr/>
          <p:nvPr/>
        </p:nvSpPr>
        <p:spPr>
          <a:xfrm>
            <a:off x="8138160" y="1554480"/>
            <a:ext cx="3520440" cy="1554480"/>
          </a:xfrm>
          <a:prstGeom prst="roundRect">
            <a:avLst>
              <a:gd name="adj" fmla="val 5882"/>
            </a:avLst>
          </a:prstGeom>
          <a:solidFill>
            <a:srgbClr val="FFFFFF"/>
          </a:solidFill>
          <a:ln w="12700">
            <a:solidFill>
              <a:srgbClr val="D8E0EF"/>
            </a:solidFill>
            <a:prstDash val="solid"/>
          </a:ln>
        </p:spPr>
      </p:sp>
      <p:sp>
        <p:nvSpPr>
          <p:cNvPr id="11" name="Text 9"/>
          <p:cNvSpPr/>
          <p:nvPr/>
        </p:nvSpPr>
        <p:spPr>
          <a:xfrm>
            <a:off x="8412480" y="1691640"/>
            <a:ext cx="3017520" cy="548640"/>
          </a:xfrm>
          <a:prstGeom prst="rect">
            <a:avLst/>
          </a:prstGeom>
          <a:noFill/>
          <a:ln/>
        </p:spPr>
        <p:txBody>
          <a:bodyPr wrap="square" lIns="0" tIns="0" rIns="0" bIns="0" rtlCol="0" anchor="ctr"/>
          <a:lstStyle/>
          <a:p>
            <a:pPr indent="0" marL="0">
              <a:buNone/>
            </a:pPr>
            <a:r>
              <a:rPr lang="en-US" sz="3400" b="1" dirty="0">
                <a:solidFill>
                  <a:srgbClr val="E39A20"/>
                </a:solidFill>
                <a:latin typeface="Cambria" pitchFamily="34" charset="0"/>
                <a:ea typeface="Cambria" pitchFamily="34" charset="-122"/>
                <a:cs typeface="Cambria" pitchFamily="34" charset="-120"/>
              </a:rPr>
              <a:t>$257M</a:t>
            </a:r>
            <a:endParaRPr lang="en-US" sz="3400" dirty="0"/>
          </a:p>
        </p:txBody>
      </p:sp>
      <p:sp>
        <p:nvSpPr>
          <p:cNvPr id="12" name="Text 10"/>
          <p:cNvSpPr/>
          <p:nvPr/>
        </p:nvSpPr>
        <p:spPr>
          <a:xfrm>
            <a:off x="8412480" y="2240280"/>
            <a:ext cx="3017520" cy="777240"/>
          </a:xfrm>
          <a:prstGeom prst="rect">
            <a:avLst/>
          </a:prstGeom>
          <a:noFill/>
          <a:ln/>
        </p:spPr>
        <p:txBody>
          <a:bodyPr wrap="square" lIns="0" tIns="0" rIns="0" bIns="0" rtlCol="0" anchor="ctr"/>
          <a:lstStyle/>
          <a:p>
            <a:pPr indent="0" marL="0">
              <a:buNone/>
            </a:pPr>
            <a:r>
              <a:rPr lang="en-US" sz="1300" dirty="0">
                <a:solidFill>
                  <a:srgbClr val="56607A"/>
                </a:solidFill>
                <a:latin typeface="Arial" pitchFamily="34" charset="0"/>
                <a:ea typeface="Arial" pitchFamily="34" charset="-122"/>
                <a:cs typeface="Arial" pitchFamily="34" charset="-120"/>
              </a:rPr>
              <a:t>lost at crypto ATMs and kiosks by people 60+ — up 58% in one year</a:t>
            </a:r>
            <a:endParaRPr lang="en-US" sz="1300" dirty="0"/>
          </a:p>
        </p:txBody>
      </p:sp>
      <p:sp>
        <p:nvSpPr>
          <p:cNvPr id="13" name="Shape 11"/>
          <p:cNvSpPr/>
          <p:nvPr/>
        </p:nvSpPr>
        <p:spPr>
          <a:xfrm>
            <a:off x="548640" y="3310128"/>
            <a:ext cx="5532120" cy="2468880"/>
          </a:xfrm>
          <a:prstGeom prst="roundRect">
            <a:avLst>
              <a:gd name="adj" fmla="val 3704"/>
            </a:avLst>
          </a:prstGeom>
          <a:solidFill>
            <a:srgbClr val="FFFFFF"/>
          </a:solidFill>
          <a:ln w="12700">
            <a:solidFill>
              <a:srgbClr val="D8E0EF"/>
            </a:solidFill>
            <a:prstDash val="solid"/>
          </a:ln>
        </p:spPr>
      </p:sp>
      <p:sp>
        <p:nvSpPr>
          <p:cNvPr id="14" name="Shape 12"/>
          <p:cNvSpPr/>
          <p:nvPr/>
        </p:nvSpPr>
        <p:spPr>
          <a:xfrm>
            <a:off x="868680" y="3566160"/>
            <a:ext cx="640080" cy="640080"/>
          </a:xfrm>
          <a:prstGeom prst="ellipse">
            <a:avLst/>
          </a:prstGeom>
          <a:solidFill>
            <a:srgbClr val="1E2761"/>
          </a:solidFill>
          <a:ln/>
        </p:spPr>
      </p:sp>
      <p:pic>
        <p:nvPicPr>
          <p:cNvPr id="15" name="Image 0" descr="preencoded.png">    </p:cNvPr>
          <p:cNvPicPr>
            <a:picLocks noChangeAspect="1"/>
          </p:cNvPicPr>
          <p:nvPr/>
        </p:nvPicPr>
        <p:blipFill>
          <a:blip r:embed="rId1"/>
          <a:stretch>
            <a:fillRect/>
          </a:stretch>
        </p:blipFill>
        <p:spPr>
          <a:xfrm>
            <a:off x="1041502" y="3738982"/>
            <a:ext cx="294437" cy="294437"/>
          </a:xfrm>
          <a:prstGeom prst="rect">
            <a:avLst/>
          </a:prstGeom>
        </p:spPr>
      </p:pic>
      <p:sp>
        <p:nvSpPr>
          <p:cNvPr id="16" name="Text 13"/>
          <p:cNvSpPr/>
          <p:nvPr/>
        </p:nvSpPr>
        <p:spPr>
          <a:xfrm>
            <a:off x="1737360" y="3639312"/>
            <a:ext cx="3931920" cy="3657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What it looks like</a:t>
            </a:r>
            <a:endParaRPr lang="en-US" sz="1900" dirty="0"/>
          </a:p>
        </p:txBody>
      </p:sp>
      <p:sp>
        <p:nvSpPr>
          <p:cNvPr id="17" name="Text 14"/>
          <p:cNvSpPr/>
          <p:nvPr/>
        </p:nvSpPr>
        <p:spPr>
          <a:xfrm>
            <a:off x="914400" y="4224528"/>
            <a:ext cx="4846320" cy="1463040"/>
          </a:xfrm>
          <a:prstGeom prst="rect">
            <a:avLst/>
          </a:prstGeom>
          <a:noFill/>
          <a:ln/>
        </p:spPr>
        <p:txBody>
          <a:bodyPr wrap="square" lIns="0" tIns="0" rIns="0" bIns="0" rtlCol="0" anchor="ctr"/>
          <a:lstStyle/>
          <a:p>
            <a:pPr marL="342900" indent="-342900">
              <a:spcAft>
                <a:spcPts val="500"/>
              </a:spcAft>
              <a:buSzPct val="100000"/>
              <a:buChar char="•"/>
            </a:pPr>
            <a:r>
              <a:rPr lang="en-US" sz="1300" dirty="0">
                <a:solidFill>
                  <a:srgbClr val="16192B"/>
                </a:solidFill>
                <a:latin typeface="Arial" pitchFamily="34" charset="0"/>
                <a:ea typeface="Arial" pitchFamily="34" charset="-122"/>
                <a:cs typeface="Arial" pitchFamily="34" charset="-120"/>
              </a:rPr>
              <a:t>A friendly stranger, often met through a text, a dating app, or a Facebook group</a:t>
            </a:r>
            <a:endParaRPr lang="en-US" sz="1300" dirty="0"/>
          </a:p>
          <a:p>
            <a:pPr marL="342900" indent="-342900">
              <a:spcAft>
                <a:spcPts val="500"/>
              </a:spcAft>
              <a:buSzPct val="100000"/>
              <a:buChar char="•"/>
            </a:pPr>
            <a:r>
              <a:rPr lang="en-US" sz="1300" dirty="0">
                <a:solidFill>
                  <a:srgbClr val="16192B"/>
                </a:solidFill>
                <a:latin typeface="Arial" pitchFamily="34" charset="0"/>
                <a:ea typeface="Arial" pitchFamily="34" charset="-122"/>
                <a:cs typeface="Arial" pitchFamily="34" charset="-120"/>
              </a:rPr>
              <a:t>A slick app or website showing your balance climbing steadily</a:t>
            </a:r>
            <a:endParaRPr lang="en-US" sz="1300" dirty="0"/>
          </a:p>
          <a:p>
            <a:pPr marL="342900" indent="-342900">
              <a:spcAft>
                <a:spcPts val="500"/>
              </a:spcAft>
              <a:buSzPct val="100000"/>
              <a:buChar char="•"/>
            </a:pPr>
            <a:r>
              <a:rPr lang="en-US" sz="1300" dirty="0">
                <a:solidFill>
                  <a:srgbClr val="16192B"/>
                </a:solidFill>
                <a:latin typeface="Arial" pitchFamily="34" charset="0"/>
                <a:ea typeface="Arial" pitchFamily="34" charset="-122"/>
                <a:cs typeface="Arial" pitchFamily="34" charset="-120"/>
              </a:rPr>
              <a:t>Small withdrawals work perfectly — that's what earns your trust</a:t>
            </a:r>
            <a:endParaRPr lang="en-US" sz="1300" dirty="0"/>
          </a:p>
          <a:p>
            <a:pPr marL="342900" indent="-342900">
              <a:spcAft>
                <a:spcPts val="500"/>
              </a:spcAft>
              <a:buSzPct val="100000"/>
              <a:buChar char="•"/>
            </a:pPr>
            <a:r>
              <a:rPr lang="en-US" sz="1300" dirty="0">
                <a:solidFill>
                  <a:srgbClr val="16192B"/>
                </a:solidFill>
                <a:latin typeface="Arial" pitchFamily="34" charset="0"/>
                <a:ea typeface="Arial" pitchFamily="34" charset="-122"/>
                <a:cs typeface="Arial" pitchFamily="34" charset="-120"/>
              </a:rPr>
              <a:t>Then "taxes" or "fees" are owed before you can take the rest out</a:t>
            </a:r>
            <a:endParaRPr lang="en-US" sz="1300" dirty="0"/>
          </a:p>
        </p:txBody>
      </p:sp>
      <p:sp>
        <p:nvSpPr>
          <p:cNvPr id="18" name="Shape 15"/>
          <p:cNvSpPr/>
          <p:nvPr/>
        </p:nvSpPr>
        <p:spPr>
          <a:xfrm>
            <a:off x="6309360" y="3310128"/>
            <a:ext cx="5303520" cy="2468880"/>
          </a:xfrm>
          <a:prstGeom prst="roundRect">
            <a:avLst>
              <a:gd name="adj" fmla="val 3704"/>
            </a:avLst>
          </a:prstGeom>
          <a:solidFill>
            <a:srgbClr val="1F7A4D"/>
          </a:solidFill>
          <a:ln w="12700">
            <a:solidFill>
              <a:srgbClr val="D8E0EF"/>
            </a:solidFill>
            <a:prstDash val="solid"/>
          </a:ln>
        </p:spPr>
      </p:sp>
      <p:sp>
        <p:nvSpPr>
          <p:cNvPr id="19" name="Shape 16"/>
          <p:cNvSpPr/>
          <p:nvPr/>
        </p:nvSpPr>
        <p:spPr>
          <a:xfrm>
            <a:off x="6629400" y="3566160"/>
            <a:ext cx="640080" cy="640080"/>
          </a:xfrm>
          <a:prstGeom prst="ellipse">
            <a:avLst/>
          </a:prstGeom>
          <a:solidFill>
            <a:srgbClr val="FFFFFF"/>
          </a:solidFill>
          <a:ln/>
        </p:spPr>
      </p:sp>
      <p:pic>
        <p:nvPicPr>
          <p:cNvPr id="20" name="Image 1" descr="preencoded.png">    </p:cNvPr>
          <p:cNvPicPr>
            <a:picLocks noChangeAspect="1"/>
          </p:cNvPicPr>
          <p:nvPr/>
        </p:nvPicPr>
        <p:blipFill>
          <a:blip r:embed="rId2"/>
          <a:stretch>
            <a:fillRect/>
          </a:stretch>
        </p:blipFill>
        <p:spPr>
          <a:xfrm>
            <a:off x="6802222" y="3738982"/>
            <a:ext cx="294437" cy="294437"/>
          </a:xfrm>
          <a:prstGeom prst="rect">
            <a:avLst/>
          </a:prstGeom>
        </p:spPr>
      </p:pic>
      <p:sp>
        <p:nvSpPr>
          <p:cNvPr id="21" name="Text 17"/>
          <p:cNvSpPr/>
          <p:nvPr/>
        </p:nvSpPr>
        <p:spPr>
          <a:xfrm>
            <a:off x="7498080" y="3639312"/>
            <a:ext cx="388620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Three sentences that protect you</a:t>
            </a:r>
            <a:endParaRPr lang="en-US" sz="1900" dirty="0"/>
          </a:p>
        </p:txBody>
      </p:sp>
      <p:sp>
        <p:nvSpPr>
          <p:cNvPr id="22" name="Text 18"/>
          <p:cNvSpPr/>
          <p:nvPr/>
        </p:nvSpPr>
        <p:spPr>
          <a:xfrm>
            <a:off x="6675120" y="4224528"/>
            <a:ext cx="4617720" cy="146304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Guaranteed returns don't exist. Anyone promising them is lying.</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No real broker asks you to buy crypto at a gas-station machine.</a:t>
            </a:r>
            <a:endParaRPr lang="en-US" sz="1350" dirty="0"/>
          </a:p>
          <a:p>
            <a:pPr marL="342900" indent="-3429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Run any opportunity past your own bank or advisor first — free, and it takes ten minutes.</a:t>
            </a:r>
            <a:endParaRPr lang="en-US" sz="1350" dirty="0"/>
          </a:p>
        </p:txBody>
      </p:sp>
      <p:sp>
        <p:nvSpPr>
          <p:cNvPr id="23" name="Text 19"/>
          <p:cNvSpPr/>
          <p:nvPr/>
        </p:nvSpPr>
        <p:spPr>
          <a:xfrm>
            <a:off x="548640" y="6355080"/>
            <a:ext cx="11064240" cy="274320"/>
          </a:xfrm>
          <a:prstGeom prst="rect">
            <a:avLst/>
          </a:prstGeom>
          <a:noFill/>
          <a:ln/>
        </p:spPr>
        <p:txBody>
          <a:bodyPr wrap="square" lIns="0" tIns="0" rIns="0" bIns="0" rtlCol="0" anchor="ctr"/>
          <a:lstStyle/>
          <a:p>
            <a:pPr indent="0" marL="0">
              <a:buNone/>
            </a:pPr>
            <a:r>
              <a:rPr lang="en-US" sz="1000" i="1" dirty="0">
                <a:solidFill>
                  <a:srgbClr val="56607A"/>
                </a:solidFill>
                <a:latin typeface="Arial" pitchFamily="34" charset="0"/>
                <a:ea typeface="Arial" pitchFamily="34" charset="-122"/>
                <a:cs typeface="Arial" pitchFamily="34" charset="-120"/>
              </a:rPr>
              <a:t>Source: FBI IC3 2025 Annual Report — investment fraud is the largest elder-fraud category by dollars lost.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THE ONE ALMOST NOBODY WARNS YOU ABOUT</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And then they come back for a second bite</a:t>
            </a:r>
            <a:endParaRPr lang="en-US" sz="3400" dirty="0"/>
          </a:p>
        </p:txBody>
      </p:sp>
      <p:sp>
        <p:nvSpPr>
          <p:cNvPr id="4" name="Shape 2"/>
          <p:cNvSpPr/>
          <p:nvPr/>
        </p:nvSpPr>
        <p:spPr>
          <a:xfrm>
            <a:off x="548640" y="1645920"/>
            <a:ext cx="6766560" cy="3931920"/>
          </a:xfrm>
          <a:prstGeom prst="roundRect">
            <a:avLst>
              <a:gd name="adj" fmla="val 2326"/>
            </a:avLst>
          </a:prstGeom>
          <a:solidFill>
            <a:srgbClr val="FFFFFF"/>
          </a:solidFill>
          <a:ln w="12700">
            <a:solidFill>
              <a:srgbClr val="D8E0EF"/>
            </a:solidFill>
            <a:prstDash val="solid"/>
          </a:ln>
        </p:spPr>
      </p:sp>
      <p:sp>
        <p:nvSpPr>
          <p:cNvPr id="5" name="Shape 3"/>
          <p:cNvSpPr/>
          <p:nvPr/>
        </p:nvSpPr>
        <p:spPr>
          <a:xfrm>
            <a:off x="868680" y="1920240"/>
            <a:ext cx="731520" cy="731520"/>
          </a:xfrm>
          <a:prstGeom prst="ellipse">
            <a:avLst/>
          </a:prstGeom>
          <a:solidFill>
            <a:srgbClr val="B02A28"/>
          </a:solidFill>
          <a:ln/>
        </p:spPr>
      </p:sp>
      <p:pic>
        <p:nvPicPr>
          <p:cNvPr id="6" name="Image 0" descr="preencoded.png">    </p:cNvPr>
          <p:cNvPicPr>
            <a:picLocks noChangeAspect="1"/>
          </p:cNvPicPr>
          <p:nvPr/>
        </p:nvPicPr>
        <p:blipFill>
          <a:blip r:embed="rId1"/>
          <a:stretch>
            <a:fillRect/>
          </a:stretch>
        </p:blipFill>
        <p:spPr>
          <a:xfrm>
            <a:off x="1066190" y="2117750"/>
            <a:ext cx="336499" cy="336499"/>
          </a:xfrm>
          <a:prstGeom prst="rect">
            <a:avLst/>
          </a:prstGeom>
        </p:spPr>
      </p:pic>
      <p:sp>
        <p:nvSpPr>
          <p:cNvPr id="7" name="Text 4"/>
          <p:cNvSpPr/>
          <p:nvPr/>
        </p:nvSpPr>
        <p:spPr>
          <a:xfrm>
            <a:off x="1783080" y="2011680"/>
            <a:ext cx="5212080" cy="45720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The recovery scam</a:t>
            </a:r>
            <a:endParaRPr lang="en-US" sz="2200" dirty="0"/>
          </a:p>
        </p:txBody>
      </p:sp>
      <p:sp>
        <p:nvSpPr>
          <p:cNvPr id="8" name="Text 5"/>
          <p:cNvSpPr/>
          <p:nvPr/>
        </p:nvSpPr>
        <p:spPr>
          <a:xfrm>
            <a:off x="914400" y="2834640"/>
            <a:ext cx="6172200" cy="265176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16192B"/>
                </a:solidFill>
                <a:latin typeface="Arial" pitchFamily="34" charset="0"/>
                <a:ea typeface="Arial" pitchFamily="34" charset="-122"/>
                <a:cs typeface="Arial" pitchFamily="34" charset="-120"/>
              </a:rPr>
              <a:t>Weeks or months after a loss, someone contacts you offering to get your money back.</a:t>
            </a:r>
            <a:endParaRPr lang="en-US" sz="1500" dirty="0"/>
          </a:p>
          <a:p>
            <a:pPr marL="342900" indent="-342900">
              <a:spcAft>
                <a:spcPts val="1000"/>
              </a:spcAft>
              <a:buSzPct val="100000"/>
              <a:buChar char="•"/>
            </a:pPr>
            <a:r>
              <a:rPr lang="en-US" sz="1500" dirty="0">
                <a:solidFill>
                  <a:srgbClr val="16192B"/>
                </a:solidFill>
                <a:latin typeface="Arial" pitchFamily="34" charset="0"/>
                <a:ea typeface="Arial" pitchFamily="34" charset="-122"/>
                <a:cs typeface="Arial" pitchFamily="34" charset="-120"/>
              </a:rPr>
              <a:t>They pose as a law firm, a "fund recovery" service, a crypto tracing company, or a government agency.</a:t>
            </a:r>
            <a:endParaRPr lang="en-US" sz="1500" dirty="0"/>
          </a:p>
          <a:p>
            <a:pPr marL="342900" indent="-342900">
              <a:spcAft>
                <a:spcPts val="1000"/>
              </a:spcAft>
              <a:buSzPct val="100000"/>
              <a:buChar char="•"/>
            </a:pPr>
            <a:r>
              <a:rPr lang="en-US" sz="1500" dirty="0">
                <a:solidFill>
                  <a:srgbClr val="16192B"/>
                </a:solidFill>
                <a:latin typeface="Arial" pitchFamily="34" charset="0"/>
                <a:ea typeface="Arial" pitchFamily="34" charset="-122"/>
                <a:cs typeface="Arial" pitchFamily="34" charset="-120"/>
              </a:rPr>
              <a:t>They know real details about what happened to you — because victim lists get sold and reused.</a:t>
            </a:r>
            <a:endParaRPr lang="en-US" sz="1500" dirty="0"/>
          </a:p>
          <a:p>
            <a:pPr marL="342900" indent="-342900">
              <a:spcAft>
                <a:spcPts val="1000"/>
              </a:spcAft>
              <a:buSzPct val="100000"/>
              <a:buChar char="•"/>
            </a:pPr>
            <a:r>
              <a:rPr lang="en-US" sz="1500" dirty="0">
                <a:solidFill>
                  <a:srgbClr val="16192B"/>
                </a:solidFill>
                <a:latin typeface="Arial" pitchFamily="34" charset="0"/>
                <a:ea typeface="Arial" pitchFamily="34" charset="-122"/>
                <a:cs typeface="Arial" pitchFamily="34" charset="-120"/>
              </a:rPr>
              <a:t>They ask for an upfront fee, a retainer, or your account details to "return the funds."</a:t>
            </a:r>
            <a:endParaRPr lang="en-US" sz="1500" dirty="0"/>
          </a:p>
          <a:p>
            <a:pPr marL="342900" indent="-342900">
              <a:spcAft>
                <a:spcPts val="1000"/>
              </a:spcAft>
              <a:buSzPct val="100000"/>
              <a:buChar char="•"/>
            </a:pPr>
            <a:r>
              <a:rPr lang="en-US" sz="1500" dirty="0">
                <a:solidFill>
                  <a:srgbClr val="16192B"/>
                </a:solidFill>
                <a:latin typeface="Arial" pitchFamily="34" charset="0"/>
                <a:ea typeface="Arial" pitchFamily="34" charset="-122"/>
                <a:cs typeface="Arial" pitchFamily="34" charset="-120"/>
              </a:rPr>
              <a:t>Nobody legitimate charges you upfront to recover stolen money. Reporting to IC3 is free.</a:t>
            </a:r>
            <a:endParaRPr lang="en-US" sz="1500" dirty="0"/>
          </a:p>
        </p:txBody>
      </p:sp>
      <p:sp>
        <p:nvSpPr>
          <p:cNvPr id="9" name="Shape 6"/>
          <p:cNvSpPr/>
          <p:nvPr/>
        </p:nvSpPr>
        <p:spPr>
          <a:xfrm>
            <a:off x="7589520" y="1645920"/>
            <a:ext cx="4023360" cy="3931920"/>
          </a:xfrm>
          <a:prstGeom prst="roundRect">
            <a:avLst>
              <a:gd name="adj" fmla="val 2326"/>
            </a:avLst>
          </a:prstGeom>
          <a:solidFill>
            <a:srgbClr val="1E2761"/>
          </a:solidFill>
          <a:ln w="12700">
            <a:solidFill>
              <a:srgbClr val="D8E0EF"/>
            </a:solidFill>
            <a:prstDash val="solid"/>
          </a:ln>
        </p:spPr>
      </p:sp>
      <p:sp>
        <p:nvSpPr>
          <p:cNvPr id="10" name="Text 7"/>
          <p:cNvSpPr/>
          <p:nvPr/>
        </p:nvSpPr>
        <p:spPr>
          <a:xfrm>
            <a:off x="7909560" y="1965960"/>
            <a:ext cx="3474720" cy="731520"/>
          </a:xfrm>
          <a:prstGeom prst="rect">
            <a:avLst/>
          </a:prstGeom>
          <a:noFill/>
          <a:ln/>
        </p:spPr>
        <p:txBody>
          <a:bodyPr wrap="square" lIns="0" tIns="0" rIns="0" bIns="0" rtlCol="0" anchor="ctr"/>
          <a:lstStyle/>
          <a:p>
            <a:pPr indent="0" marL="0">
              <a:buNone/>
            </a:pPr>
            <a:r>
              <a:rPr lang="en-US" sz="4400" b="1" dirty="0">
                <a:solidFill>
                  <a:srgbClr val="E39A20"/>
                </a:solidFill>
                <a:latin typeface="Cambria" pitchFamily="34" charset="0"/>
                <a:ea typeface="Cambria" pitchFamily="34" charset="-122"/>
                <a:cs typeface="Cambria" pitchFamily="34" charset="-120"/>
              </a:rPr>
              <a:t>$540M</a:t>
            </a:r>
            <a:endParaRPr lang="en-US" sz="4400" dirty="0"/>
          </a:p>
        </p:txBody>
      </p:sp>
      <p:sp>
        <p:nvSpPr>
          <p:cNvPr id="11" name="Text 8"/>
          <p:cNvSpPr/>
          <p:nvPr/>
        </p:nvSpPr>
        <p:spPr>
          <a:xfrm>
            <a:off x="7909560" y="2743200"/>
            <a:ext cx="3474720" cy="1051560"/>
          </a:xfrm>
          <a:prstGeom prst="rect">
            <a:avLst/>
          </a:prstGeom>
          <a:noFill/>
          <a:ln/>
        </p:spPr>
        <p:txBody>
          <a:bodyPr wrap="square" lIns="0" tIns="0" rIns="0" bIns="0" rtlCol="0" anchor="ctr"/>
          <a:lstStyle/>
          <a:p>
            <a:pPr indent="0" marL="0">
              <a:buNone/>
            </a:pPr>
            <a:r>
              <a:rPr lang="en-US" sz="1450" dirty="0">
                <a:solidFill>
                  <a:srgbClr val="CADCFC"/>
                </a:solidFill>
                <a:latin typeface="Arial" pitchFamily="34" charset="0"/>
                <a:ea typeface="Arial" pitchFamily="34" charset="-122"/>
                <a:cs typeface="Arial" pitchFamily="34" charset="-120"/>
              </a:rPr>
              <a:t>taken from people who had already been scammed once — reported by older adults in 2025 alone.</a:t>
            </a:r>
            <a:endParaRPr lang="en-US" sz="1450" dirty="0"/>
          </a:p>
        </p:txBody>
      </p:sp>
      <p:sp>
        <p:nvSpPr>
          <p:cNvPr id="12" name="Shape 9"/>
          <p:cNvSpPr/>
          <p:nvPr/>
        </p:nvSpPr>
        <p:spPr>
          <a:xfrm>
            <a:off x="7909560" y="3886200"/>
            <a:ext cx="3474720" cy="18288"/>
          </a:xfrm>
          <a:prstGeom prst="rect">
            <a:avLst/>
          </a:prstGeom>
          <a:solidFill>
            <a:srgbClr val="3F4E8C"/>
          </a:solidFill>
          <a:ln/>
        </p:spPr>
      </p:sp>
      <p:sp>
        <p:nvSpPr>
          <p:cNvPr id="13" name="Text 10"/>
          <p:cNvSpPr/>
          <p:nvPr/>
        </p:nvSpPr>
        <p:spPr>
          <a:xfrm>
            <a:off x="7909560" y="4114800"/>
            <a:ext cx="3474720" cy="1234440"/>
          </a:xfrm>
          <a:prstGeom prst="rect">
            <a:avLst/>
          </a:prstGeom>
          <a:noFill/>
          <a:ln/>
        </p:spPr>
        <p:txBody>
          <a:bodyPr wrap="square" lIns="0" tIns="0" rIns="0" bIns="0" rtlCol="0" anchor="ctr"/>
          <a:lstStyle/>
          <a:p>
            <a:pPr indent="0" marL="0">
              <a:buNone/>
            </a:pPr>
            <a:r>
              <a:rPr lang="en-US" sz="1450" i="1" dirty="0">
                <a:solidFill>
                  <a:srgbClr val="E39A20"/>
                </a:solidFill>
                <a:latin typeface="Arial" pitchFamily="34" charset="0"/>
                <a:ea typeface="Arial" pitchFamily="34" charset="-122"/>
                <a:cs typeface="Arial" pitchFamily="34" charset="-120"/>
              </a:rPr>
              <a:t>This is exactly why the shame has to go. A victim who tells someone is much harder to hit twice.</a:t>
            </a:r>
            <a:endParaRPr lang="en-US" sz="1450" dirty="0"/>
          </a:p>
        </p:txBody>
      </p:sp>
      <p:sp>
        <p:nvSpPr>
          <p:cNvPr id="14" name="Text 11"/>
          <p:cNvSpPr/>
          <p:nvPr/>
        </p:nvSpPr>
        <p:spPr>
          <a:xfrm>
            <a:off x="548640" y="6355080"/>
            <a:ext cx="11064240" cy="274320"/>
          </a:xfrm>
          <a:prstGeom prst="rect">
            <a:avLst/>
          </a:prstGeom>
          <a:noFill/>
          <a:ln/>
        </p:spPr>
        <p:txBody>
          <a:bodyPr wrap="square" lIns="0" tIns="0" rIns="0" bIns="0" rtlCol="0" anchor="ctr"/>
          <a:lstStyle/>
          <a:p>
            <a:pPr indent="0" marL="0">
              <a:buNone/>
            </a:pPr>
            <a:r>
              <a:rPr lang="en-US" sz="1000" i="1" dirty="0">
                <a:solidFill>
                  <a:srgbClr val="56607A"/>
                </a:solidFill>
                <a:latin typeface="Arial" pitchFamily="34" charset="0"/>
                <a:ea typeface="Arial" pitchFamily="34" charset="-122"/>
                <a:cs typeface="Arial" pitchFamily="34" charset="-120"/>
              </a:rPr>
              <a:t>Source: FBI IC3 2025 data on confidence/recovery fraud reported by victims aged 60+.</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ONE QUESTION ANSWERS EVERYTHING</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The fastest tell of all: how they want to be paid</a:t>
            </a:r>
            <a:endParaRPr lang="en-US" sz="3400" dirty="0"/>
          </a:p>
        </p:txBody>
      </p:sp>
      <p:sp>
        <p:nvSpPr>
          <p:cNvPr id="4" name="Text 2"/>
          <p:cNvSpPr/>
          <p:nvPr/>
        </p:nvSpPr>
        <p:spPr>
          <a:xfrm>
            <a:off x="548640" y="1463040"/>
            <a:ext cx="11064240" cy="457200"/>
          </a:xfrm>
          <a:prstGeom prst="rect">
            <a:avLst/>
          </a:prstGeom>
          <a:noFill/>
          <a:ln/>
        </p:spPr>
        <p:txBody>
          <a:bodyPr wrap="square" lIns="0" tIns="0" rIns="0" bIns="0" rtlCol="0" anchor="ctr"/>
          <a:lstStyle/>
          <a:p>
            <a:pPr indent="0" marL="0">
              <a:buNone/>
            </a:pPr>
            <a:r>
              <a:rPr lang="en-US" sz="1700" dirty="0">
                <a:solidFill>
                  <a:srgbClr val="16192B"/>
                </a:solidFill>
                <a:latin typeface="Arial" pitchFamily="34" charset="0"/>
                <a:ea typeface="Arial" pitchFamily="34" charset="-122"/>
                <a:cs typeface="Arial" pitchFamily="34" charset="-120"/>
              </a:rPr>
              <a:t>Skip figuring out whether the story is true. Ask only: how do they want the money? Legitimate people never ask for these.</a:t>
            </a:r>
            <a:endParaRPr lang="en-US" sz="1700" dirty="0"/>
          </a:p>
        </p:txBody>
      </p:sp>
      <p:sp>
        <p:nvSpPr>
          <p:cNvPr id="5" name="Shape 3"/>
          <p:cNvSpPr/>
          <p:nvPr/>
        </p:nvSpPr>
        <p:spPr>
          <a:xfrm>
            <a:off x="548640" y="2148840"/>
            <a:ext cx="3520440" cy="1508760"/>
          </a:xfrm>
          <a:prstGeom prst="roundRect">
            <a:avLst>
              <a:gd name="adj" fmla="val 6061"/>
            </a:avLst>
          </a:prstGeom>
          <a:solidFill>
            <a:srgbClr val="FFFFFF"/>
          </a:solidFill>
          <a:ln w="12700">
            <a:solidFill>
              <a:srgbClr val="D8E0EF"/>
            </a:solidFill>
            <a:prstDash val="solid"/>
          </a:ln>
        </p:spPr>
      </p:sp>
      <p:sp>
        <p:nvSpPr>
          <p:cNvPr id="6" name="Shape 4"/>
          <p:cNvSpPr/>
          <p:nvPr/>
        </p:nvSpPr>
        <p:spPr>
          <a:xfrm>
            <a:off x="804672" y="2441448"/>
            <a:ext cx="640080" cy="640080"/>
          </a:xfrm>
          <a:prstGeom prst="ellipse">
            <a:avLst/>
          </a:prstGeom>
          <a:solidFill>
            <a:srgbClr val="FBEAE9"/>
          </a:solidFill>
          <a:ln/>
        </p:spPr>
      </p:sp>
      <p:pic>
        <p:nvPicPr>
          <p:cNvPr id="7" name="Image 0" descr="preencoded.png">    </p:cNvPr>
          <p:cNvPicPr>
            <a:picLocks noChangeAspect="1"/>
          </p:cNvPicPr>
          <p:nvPr/>
        </p:nvPicPr>
        <p:blipFill>
          <a:blip r:embed="rId1"/>
          <a:stretch>
            <a:fillRect/>
          </a:stretch>
        </p:blipFill>
        <p:spPr>
          <a:xfrm>
            <a:off x="977494" y="2614270"/>
            <a:ext cx="294437" cy="294437"/>
          </a:xfrm>
          <a:prstGeom prst="rect">
            <a:avLst/>
          </a:prstGeom>
        </p:spPr>
      </p:pic>
      <p:sp>
        <p:nvSpPr>
          <p:cNvPr id="8" name="Text 5"/>
          <p:cNvSpPr/>
          <p:nvPr/>
        </p:nvSpPr>
        <p:spPr>
          <a:xfrm>
            <a:off x="1600200" y="2423160"/>
            <a:ext cx="2331720" cy="384048"/>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Gift cards</a:t>
            </a:r>
            <a:endParaRPr lang="en-US" sz="1700" dirty="0"/>
          </a:p>
        </p:txBody>
      </p:sp>
      <p:sp>
        <p:nvSpPr>
          <p:cNvPr id="9" name="Text 6"/>
          <p:cNvSpPr/>
          <p:nvPr/>
        </p:nvSpPr>
        <p:spPr>
          <a:xfrm>
            <a:off x="1600200" y="2834640"/>
            <a:ext cx="2331720" cy="685800"/>
          </a:xfrm>
          <a:prstGeom prst="rect">
            <a:avLst/>
          </a:prstGeom>
          <a:noFill/>
          <a:ln/>
        </p:spPr>
        <p:txBody>
          <a:bodyPr wrap="square" lIns="0" tIns="0" rIns="0" bIns="0" rtlCol="0" anchor="ctr"/>
          <a:lstStyle/>
          <a:p>
            <a:pPr indent="0" marL="0">
              <a:buNone/>
            </a:pPr>
            <a:r>
              <a:rPr lang="en-US" sz="1300" dirty="0">
                <a:solidFill>
                  <a:srgbClr val="56607A"/>
                </a:solidFill>
                <a:latin typeface="Arial" pitchFamily="34" charset="0"/>
                <a:ea typeface="Arial" pitchFamily="34" charset="-122"/>
                <a:cs typeface="Arial" pitchFamily="34" charset="-120"/>
              </a:rPr>
              <a:t>Read me the numbers off the back</a:t>
            </a:r>
            <a:endParaRPr lang="en-US" sz="1300" dirty="0"/>
          </a:p>
        </p:txBody>
      </p:sp>
      <p:sp>
        <p:nvSpPr>
          <p:cNvPr id="10" name="Shape 7"/>
          <p:cNvSpPr/>
          <p:nvPr/>
        </p:nvSpPr>
        <p:spPr>
          <a:xfrm>
            <a:off x="4343400" y="2148840"/>
            <a:ext cx="3520440" cy="1508760"/>
          </a:xfrm>
          <a:prstGeom prst="roundRect">
            <a:avLst>
              <a:gd name="adj" fmla="val 6061"/>
            </a:avLst>
          </a:prstGeom>
          <a:solidFill>
            <a:srgbClr val="FFFFFF"/>
          </a:solidFill>
          <a:ln w="12700">
            <a:solidFill>
              <a:srgbClr val="D8E0EF"/>
            </a:solidFill>
            <a:prstDash val="solid"/>
          </a:ln>
        </p:spPr>
      </p:sp>
      <p:sp>
        <p:nvSpPr>
          <p:cNvPr id="11" name="Shape 8"/>
          <p:cNvSpPr/>
          <p:nvPr/>
        </p:nvSpPr>
        <p:spPr>
          <a:xfrm>
            <a:off x="4599432" y="2441448"/>
            <a:ext cx="640080" cy="640080"/>
          </a:xfrm>
          <a:prstGeom prst="ellipse">
            <a:avLst/>
          </a:prstGeom>
          <a:solidFill>
            <a:srgbClr val="FBEAE9"/>
          </a:solidFill>
          <a:ln/>
        </p:spPr>
      </p:sp>
      <p:pic>
        <p:nvPicPr>
          <p:cNvPr id="12" name="Image 1" descr="preencoded.png">    </p:cNvPr>
          <p:cNvPicPr>
            <a:picLocks noChangeAspect="1"/>
          </p:cNvPicPr>
          <p:nvPr/>
        </p:nvPicPr>
        <p:blipFill>
          <a:blip r:embed="rId2"/>
          <a:stretch>
            <a:fillRect/>
          </a:stretch>
        </p:blipFill>
        <p:spPr>
          <a:xfrm>
            <a:off x="4772254" y="2614270"/>
            <a:ext cx="294437" cy="294437"/>
          </a:xfrm>
          <a:prstGeom prst="rect">
            <a:avLst/>
          </a:prstGeom>
        </p:spPr>
      </p:pic>
      <p:sp>
        <p:nvSpPr>
          <p:cNvPr id="13" name="Text 9"/>
          <p:cNvSpPr/>
          <p:nvPr/>
        </p:nvSpPr>
        <p:spPr>
          <a:xfrm>
            <a:off x="5394960" y="2423160"/>
            <a:ext cx="2331720" cy="384048"/>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Wire transfer</a:t>
            </a:r>
            <a:endParaRPr lang="en-US" sz="1700" dirty="0"/>
          </a:p>
        </p:txBody>
      </p:sp>
      <p:sp>
        <p:nvSpPr>
          <p:cNvPr id="14" name="Text 10"/>
          <p:cNvSpPr/>
          <p:nvPr/>
        </p:nvSpPr>
        <p:spPr>
          <a:xfrm>
            <a:off x="5394960" y="2834640"/>
            <a:ext cx="2331720" cy="685800"/>
          </a:xfrm>
          <a:prstGeom prst="rect">
            <a:avLst/>
          </a:prstGeom>
          <a:noFill/>
          <a:ln/>
        </p:spPr>
        <p:txBody>
          <a:bodyPr wrap="square" lIns="0" tIns="0" rIns="0" bIns="0" rtlCol="0" anchor="ctr"/>
          <a:lstStyle/>
          <a:p>
            <a:pPr indent="0" marL="0">
              <a:buNone/>
            </a:pPr>
            <a:r>
              <a:rPr lang="en-US" sz="1300" dirty="0">
                <a:solidFill>
                  <a:srgbClr val="56607A"/>
                </a:solidFill>
                <a:latin typeface="Arial" pitchFamily="34" charset="0"/>
                <a:ea typeface="Arial" pitchFamily="34" charset="-122"/>
                <a:cs typeface="Arial" pitchFamily="34" charset="-120"/>
              </a:rPr>
              <a:t>Western Union, MoneyGram, or a bank wire</a:t>
            </a:r>
            <a:endParaRPr lang="en-US" sz="1300" dirty="0"/>
          </a:p>
        </p:txBody>
      </p:sp>
      <p:sp>
        <p:nvSpPr>
          <p:cNvPr id="15" name="Shape 11"/>
          <p:cNvSpPr/>
          <p:nvPr/>
        </p:nvSpPr>
        <p:spPr>
          <a:xfrm>
            <a:off x="8138160" y="2148840"/>
            <a:ext cx="3520440" cy="1508760"/>
          </a:xfrm>
          <a:prstGeom prst="roundRect">
            <a:avLst>
              <a:gd name="adj" fmla="val 6061"/>
            </a:avLst>
          </a:prstGeom>
          <a:solidFill>
            <a:srgbClr val="FFFFFF"/>
          </a:solidFill>
          <a:ln w="12700">
            <a:solidFill>
              <a:srgbClr val="D8E0EF"/>
            </a:solidFill>
            <a:prstDash val="solid"/>
          </a:ln>
        </p:spPr>
      </p:sp>
      <p:sp>
        <p:nvSpPr>
          <p:cNvPr id="16" name="Shape 12"/>
          <p:cNvSpPr/>
          <p:nvPr/>
        </p:nvSpPr>
        <p:spPr>
          <a:xfrm>
            <a:off x="8394192" y="2441448"/>
            <a:ext cx="640080" cy="640080"/>
          </a:xfrm>
          <a:prstGeom prst="ellipse">
            <a:avLst/>
          </a:prstGeom>
          <a:solidFill>
            <a:srgbClr val="FBEAE9"/>
          </a:solidFill>
          <a:ln/>
        </p:spPr>
      </p:sp>
      <p:pic>
        <p:nvPicPr>
          <p:cNvPr id="17" name="Image 2" descr="preencoded.png">    </p:cNvPr>
          <p:cNvPicPr>
            <a:picLocks noChangeAspect="1"/>
          </p:cNvPicPr>
          <p:nvPr/>
        </p:nvPicPr>
        <p:blipFill>
          <a:blip r:embed="rId3"/>
          <a:stretch>
            <a:fillRect/>
          </a:stretch>
        </p:blipFill>
        <p:spPr>
          <a:xfrm>
            <a:off x="8567014" y="2614270"/>
            <a:ext cx="294437" cy="294437"/>
          </a:xfrm>
          <a:prstGeom prst="rect">
            <a:avLst/>
          </a:prstGeom>
        </p:spPr>
      </p:pic>
      <p:sp>
        <p:nvSpPr>
          <p:cNvPr id="18" name="Text 13"/>
          <p:cNvSpPr/>
          <p:nvPr/>
        </p:nvSpPr>
        <p:spPr>
          <a:xfrm>
            <a:off x="9189720" y="2423160"/>
            <a:ext cx="2331720" cy="384048"/>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Crypto or a Bitcoin ATM</a:t>
            </a:r>
            <a:endParaRPr lang="en-US" sz="1700" dirty="0"/>
          </a:p>
        </p:txBody>
      </p:sp>
      <p:sp>
        <p:nvSpPr>
          <p:cNvPr id="19" name="Text 14"/>
          <p:cNvSpPr/>
          <p:nvPr/>
        </p:nvSpPr>
        <p:spPr>
          <a:xfrm>
            <a:off x="9189720" y="2834640"/>
            <a:ext cx="2331720" cy="685800"/>
          </a:xfrm>
          <a:prstGeom prst="rect">
            <a:avLst/>
          </a:prstGeom>
          <a:noFill/>
          <a:ln/>
        </p:spPr>
        <p:txBody>
          <a:bodyPr wrap="square" lIns="0" tIns="0" rIns="0" bIns="0" rtlCol="0" anchor="ctr"/>
          <a:lstStyle/>
          <a:p>
            <a:pPr indent="0" marL="0">
              <a:buNone/>
            </a:pPr>
            <a:r>
              <a:rPr lang="en-US" sz="1300" dirty="0">
                <a:solidFill>
                  <a:srgbClr val="56607A"/>
                </a:solidFill>
                <a:latin typeface="Arial" pitchFamily="34" charset="0"/>
                <a:ea typeface="Arial" pitchFamily="34" charset="-122"/>
                <a:cs typeface="Arial" pitchFamily="34" charset="-120"/>
              </a:rPr>
              <a:t>"Go to the machine at the gas station"</a:t>
            </a:r>
            <a:endParaRPr lang="en-US" sz="1300" dirty="0"/>
          </a:p>
        </p:txBody>
      </p:sp>
      <p:sp>
        <p:nvSpPr>
          <p:cNvPr id="20" name="Shape 15"/>
          <p:cNvSpPr/>
          <p:nvPr/>
        </p:nvSpPr>
        <p:spPr>
          <a:xfrm>
            <a:off x="548640" y="3931920"/>
            <a:ext cx="3520440" cy="1508760"/>
          </a:xfrm>
          <a:prstGeom prst="roundRect">
            <a:avLst>
              <a:gd name="adj" fmla="val 6061"/>
            </a:avLst>
          </a:prstGeom>
          <a:solidFill>
            <a:srgbClr val="FFFFFF"/>
          </a:solidFill>
          <a:ln w="12700">
            <a:solidFill>
              <a:srgbClr val="D8E0EF"/>
            </a:solidFill>
            <a:prstDash val="solid"/>
          </a:ln>
        </p:spPr>
      </p:sp>
      <p:sp>
        <p:nvSpPr>
          <p:cNvPr id="21" name="Shape 16"/>
          <p:cNvSpPr/>
          <p:nvPr/>
        </p:nvSpPr>
        <p:spPr>
          <a:xfrm>
            <a:off x="804672" y="4224528"/>
            <a:ext cx="640080" cy="640080"/>
          </a:xfrm>
          <a:prstGeom prst="ellipse">
            <a:avLst/>
          </a:prstGeom>
          <a:solidFill>
            <a:srgbClr val="FBEAE9"/>
          </a:solidFill>
          <a:ln/>
        </p:spPr>
      </p:sp>
      <p:pic>
        <p:nvPicPr>
          <p:cNvPr id="22" name="Image 3" descr="preencoded.png">    </p:cNvPr>
          <p:cNvPicPr>
            <a:picLocks noChangeAspect="1"/>
          </p:cNvPicPr>
          <p:nvPr/>
        </p:nvPicPr>
        <p:blipFill>
          <a:blip r:embed="rId4"/>
          <a:stretch>
            <a:fillRect/>
          </a:stretch>
        </p:blipFill>
        <p:spPr>
          <a:xfrm>
            <a:off x="977494" y="4397350"/>
            <a:ext cx="294437" cy="294437"/>
          </a:xfrm>
          <a:prstGeom prst="rect">
            <a:avLst/>
          </a:prstGeom>
        </p:spPr>
      </p:pic>
      <p:sp>
        <p:nvSpPr>
          <p:cNvPr id="23" name="Text 17"/>
          <p:cNvSpPr/>
          <p:nvPr/>
        </p:nvSpPr>
        <p:spPr>
          <a:xfrm>
            <a:off x="1600200" y="4206240"/>
            <a:ext cx="2331720" cy="384048"/>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A courier at your door</a:t>
            </a:r>
            <a:endParaRPr lang="en-US" sz="1700" dirty="0"/>
          </a:p>
        </p:txBody>
      </p:sp>
      <p:sp>
        <p:nvSpPr>
          <p:cNvPr id="24" name="Text 18"/>
          <p:cNvSpPr/>
          <p:nvPr/>
        </p:nvSpPr>
        <p:spPr>
          <a:xfrm>
            <a:off x="1600200" y="4617720"/>
            <a:ext cx="2331720" cy="685800"/>
          </a:xfrm>
          <a:prstGeom prst="rect">
            <a:avLst/>
          </a:prstGeom>
          <a:noFill/>
          <a:ln/>
        </p:spPr>
        <p:txBody>
          <a:bodyPr wrap="square" lIns="0" tIns="0" rIns="0" bIns="0" rtlCol="0" anchor="ctr"/>
          <a:lstStyle/>
          <a:p>
            <a:pPr indent="0" marL="0">
              <a:buNone/>
            </a:pPr>
            <a:r>
              <a:rPr lang="en-US" sz="1300" dirty="0">
                <a:solidFill>
                  <a:srgbClr val="56607A"/>
                </a:solidFill>
                <a:latin typeface="Arial" pitchFamily="34" charset="0"/>
                <a:ea typeface="Arial" pitchFamily="34" charset="-122"/>
                <a:cs typeface="Arial" pitchFamily="34" charset="-120"/>
              </a:rPr>
              <a:t>Cash or gold picked up in person</a:t>
            </a:r>
            <a:endParaRPr lang="en-US" sz="1300" dirty="0"/>
          </a:p>
        </p:txBody>
      </p:sp>
      <p:sp>
        <p:nvSpPr>
          <p:cNvPr id="25" name="Shape 19"/>
          <p:cNvSpPr/>
          <p:nvPr/>
        </p:nvSpPr>
        <p:spPr>
          <a:xfrm>
            <a:off x="4343400" y="3931920"/>
            <a:ext cx="3520440" cy="1508760"/>
          </a:xfrm>
          <a:prstGeom prst="roundRect">
            <a:avLst>
              <a:gd name="adj" fmla="val 6061"/>
            </a:avLst>
          </a:prstGeom>
          <a:solidFill>
            <a:srgbClr val="FFFFFF"/>
          </a:solidFill>
          <a:ln w="12700">
            <a:solidFill>
              <a:srgbClr val="D8E0EF"/>
            </a:solidFill>
            <a:prstDash val="solid"/>
          </a:ln>
        </p:spPr>
      </p:sp>
      <p:sp>
        <p:nvSpPr>
          <p:cNvPr id="26" name="Shape 20"/>
          <p:cNvSpPr/>
          <p:nvPr/>
        </p:nvSpPr>
        <p:spPr>
          <a:xfrm>
            <a:off x="4599432" y="4224528"/>
            <a:ext cx="640080" cy="640080"/>
          </a:xfrm>
          <a:prstGeom prst="ellipse">
            <a:avLst/>
          </a:prstGeom>
          <a:solidFill>
            <a:srgbClr val="FBEAE9"/>
          </a:solidFill>
          <a:ln/>
        </p:spPr>
      </p:sp>
      <p:pic>
        <p:nvPicPr>
          <p:cNvPr id="27" name="Image 4" descr="preencoded.png">    </p:cNvPr>
          <p:cNvPicPr>
            <a:picLocks noChangeAspect="1"/>
          </p:cNvPicPr>
          <p:nvPr/>
        </p:nvPicPr>
        <p:blipFill>
          <a:blip r:embed="rId5"/>
          <a:stretch>
            <a:fillRect/>
          </a:stretch>
        </p:blipFill>
        <p:spPr>
          <a:xfrm>
            <a:off x="4772254" y="4397350"/>
            <a:ext cx="294437" cy="294437"/>
          </a:xfrm>
          <a:prstGeom prst="rect">
            <a:avLst/>
          </a:prstGeom>
        </p:spPr>
      </p:pic>
      <p:sp>
        <p:nvSpPr>
          <p:cNvPr id="28" name="Text 21"/>
          <p:cNvSpPr/>
          <p:nvPr/>
        </p:nvSpPr>
        <p:spPr>
          <a:xfrm>
            <a:off x="5394960" y="4206240"/>
            <a:ext cx="2331720" cy="384048"/>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A "safe account"</a:t>
            </a:r>
            <a:endParaRPr lang="en-US" sz="1700" dirty="0"/>
          </a:p>
        </p:txBody>
      </p:sp>
      <p:sp>
        <p:nvSpPr>
          <p:cNvPr id="29" name="Text 22"/>
          <p:cNvSpPr/>
          <p:nvPr/>
        </p:nvSpPr>
        <p:spPr>
          <a:xfrm>
            <a:off x="5394960" y="4617720"/>
            <a:ext cx="2331720" cy="685800"/>
          </a:xfrm>
          <a:prstGeom prst="rect">
            <a:avLst/>
          </a:prstGeom>
          <a:noFill/>
          <a:ln/>
        </p:spPr>
        <p:txBody>
          <a:bodyPr wrap="square" lIns="0" tIns="0" rIns="0" bIns="0" rtlCol="0" anchor="ctr"/>
          <a:lstStyle/>
          <a:p>
            <a:pPr indent="0" marL="0">
              <a:buNone/>
            </a:pPr>
            <a:r>
              <a:rPr lang="en-US" sz="1300" dirty="0">
                <a:solidFill>
                  <a:srgbClr val="56607A"/>
                </a:solidFill>
                <a:latin typeface="Arial" pitchFamily="34" charset="0"/>
                <a:ea typeface="Arial" pitchFamily="34" charset="-122"/>
                <a:cs typeface="Arial" pitchFamily="34" charset="-120"/>
              </a:rPr>
              <a:t>Moving your own money to protect it</a:t>
            </a:r>
            <a:endParaRPr lang="en-US" sz="1300" dirty="0"/>
          </a:p>
        </p:txBody>
      </p:sp>
      <p:sp>
        <p:nvSpPr>
          <p:cNvPr id="30" name="Shape 23"/>
          <p:cNvSpPr/>
          <p:nvPr/>
        </p:nvSpPr>
        <p:spPr>
          <a:xfrm>
            <a:off x="8138160" y="3931920"/>
            <a:ext cx="3520440" cy="1508760"/>
          </a:xfrm>
          <a:prstGeom prst="roundRect">
            <a:avLst>
              <a:gd name="adj" fmla="val 6061"/>
            </a:avLst>
          </a:prstGeom>
          <a:solidFill>
            <a:srgbClr val="FFFFFF"/>
          </a:solidFill>
          <a:ln w="12700">
            <a:solidFill>
              <a:srgbClr val="D8E0EF"/>
            </a:solidFill>
            <a:prstDash val="solid"/>
          </a:ln>
        </p:spPr>
      </p:sp>
      <p:sp>
        <p:nvSpPr>
          <p:cNvPr id="31" name="Shape 24"/>
          <p:cNvSpPr/>
          <p:nvPr/>
        </p:nvSpPr>
        <p:spPr>
          <a:xfrm>
            <a:off x="8394192" y="4224528"/>
            <a:ext cx="640080" cy="640080"/>
          </a:xfrm>
          <a:prstGeom prst="ellipse">
            <a:avLst/>
          </a:prstGeom>
          <a:solidFill>
            <a:srgbClr val="FBEAE9"/>
          </a:solidFill>
          <a:ln/>
        </p:spPr>
      </p:sp>
      <p:pic>
        <p:nvPicPr>
          <p:cNvPr id="32" name="Image 5" descr="preencoded.png">    </p:cNvPr>
          <p:cNvPicPr>
            <a:picLocks noChangeAspect="1"/>
          </p:cNvPicPr>
          <p:nvPr/>
        </p:nvPicPr>
        <p:blipFill>
          <a:blip r:embed="rId6"/>
          <a:stretch>
            <a:fillRect/>
          </a:stretch>
        </p:blipFill>
        <p:spPr>
          <a:xfrm>
            <a:off x="8567014" y="4397350"/>
            <a:ext cx="294437" cy="294437"/>
          </a:xfrm>
          <a:prstGeom prst="rect">
            <a:avLst/>
          </a:prstGeom>
        </p:spPr>
      </p:pic>
      <p:sp>
        <p:nvSpPr>
          <p:cNvPr id="33" name="Text 25"/>
          <p:cNvSpPr/>
          <p:nvPr/>
        </p:nvSpPr>
        <p:spPr>
          <a:xfrm>
            <a:off x="9189720" y="4206240"/>
            <a:ext cx="2331720" cy="384048"/>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Payment apps to a stranger</a:t>
            </a:r>
            <a:endParaRPr lang="en-US" sz="1700" dirty="0"/>
          </a:p>
        </p:txBody>
      </p:sp>
      <p:sp>
        <p:nvSpPr>
          <p:cNvPr id="34" name="Text 26"/>
          <p:cNvSpPr/>
          <p:nvPr/>
        </p:nvSpPr>
        <p:spPr>
          <a:xfrm>
            <a:off x="9189720" y="4617720"/>
            <a:ext cx="2331720" cy="685800"/>
          </a:xfrm>
          <a:prstGeom prst="rect">
            <a:avLst/>
          </a:prstGeom>
          <a:noFill/>
          <a:ln/>
        </p:spPr>
        <p:txBody>
          <a:bodyPr wrap="square" lIns="0" tIns="0" rIns="0" bIns="0" rtlCol="0" anchor="ctr"/>
          <a:lstStyle/>
          <a:p>
            <a:pPr indent="0" marL="0">
              <a:buNone/>
            </a:pPr>
            <a:r>
              <a:rPr lang="en-US" sz="1300" dirty="0">
                <a:solidFill>
                  <a:srgbClr val="56607A"/>
                </a:solidFill>
                <a:latin typeface="Arial" pitchFamily="34" charset="0"/>
                <a:ea typeface="Arial" pitchFamily="34" charset="-122"/>
                <a:cs typeface="Arial" pitchFamily="34" charset="-120"/>
              </a:rPr>
              <a:t>Zelle, Venmo, or Cash App to someone you've never met</a:t>
            </a:r>
            <a:endParaRPr lang="en-US" sz="1300" dirty="0"/>
          </a:p>
        </p:txBody>
      </p:sp>
      <p:sp>
        <p:nvSpPr>
          <p:cNvPr id="35" name="Shape 27"/>
          <p:cNvSpPr/>
          <p:nvPr/>
        </p:nvSpPr>
        <p:spPr>
          <a:xfrm>
            <a:off x="548640" y="5715000"/>
            <a:ext cx="11064240" cy="566928"/>
          </a:xfrm>
          <a:prstGeom prst="roundRect">
            <a:avLst>
              <a:gd name="adj" fmla="val 12903"/>
            </a:avLst>
          </a:prstGeom>
          <a:solidFill>
            <a:srgbClr val="B02A28"/>
          </a:solidFill>
          <a:ln/>
        </p:spPr>
      </p:sp>
      <p:sp>
        <p:nvSpPr>
          <p:cNvPr id="36" name="Text 28"/>
          <p:cNvSpPr/>
          <p:nvPr/>
        </p:nvSpPr>
        <p:spPr>
          <a:xfrm>
            <a:off x="777240" y="5733288"/>
            <a:ext cx="10607040" cy="53035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Not one of these is ever how a real bank, agency, company, or family member asks to be paid.</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NOW THE GOOD NEWS</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Six habits that do most of the work</a:t>
            </a:r>
            <a:endParaRPr lang="en-US" sz="3400" dirty="0"/>
          </a:p>
        </p:txBody>
      </p:sp>
      <p:sp>
        <p:nvSpPr>
          <p:cNvPr id="4" name="Shape 2"/>
          <p:cNvSpPr/>
          <p:nvPr/>
        </p:nvSpPr>
        <p:spPr>
          <a:xfrm>
            <a:off x="548640" y="1600200"/>
            <a:ext cx="3520440" cy="1828800"/>
          </a:xfrm>
          <a:prstGeom prst="roundRect">
            <a:avLst>
              <a:gd name="adj" fmla="val 5000"/>
            </a:avLst>
          </a:prstGeom>
          <a:solidFill>
            <a:srgbClr val="FFFFFF"/>
          </a:solidFill>
          <a:ln w="12700">
            <a:solidFill>
              <a:srgbClr val="D8E0EF"/>
            </a:solidFill>
            <a:prstDash val="solid"/>
          </a:ln>
        </p:spPr>
      </p:sp>
      <p:sp>
        <p:nvSpPr>
          <p:cNvPr id="5" name="Shape 3"/>
          <p:cNvSpPr/>
          <p:nvPr/>
        </p:nvSpPr>
        <p:spPr>
          <a:xfrm>
            <a:off x="804672" y="1856232"/>
            <a:ext cx="658368" cy="658368"/>
          </a:xfrm>
          <a:prstGeom prst="ellipse">
            <a:avLst/>
          </a:prstGeom>
          <a:solidFill>
            <a:srgbClr val="1F7A4D"/>
          </a:solidFill>
          <a:ln/>
        </p:spPr>
      </p:sp>
      <p:pic>
        <p:nvPicPr>
          <p:cNvPr id="6" name="Image 0" descr="preencoded.png">    </p:cNvPr>
          <p:cNvPicPr>
            <a:picLocks noChangeAspect="1"/>
          </p:cNvPicPr>
          <p:nvPr/>
        </p:nvPicPr>
        <p:blipFill>
          <a:blip r:embed="rId1"/>
          <a:stretch>
            <a:fillRect/>
          </a:stretch>
        </p:blipFill>
        <p:spPr>
          <a:xfrm>
            <a:off x="982431" y="2033991"/>
            <a:ext cx="302849" cy="302849"/>
          </a:xfrm>
          <a:prstGeom prst="rect">
            <a:avLst/>
          </a:prstGeom>
        </p:spPr>
      </p:pic>
      <p:sp>
        <p:nvSpPr>
          <p:cNvPr id="7" name="Text 4"/>
          <p:cNvSpPr/>
          <p:nvPr/>
        </p:nvSpPr>
        <p:spPr>
          <a:xfrm>
            <a:off x="1627632" y="1892808"/>
            <a:ext cx="2286000" cy="548640"/>
          </a:xfrm>
          <a:prstGeom prst="rect">
            <a:avLst/>
          </a:prstGeom>
          <a:noFill/>
          <a:ln/>
        </p:spPr>
        <p:txBody>
          <a:bodyPr wrap="square" lIns="0" tIns="0" rIns="0" bIns="0" rtlCol="0" anchor="ctr"/>
          <a:lstStyle/>
          <a:p>
            <a:pPr indent="0" marL="0">
              <a:buNone/>
            </a:pPr>
            <a:r>
              <a:rPr lang="en-US" sz="1700" b="1" dirty="0">
                <a:solidFill>
                  <a:srgbClr val="1F7A4D"/>
                </a:solidFill>
                <a:latin typeface="Cambria" pitchFamily="34" charset="0"/>
                <a:ea typeface="Cambria" pitchFamily="34" charset="-122"/>
                <a:cs typeface="Cambria" pitchFamily="34" charset="-120"/>
              </a:rPr>
              <a:t>Hang up and call back</a:t>
            </a:r>
            <a:endParaRPr lang="en-US" sz="1700" dirty="0"/>
          </a:p>
        </p:txBody>
      </p:sp>
      <p:sp>
        <p:nvSpPr>
          <p:cNvPr id="8" name="Text 5"/>
          <p:cNvSpPr/>
          <p:nvPr/>
        </p:nvSpPr>
        <p:spPr>
          <a:xfrm>
            <a:off x="804672" y="2560320"/>
            <a:ext cx="3017520" cy="777240"/>
          </a:xfrm>
          <a:prstGeom prst="rect">
            <a:avLst/>
          </a:prstGeom>
          <a:noFill/>
          <a:ln/>
        </p:spPr>
        <p:txBody>
          <a:bodyPr wrap="square" lIns="0" tIns="0" rIns="0" bIns="0" rtlCol="0" anchor="ctr"/>
          <a:lstStyle/>
          <a:p>
            <a:pPr indent="0" marL="0">
              <a:buNone/>
            </a:pPr>
            <a:r>
              <a:rPr lang="en-US" sz="1300" dirty="0">
                <a:solidFill>
                  <a:srgbClr val="16192B"/>
                </a:solidFill>
                <a:latin typeface="Arial" pitchFamily="34" charset="0"/>
                <a:ea typeface="Arial" pitchFamily="34" charset="-122"/>
                <a:cs typeface="Arial" pitchFamily="34" charset="-120"/>
              </a:rPr>
              <a:t>On a number YOU look up — off your card, statement, or the phone book. Never the number they give you.</a:t>
            </a:r>
            <a:endParaRPr lang="en-US" sz="1300" dirty="0"/>
          </a:p>
        </p:txBody>
      </p:sp>
      <p:sp>
        <p:nvSpPr>
          <p:cNvPr id="9" name="Shape 6"/>
          <p:cNvSpPr/>
          <p:nvPr/>
        </p:nvSpPr>
        <p:spPr>
          <a:xfrm>
            <a:off x="4343400" y="1600200"/>
            <a:ext cx="3520440" cy="1828800"/>
          </a:xfrm>
          <a:prstGeom prst="roundRect">
            <a:avLst>
              <a:gd name="adj" fmla="val 5000"/>
            </a:avLst>
          </a:prstGeom>
          <a:solidFill>
            <a:srgbClr val="FFFFFF"/>
          </a:solidFill>
          <a:ln w="12700">
            <a:solidFill>
              <a:srgbClr val="D8E0EF"/>
            </a:solidFill>
            <a:prstDash val="solid"/>
          </a:ln>
        </p:spPr>
      </p:sp>
      <p:sp>
        <p:nvSpPr>
          <p:cNvPr id="10" name="Shape 7"/>
          <p:cNvSpPr/>
          <p:nvPr/>
        </p:nvSpPr>
        <p:spPr>
          <a:xfrm>
            <a:off x="4599432" y="1856232"/>
            <a:ext cx="658368" cy="658368"/>
          </a:xfrm>
          <a:prstGeom prst="ellipse">
            <a:avLst/>
          </a:prstGeom>
          <a:solidFill>
            <a:srgbClr val="1F7A4D"/>
          </a:solidFill>
          <a:ln/>
        </p:spPr>
      </p:sp>
      <p:pic>
        <p:nvPicPr>
          <p:cNvPr id="11" name="Image 1" descr="preencoded.png">    </p:cNvPr>
          <p:cNvPicPr>
            <a:picLocks noChangeAspect="1"/>
          </p:cNvPicPr>
          <p:nvPr/>
        </p:nvPicPr>
        <p:blipFill>
          <a:blip r:embed="rId2"/>
          <a:stretch>
            <a:fillRect/>
          </a:stretch>
        </p:blipFill>
        <p:spPr>
          <a:xfrm>
            <a:off x="4777191" y="2033991"/>
            <a:ext cx="302849" cy="302849"/>
          </a:xfrm>
          <a:prstGeom prst="rect">
            <a:avLst/>
          </a:prstGeom>
        </p:spPr>
      </p:pic>
      <p:sp>
        <p:nvSpPr>
          <p:cNvPr id="12" name="Text 8"/>
          <p:cNvSpPr/>
          <p:nvPr/>
        </p:nvSpPr>
        <p:spPr>
          <a:xfrm>
            <a:off x="5422392" y="1892808"/>
            <a:ext cx="2286000" cy="548640"/>
          </a:xfrm>
          <a:prstGeom prst="rect">
            <a:avLst/>
          </a:prstGeom>
          <a:noFill/>
          <a:ln/>
        </p:spPr>
        <p:txBody>
          <a:bodyPr wrap="square" lIns="0" tIns="0" rIns="0" bIns="0" rtlCol="0" anchor="ctr"/>
          <a:lstStyle/>
          <a:p>
            <a:pPr indent="0" marL="0">
              <a:buNone/>
            </a:pPr>
            <a:r>
              <a:rPr lang="en-US" sz="1700" b="1" dirty="0">
                <a:solidFill>
                  <a:srgbClr val="1F7A4D"/>
                </a:solidFill>
                <a:latin typeface="Cambria" pitchFamily="34" charset="0"/>
                <a:ea typeface="Cambria" pitchFamily="34" charset="-122"/>
                <a:cs typeface="Cambria" pitchFamily="34" charset="-120"/>
              </a:rPr>
              <a:t>Set a family password</a:t>
            </a:r>
            <a:endParaRPr lang="en-US" sz="1700" dirty="0"/>
          </a:p>
        </p:txBody>
      </p:sp>
      <p:sp>
        <p:nvSpPr>
          <p:cNvPr id="13" name="Text 9"/>
          <p:cNvSpPr/>
          <p:nvPr/>
        </p:nvSpPr>
        <p:spPr>
          <a:xfrm>
            <a:off x="4599432" y="2560320"/>
            <a:ext cx="3017520" cy="777240"/>
          </a:xfrm>
          <a:prstGeom prst="rect">
            <a:avLst/>
          </a:prstGeom>
          <a:noFill/>
          <a:ln/>
        </p:spPr>
        <p:txBody>
          <a:bodyPr wrap="square" lIns="0" tIns="0" rIns="0" bIns="0" rtlCol="0" anchor="ctr"/>
          <a:lstStyle/>
          <a:p>
            <a:pPr indent="0" marL="0">
              <a:buNone/>
            </a:pPr>
            <a:r>
              <a:rPr lang="en-US" sz="1300" dirty="0">
                <a:solidFill>
                  <a:srgbClr val="16192B"/>
                </a:solidFill>
                <a:latin typeface="Arial" pitchFamily="34" charset="0"/>
                <a:ea typeface="Arial" pitchFamily="34" charset="-122"/>
                <a:cs typeface="Arial" pitchFamily="34" charset="-120"/>
              </a:rPr>
              <a:t>One phrase. Tonight. It defeats every voice-cloning scam at once.</a:t>
            </a:r>
            <a:endParaRPr lang="en-US" sz="1300" dirty="0"/>
          </a:p>
        </p:txBody>
      </p:sp>
      <p:sp>
        <p:nvSpPr>
          <p:cNvPr id="14" name="Shape 10"/>
          <p:cNvSpPr/>
          <p:nvPr/>
        </p:nvSpPr>
        <p:spPr>
          <a:xfrm>
            <a:off x="8138160" y="1600200"/>
            <a:ext cx="3520440" cy="1828800"/>
          </a:xfrm>
          <a:prstGeom prst="roundRect">
            <a:avLst>
              <a:gd name="adj" fmla="val 5000"/>
            </a:avLst>
          </a:prstGeom>
          <a:solidFill>
            <a:srgbClr val="FFFFFF"/>
          </a:solidFill>
          <a:ln w="12700">
            <a:solidFill>
              <a:srgbClr val="D8E0EF"/>
            </a:solidFill>
            <a:prstDash val="solid"/>
          </a:ln>
        </p:spPr>
      </p:sp>
      <p:sp>
        <p:nvSpPr>
          <p:cNvPr id="15" name="Shape 11"/>
          <p:cNvSpPr/>
          <p:nvPr/>
        </p:nvSpPr>
        <p:spPr>
          <a:xfrm>
            <a:off x="8394192" y="1856232"/>
            <a:ext cx="658368" cy="658368"/>
          </a:xfrm>
          <a:prstGeom prst="ellipse">
            <a:avLst/>
          </a:prstGeom>
          <a:solidFill>
            <a:srgbClr val="1F7A4D"/>
          </a:solidFill>
          <a:ln/>
        </p:spPr>
      </p:sp>
      <p:pic>
        <p:nvPicPr>
          <p:cNvPr id="16" name="Image 2" descr="preencoded.png">    </p:cNvPr>
          <p:cNvPicPr>
            <a:picLocks noChangeAspect="1"/>
          </p:cNvPicPr>
          <p:nvPr/>
        </p:nvPicPr>
        <p:blipFill>
          <a:blip r:embed="rId3"/>
          <a:stretch>
            <a:fillRect/>
          </a:stretch>
        </p:blipFill>
        <p:spPr>
          <a:xfrm>
            <a:off x="8571951" y="2033991"/>
            <a:ext cx="302849" cy="302849"/>
          </a:xfrm>
          <a:prstGeom prst="rect">
            <a:avLst/>
          </a:prstGeom>
        </p:spPr>
      </p:pic>
      <p:sp>
        <p:nvSpPr>
          <p:cNvPr id="17" name="Text 12"/>
          <p:cNvSpPr/>
          <p:nvPr/>
        </p:nvSpPr>
        <p:spPr>
          <a:xfrm>
            <a:off x="9217152" y="1892808"/>
            <a:ext cx="2286000" cy="548640"/>
          </a:xfrm>
          <a:prstGeom prst="rect">
            <a:avLst/>
          </a:prstGeom>
          <a:noFill/>
          <a:ln/>
        </p:spPr>
        <p:txBody>
          <a:bodyPr wrap="square" lIns="0" tIns="0" rIns="0" bIns="0" rtlCol="0" anchor="ctr"/>
          <a:lstStyle/>
          <a:p>
            <a:pPr indent="0" marL="0">
              <a:buNone/>
            </a:pPr>
            <a:r>
              <a:rPr lang="en-US" sz="1700" b="1" dirty="0">
                <a:solidFill>
                  <a:srgbClr val="1F7A4D"/>
                </a:solidFill>
                <a:latin typeface="Cambria" pitchFamily="34" charset="0"/>
                <a:ea typeface="Cambria" pitchFamily="34" charset="-122"/>
                <a:cs typeface="Cambria" pitchFamily="34" charset="-120"/>
              </a:rPr>
              <a:t>Use the 24-hour rule</a:t>
            </a:r>
            <a:endParaRPr lang="en-US" sz="1700" dirty="0"/>
          </a:p>
        </p:txBody>
      </p:sp>
      <p:sp>
        <p:nvSpPr>
          <p:cNvPr id="18" name="Text 13"/>
          <p:cNvSpPr/>
          <p:nvPr/>
        </p:nvSpPr>
        <p:spPr>
          <a:xfrm>
            <a:off x="8394192" y="2560320"/>
            <a:ext cx="3017520" cy="777240"/>
          </a:xfrm>
          <a:prstGeom prst="rect">
            <a:avLst/>
          </a:prstGeom>
          <a:noFill/>
          <a:ln/>
        </p:spPr>
        <p:txBody>
          <a:bodyPr wrap="square" lIns="0" tIns="0" rIns="0" bIns="0" rtlCol="0" anchor="ctr"/>
          <a:lstStyle/>
          <a:p>
            <a:pPr indent="0" marL="0">
              <a:buNone/>
            </a:pPr>
            <a:r>
              <a:rPr lang="en-US" sz="1300" dirty="0">
                <a:solidFill>
                  <a:srgbClr val="16192B"/>
                </a:solidFill>
                <a:latin typeface="Arial" pitchFamily="34" charset="0"/>
                <a:ea typeface="Arial" pitchFamily="34" charset="-122"/>
                <a:cs typeface="Arial" pitchFamily="34" charset="-120"/>
              </a:rPr>
              <a:t>Any request for money waits a day. Real emergencies survive a day. Scams do not.</a:t>
            </a:r>
            <a:endParaRPr lang="en-US" sz="1300" dirty="0"/>
          </a:p>
        </p:txBody>
      </p:sp>
      <p:sp>
        <p:nvSpPr>
          <p:cNvPr id="19" name="Shape 14"/>
          <p:cNvSpPr/>
          <p:nvPr/>
        </p:nvSpPr>
        <p:spPr>
          <a:xfrm>
            <a:off x="548640" y="3703320"/>
            <a:ext cx="3520440" cy="1828800"/>
          </a:xfrm>
          <a:prstGeom prst="roundRect">
            <a:avLst>
              <a:gd name="adj" fmla="val 5000"/>
            </a:avLst>
          </a:prstGeom>
          <a:solidFill>
            <a:srgbClr val="FFFFFF"/>
          </a:solidFill>
          <a:ln w="12700">
            <a:solidFill>
              <a:srgbClr val="D8E0EF"/>
            </a:solidFill>
            <a:prstDash val="solid"/>
          </a:ln>
        </p:spPr>
      </p:sp>
      <p:sp>
        <p:nvSpPr>
          <p:cNvPr id="20" name="Shape 15"/>
          <p:cNvSpPr/>
          <p:nvPr/>
        </p:nvSpPr>
        <p:spPr>
          <a:xfrm>
            <a:off x="804672" y="3959352"/>
            <a:ext cx="658368" cy="658368"/>
          </a:xfrm>
          <a:prstGeom prst="ellipse">
            <a:avLst/>
          </a:prstGeom>
          <a:solidFill>
            <a:srgbClr val="1F7A4D"/>
          </a:solidFill>
          <a:ln/>
        </p:spPr>
      </p:sp>
      <p:pic>
        <p:nvPicPr>
          <p:cNvPr id="21" name="Image 3" descr="preencoded.png">    </p:cNvPr>
          <p:cNvPicPr>
            <a:picLocks noChangeAspect="1"/>
          </p:cNvPicPr>
          <p:nvPr/>
        </p:nvPicPr>
        <p:blipFill>
          <a:blip r:embed="rId4"/>
          <a:stretch>
            <a:fillRect/>
          </a:stretch>
        </p:blipFill>
        <p:spPr>
          <a:xfrm>
            <a:off x="982431" y="4137111"/>
            <a:ext cx="302849" cy="302849"/>
          </a:xfrm>
          <a:prstGeom prst="rect">
            <a:avLst/>
          </a:prstGeom>
        </p:spPr>
      </p:pic>
      <p:sp>
        <p:nvSpPr>
          <p:cNvPr id="22" name="Text 16"/>
          <p:cNvSpPr/>
          <p:nvPr/>
        </p:nvSpPr>
        <p:spPr>
          <a:xfrm>
            <a:off x="1627632" y="3995928"/>
            <a:ext cx="2286000" cy="548640"/>
          </a:xfrm>
          <a:prstGeom prst="rect">
            <a:avLst/>
          </a:prstGeom>
          <a:noFill/>
          <a:ln/>
        </p:spPr>
        <p:txBody>
          <a:bodyPr wrap="square" lIns="0" tIns="0" rIns="0" bIns="0" rtlCol="0" anchor="ctr"/>
          <a:lstStyle/>
          <a:p>
            <a:pPr indent="0" marL="0">
              <a:buNone/>
            </a:pPr>
            <a:r>
              <a:rPr lang="en-US" sz="1700" b="1" dirty="0">
                <a:solidFill>
                  <a:srgbClr val="1F7A4D"/>
                </a:solidFill>
                <a:latin typeface="Cambria" pitchFamily="34" charset="0"/>
                <a:ea typeface="Cambria" pitchFamily="34" charset="-122"/>
                <a:cs typeface="Cambria" pitchFamily="34" charset="-120"/>
              </a:rPr>
              <a:t>Name your "second opinion"</a:t>
            </a:r>
            <a:endParaRPr lang="en-US" sz="1700" dirty="0"/>
          </a:p>
        </p:txBody>
      </p:sp>
      <p:sp>
        <p:nvSpPr>
          <p:cNvPr id="23" name="Text 17"/>
          <p:cNvSpPr/>
          <p:nvPr/>
        </p:nvSpPr>
        <p:spPr>
          <a:xfrm>
            <a:off x="804672" y="4663440"/>
            <a:ext cx="3017520" cy="777240"/>
          </a:xfrm>
          <a:prstGeom prst="rect">
            <a:avLst/>
          </a:prstGeom>
          <a:noFill/>
          <a:ln/>
        </p:spPr>
        <p:txBody>
          <a:bodyPr wrap="square" lIns="0" tIns="0" rIns="0" bIns="0" rtlCol="0" anchor="ctr"/>
          <a:lstStyle/>
          <a:p>
            <a:pPr indent="0" marL="0">
              <a:buNone/>
            </a:pPr>
            <a:r>
              <a:rPr lang="en-US" sz="1300" dirty="0">
                <a:solidFill>
                  <a:srgbClr val="16192B"/>
                </a:solidFill>
                <a:latin typeface="Arial" pitchFamily="34" charset="0"/>
                <a:ea typeface="Arial" pitchFamily="34" charset="-122"/>
                <a:cs typeface="Arial" pitchFamily="34" charset="-120"/>
              </a:rPr>
              <a:t>One person you call before moving money. Tell them tonight that they've got the job.</a:t>
            </a:r>
            <a:endParaRPr lang="en-US" sz="1300" dirty="0"/>
          </a:p>
        </p:txBody>
      </p:sp>
      <p:sp>
        <p:nvSpPr>
          <p:cNvPr id="24" name="Shape 18"/>
          <p:cNvSpPr/>
          <p:nvPr/>
        </p:nvSpPr>
        <p:spPr>
          <a:xfrm>
            <a:off x="4343400" y="3703320"/>
            <a:ext cx="3520440" cy="1828800"/>
          </a:xfrm>
          <a:prstGeom prst="roundRect">
            <a:avLst>
              <a:gd name="adj" fmla="val 5000"/>
            </a:avLst>
          </a:prstGeom>
          <a:solidFill>
            <a:srgbClr val="FFFFFF"/>
          </a:solidFill>
          <a:ln w="12700">
            <a:solidFill>
              <a:srgbClr val="D8E0EF"/>
            </a:solidFill>
            <a:prstDash val="solid"/>
          </a:ln>
        </p:spPr>
      </p:sp>
      <p:sp>
        <p:nvSpPr>
          <p:cNvPr id="25" name="Shape 19"/>
          <p:cNvSpPr/>
          <p:nvPr/>
        </p:nvSpPr>
        <p:spPr>
          <a:xfrm>
            <a:off x="4599432" y="3959352"/>
            <a:ext cx="658368" cy="658368"/>
          </a:xfrm>
          <a:prstGeom prst="ellipse">
            <a:avLst/>
          </a:prstGeom>
          <a:solidFill>
            <a:srgbClr val="1F7A4D"/>
          </a:solidFill>
          <a:ln/>
        </p:spPr>
      </p:sp>
      <p:pic>
        <p:nvPicPr>
          <p:cNvPr id="26" name="Image 4" descr="preencoded.png">    </p:cNvPr>
          <p:cNvPicPr>
            <a:picLocks noChangeAspect="1"/>
          </p:cNvPicPr>
          <p:nvPr/>
        </p:nvPicPr>
        <p:blipFill>
          <a:blip r:embed="rId5"/>
          <a:stretch>
            <a:fillRect/>
          </a:stretch>
        </p:blipFill>
        <p:spPr>
          <a:xfrm>
            <a:off x="4777191" y="4137111"/>
            <a:ext cx="302849" cy="302849"/>
          </a:xfrm>
          <a:prstGeom prst="rect">
            <a:avLst/>
          </a:prstGeom>
        </p:spPr>
      </p:pic>
      <p:sp>
        <p:nvSpPr>
          <p:cNvPr id="27" name="Text 20"/>
          <p:cNvSpPr/>
          <p:nvPr/>
        </p:nvSpPr>
        <p:spPr>
          <a:xfrm>
            <a:off x="5422392" y="3995928"/>
            <a:ext cx="2286000" cy="548640"/>
          </a:xfrm>
          <a:prstGeom prst="rect">
            <a:avLst/>
          </a:prstGeom>
          <a:noFill/>
          <a:ln/>
        </p:spPr>
        <p:txBody>
          <a:bodyPr wrap="square" lIns="0" tIns="0" rIns="0" bIns="0" rtlCol="0" anchor="ctr"/>
          <a:lstStyle/>
          <a:p>
            <a:pPr indent="0" marL="0">
              <a:buNone/>
            </a:pPr>
            <a:r>
              <a:rPr lang="en-US" sz="1700" b="1" dirty="0">
                <a:solidFill>
                  <a:srgbClr val="1F7A4D"/>
                </a:solidFill>
                <a:latin typeface="Cambria" pitchFamily="34" charset="0"/>
                <a:ea typeface="Cambria" pitchFamily="34" charset="-122"/>
                <a:cs typeface="Cambria" pitchFamily="34" charset="-120"/>
              </a:rPr>
              <a:t>Turn on two-step login</a:t>
            </a:r>
            <a:endParaRPr lang="en-US" sz="1700" dirty="0"/>
          </a:p>
        </p:txBody>
      </p:sp>
      <p:sp>
        <p:nvSpPr>
          <p:cNvPr id="28" name="Text 21"/>
          <p:cNvSpPr/>
          <p:nvPr/>
        </p:nvSpPr>
        <p:spPr>
          <a:xfrm>
            <a:off x="4599432" y="4663440"/>
            <a:ext cx="3017520" cy="777240"/>
          </a:xfrm>
          <a:prstGeom prst="rect">
            <a:avLst/>
          </a:prstGeom>
          <a:noFill/>
          <a:ln/>
        </p:spPr>
        <p:txBody>
          <a:bodyPr wrap="square" lIns="0" tIns="0" rIns="0" bIns="0" rtlCol="0" anchor="ctr"/>
          <a:lstStyle/>
          <a:p>
            <a:pPr indent="0" marL="0">
              <a:buNone/>
            </a:pPr>
            <a:r>
              <a:rPr lang="en-US" sz="1300" dirty="0">
                <a:solidFill>
                  <a:srgbClr val="16192B"/>
                </a:solidFill>
                <a:latin typeface="Arial" pitchFamily="34" charset="0"/>
                <a:ea typeface="Arial" pitchFamily="34" charset="-122"/>
                <a:cs typeface="Arial" pitchFamily="34" charset="-120"/>
              </a:rPr>
              <a:t>A code texted to you when you sign in. A stolen password alone stops being enough.</a:t>
            </a:r>
            <a:endParaRPr lang="en-US" sz="1300" dirty="0"/>
          </a:p>
        </p:txBody>
      </p:sp>
      <p:sp>
        <p:nvSpPr>
          <p:cNvPr id="29" name="Shape 22"/>
          <p:cNvSpPr/>
          <p:nvPr/>
        </p:nvSpPr>
        <p:spPr>
          <a:xfrm>
            <a:off x="8138160" y="3703320"/>
            <a:ext cx="3520440" cy="1828800"/>
          </a:xfrm>
          <a:prstGeom prst="roundRect">
            <a:avLst>
              <a:gd name="adj" fmla="val 5000"/>
            </a:avLst>
          </a:prstGeom>
          <a:solidFill>
            <a:srgbClr val="FFFFFF"/>
          </a:solidFill>
          <a:ln w="12700">
            <a:solidFill>
              <a:srgbClr val="D8E0EF"/>
            </a:solidFill>
            <a:prstDash val="solid"/>
          </a:ln>
        </p:spPr>
      </p:sp>
      <p:sp>
        <p:nvSpPr>
          <p:cNvPr id="30" name="Shape 23"/>
          <p:cNvSpPr/>
          <p:nvPr/>
        </p:nvSpPr>
        <p:spPr>
          <a:xfrm>
            <a:off x="8394192" y="3959352"/>
            <a:ext cx="658368" cy="658368"/>
          </a:xfrm>
          <a:prstGeom prst="ellipse">
            <a:avLst/>
          </a:prstGeom>
          <a:solidFill>
            <a:srgbClr val="1F7A4D"/>
          </a:solidFill>
          <a:ln/>
        </p:spPr>
      </p:sp>
      <p:pic>
        <p:nvPicPr>
          <p:cNvPr id="31" name="Image 5" descr="preencoded.png">    </p:cNvPr>
          <p:cNvPicPr>
            <a:picLocks noChangeAspect="1"/>
          </p:cNvPicPr>
          <p:nvPr/>
        </p:nvPicPr>
        <p:blipFill>
          <a:blip r:embed="rId6"/>
          <a:stretch>
            <a:fillRect/>
          </a:stretch>
        </p:blipFill>
        <p:spPr>
          <a:xfrm>
            <a:off x="8571951" y="4137111"/>
            <a:ext cx="302849" cy="302849"/>
          </a:xfrm>
          <a:prstGeom prst="rect">
            <a:avLst/>
          </a:prstGeom>
        </p:spPr>
      </p:pic>
      <p:sp>
        <p:nvSpPr>
          <p:cNvPr id="32" name="Text 24"/>
          <p:cNvSpPr/>
          <p:nvPr/>
        </p:nvSpPr>
        <p:spPr>
          <a:xfrm>
            <a:off x="9217152" y="3995928"/>
            <a:ext cx="2286000" cy="548640"/>
          </a:xfrm>
          <a:prstGeom prst="rect">
            <a:avLst/>
          </a:prstGeom>
          <a:noFill/>
          <a:ln/>
        </p:spPr>
        <p:txBody>
          <a:bodyPr wrap="square" lIns="0" tIns="0" rIns="0" bIns="0" rtlCol="0" anchor="ctr"/>
          <a:lstStyle/>
          <a:p>
            <a:pPr indent="0" marL="0">
              <a:buNone/>
            </a:pPr>
            <a:r>
              <a:rPr lang="en-US" sz="1700" b="1" dirty="0">
                <a:solidFill>
                  <a:srgbClr val="1F7A4D"/>
                </a:solidFill>
                <a:latin typeface="Cambria" pitchFamily="34" charset="0"/>
                <a:ea typeface="Cambria" pitchFamily="34" charset="-122"/>
                <a:cs typeface="Cambria" pitchFamily="34" charset="-120"/>
              </a:rPr>
              <a:t>Freeze your credit</a:t>
            </a:r>
            <a:endParaRPr lang="en-US" sz="1700" dirty="0"/>
          </a:p>
        </p:txBody>
      </p:sp>
      <p:sp>
        <p:nvSpPr>
          <p:cNvPr id="33" name="Text 25"/>
          <p:cNvSpPr/>
          <p:nvPr/>
        </p:nvSpPr>
        <p:spPr>
          <a:xfrm>
            <a:off x="8394192" y="4663440"/>
            <a:ext cx="3017520" cy="777240"/>
          </a:xfrm>
          <a:prstGeom prst="rect">
            <a:avLst/>
          </a:prstGeom>
          <a:noFill/>
          <a:ln/>
        </p:spPr>
        <p:txBody>
          <a:bodyPr wrap="square" lIns="0" tIns="0" rIns="0" bIns="0" rtlCol="0" anchor="ctr"/>
          <a:lstStyle/>
          <a:p>
            <a:pPr indent="0" marL="0">
              <a:buNone/>
            </a:pPr>
            <a:r>
              <a:rPr lang="en-US" sz="1300" dirty="0">
                <a:solidFill>
                  <a:srgbClr val="16192B"/>
                </a:solidFill>
                <a:latin typeface="Arial" pitchFamily="34" charset="0"/>
                <a:ea typeface="Arial" pitchFamily="34" charset="-122"/>
                <a:cs typeface="Arial" pitchFamily="34" charset="-120"/>
              </a:rPr>
              <a:t>Free at all three bureaus. Stops anyone opening accounts in your name.</a:t>
            </a:r>
            <a:endParaRPr lang="en-US" sz="1300" dirty="0"/>
          </a:p>
        </p:txBody>
      </p:sp>
      <p:sp>
        <p:nvSpPr>
          <p:cNvPr id="34" name="Text 26"/>
          <p:cNvSpPr/>
          <p:nvPr/>
        </p:nvSpPr>
        <p:spPr>
          <a:xfrm>
            <a:off x="548640" y="5806440"/>
            <a:ext cx="1106424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Arial" pitchFamily="34" charset="0"/>
                <a:ea typeface="Arial" pitchFamily="34" charset="-122"/>
                <a:cs typeface="Arial" pitchFamily="34" charset="-120"/>
              </a:rPr>
              <a:t>Every one of these is free, and none of them require you to be good with computers.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PRIVACY IS SCAM DEFENSE</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Give them less to work with</a:t>
            </a:r>
            <a:endParaRPr lang="en-US" sz="3400" dirty="0"/>
          </a:p>
        </p:txBody>
      </p:sp>
      <p:sp>
        <p:nvSpPr>
          <p:cNvPr id="4" name="Shape 2"/>
          <p:cNvSpPr/>
          <p:nvPr/>
        </p:nvSpPr>
        <p:spPr>
          <a:xfrm>
            <a:off x="548640" y="1600200"/>
            <a:ext cx="3520440" cy="1828800"/>
          </a:xfrm>
          <a:prstGeom prst="roundRect">
            <a:avLst>
              <a:gd name="adj" fmla="val 5000"/>
            </a:avLst>
          </a:prstGeom>
          <a:solidFill>
            <a:srgbClr val="FFFFFF"/>
          </a:solidFill>
          <a:ln w="12700">
            <a:solidFill>
              <a:srgbClr val="D8E0EF"/>
            </a:solidFill>
            <a:prstDash val="solid"/>
          </a:ln>
        </p:spPr>
      </p:sp>
      <p:sp>
        <p:nvSpPr>
          <p:cNvPr id="5" name="Shape 3"/>
          <p:cNvSpPr/>
          <p:nvPr/>
        </p:nvSpPr>
        <p:spPr>
          <a:xfrm>
            <a:off x="804672" y="1856232"/>
            <a:ext cx="658368" cy="658368"/>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982431" y="2033991"/>
            <a:ext cx="302849" cy="302849"/>
          </a:xfrm>
          <a:prstGeom prst="rect">
            <a:avLst/>
          </a:prstGeom>
        </p:spPr>
      </p:pic>
      <p:sp>
        <p:nvSpPr>
          <p:cNvPr id="7" name="Text 4"/>
          <p:cNvSpPr/>
          <p:nvPr/>
        </p:nvSpPr>
        <p:spPr>
          <a:xfrm>
            <a:off x="1627632" y="1892808"/>
            <a:ext cx="2286000" cy="5486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Lock your social media</a:t>
            </a:r>
            <a:endParaRPr lang="en-US" sz="1700" dirty="0"/>
          </a:p>
        </p:txBody>
      </p:sp>
      <p:sp>
        <p:nvSpPr>
          <p:cNvPr id="8" name="Text 5"/>
          <p:cNvSpPr/>
          <p:nvPr/>
        </p:nvSpPr>
        <p:spPr>
          <a:xfrm>
            <a:off x="804672" y="2560320"/>
            <a:ext cx="3017520" cy="777240"/>
          </a:xfrm>
          <a:prstGeom prst="rect">
            <a:avLst/>
          </a:prstGeom>
          <a:noFill/>
          <a:ln/>
        </p:spPr>
        <p:txBody>
          <a:bodyPr wrap="square" lIns="0" tIns="0" rIns="0" bIns="0" rtlCol="0" anchor="ctr"/>
          <a:lstStyle/>
          <a:p>
            <a:pPr indent="0" marL="0">
              <a:buNone/>
            </a:pPr>
            <a:r>
              <a:rPr lang="en-US" sz="1300" dirty="0">
                <a:solidFill>
                  <a:srgbClr val="16192B"/>
                </a:solidFill>
                <a:latin typeface="Arial" pitchFamily="34" charset="0"/>
                <a:ea typeface="Arial" pitchFamily="34" charset="-122"/>
                <a:cs typeface="Arial" pitchFamily="34" charset="-120"/>
              </a:rPr>
              <a:t>Set profiles to friends-only. Remove your birth year, phone number, and home address.</a:t>
            </a:r>
            <a:endParaRPr lang="en-US" sz="1300" dirty="0"/>
          </a:p>
        </p:txBody>
      </p:sp>
      <p:sp>
        <p:nvSpPr>
          <p:cNvPr id="9" name="Shape 6"/>
          <p:cNvSpPr/>
          <p:nvPr/>
        </p:nvSpPr>
        <p:spPr>
          <a:xfrm>
            <a:off x="4343400" y="1600200"/>
            <a:ext cx="3520440" cy="1828800"/>
          </a:xfrm>
          <a:prstGeom prst="roundRect">
            <a:avLst>
              <a:gd name="adj" fmla="val 5000"/>
            </a:avLst>
          </a:prstGeom>
          <a:solidFill>
            <a:srgbClr val="FFFFFF"/>
          </a:solidFill>
          <a:ln w="12700">
            <a:solidFill>
              <a:srgbClr val="D8E0EF"/>
            </a:solidFill>
            <a:prstDash val="solid"/>
          </a:ln>
        </p:spPr>
      </p:sp>
      <p:sp>
        <p:nvSpPr>
          <p:cNvPr id="10" name="Shape 7"/>
          <p:cNvSpPr/>
          <p:nvPr/>
        </p:nvSpPr>
        <p:spPr>
          <a:xfrm>
            <a:off x="4599432" y="1856232"/>
            <a:ext cx="658368" cy="658368"/>
          </a:xfrm>
          <a:prstGeom prst="ellipse">
            <a:avLst/>
          </a:prstGeom>
          <a:solidFill>
            <a:srgbClr val="1E2761"/>
          </a:solidFill>
          <a:ln/>
        </p:spPr>
      </p:sp>
      <p:pic>
        <p:nvPicPr>
          <p:cNvPr id="11" name="Image 1" descr="preencoded.png">    </p:cNvPr>
          <p:cNvPicPr>
            <a:picLocks noChangeAspect="1"/>
          </p:cNvPicPr>
          <p:nvPr/>
        </p:nvPicPr>
        <p:blipFill>
          <a:blip r:embed="rId2"/>
          <a:stretch>
            <a:fillRect/>
          </a:stretch>
        </p:blipFill>
        <p:spPr>
          <a:xfrm>
            <a:off x="4777191" y="2033991"/>
            <a:ext cx="302849" cy="302849"/>
          </a:xfrm>
          <a:prstGeom prst="rect">
            <a:avLst/>
          </a:prstGeom>
        </p:spPr>
      </p:pic>
      <p:sp>
        <p:nvSpPr>
          <p:cNvPr id="12" name="Text 8"/>
          <p:cNvSpPr/>
          <p:nvPr/>
        </p:nvSpPr>
        <p:spPr>
          <a:xfrm>
            <a:off x="5422392" y="1892808"/>
            <a:ext cx="2286000" cy="5486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Post trips afterward</a:t>
            </a:r>
            <a:endParaRPr lang="en-US" sz="1700" dirty="0"/>
          </a:p>
        </p:txBody>
      </p:sp>
      <p:sp>
        <p:nvSpPr>
          <p:cNvPr id="13" name="Text 9"/>
          <p:cNvSpPr/>
          <p:nvPr/>
        </p:nvSpPr>
        <p:spPr>
          <a:xfrm>
            <a:off x="4599432" y="2560320"/>
            <a:ext cx="3017520" cy="777240"/>
          </a:xfrm>
          <a:prstGeom prst="rect">
            <a:avLst/>
          </a:prstGeom>
          <a:noFill/>
          <a:ln/>
        </p:spPr>
        <p:txBody>
          <a:bodyPr wrap="square" lIns="0" tIns="0" rIns="0" bIns="0" rtlCol="0" anchor="ctr"/>
          <a:lstStyle/>
          <a:p>
            <a:pPr indent="0" marL="0">
              <a:buNone/>
            </a:pPr>
            <a:r>
              <a:rPr lang="en-US" sz="1300" dirty="0">
                <a:solidFill>
                  <a:srgbClr val="16192B"/>
                </a:solidFill>
                <a:latin typeface="Arial" pitchFamily="34" charset="0"/>
                <a:ea typeface="Arial" pitchFamily="34" charset="-122"/>
                <a:cs typeface="Arial" pitchFamily="34" charset="-120"/>
              </a:rPr>
              <a:t>Share the vacation photos when you get home — not while your apartment sits empty.</a:t>
            </a:r>
            <a:endParaRPr lang="en-US" sz="1300" dirty="0"/>
          </a:p>
        </p:txBody>
      </p:sp>
      <p:sp>
        <p:nvSpPr>
          <p:cNvPr id="14" name="Shape 10"/>
          <p:cNvSpPr/>
          <p:nvPr/>
        </p:nvSpPr>
        <p:spPr>
          <a:xfrm>
            <a:off x="8138160" y="1600200"/>
            <a:ext cx="3520440" cy="1828800"/>
          </a:xfrm>
          <a:prstGeom prst="roundRect">
            <a:avLst>
              <a:gd name="adj" fmla="val 5000"/>
            </a:avLst>
          </a:prstGeom>
          <a:solidFill>
            <a:srgbClr val="FFFFFF"/>
          </a:solidFill>
          <a:ln w="12700">
            <a:solidFill>
              <a:srgbClr val="D8E0EF"/>
            </a:solidFill>
            <a:prstDash val="solid"/>
          </a:ln>
        </p:spPr>
      </p:sp>
      <p:sp>
        <p:nvSpPr>
          <p:cNvPr id="15" name="Shape 11"/>
          <p:cNvSpPr/>
          <p:nvPr/>
        </p:nvSpPr>
        <p:spPr>
          <a:xfrm>
            <a:off x="8394192" y="1856232"/>
            <a:ext cx="658368" cy="658368"/>
          </a:xfrm>
          <a:prstGeom prst="ellipse">
            <a:avLst/>
          </a:prstGeom>
          <a:solidFill>
            <a:srgbClr val="1E2761"/>
          </a:solidFill>
          <a:ln/>
        </p:spPr>
      </p:sp>
      <p:pic>
        <p:nvPicPr>
          <p:cNvPr id="16" name="Image 2" descr="preencoded.png">    </p:cNvPr>
          <p:cNvPicPr>
            <a:picLocks noChangeAspect="1"/>
          </p:cNvPicPr>
          <p:nvPr/>
        </p:nvPicPr>
        <p:blipFill>
          <a:blip r:embed="rId3"/>
          <a:stretch>
            <a:fillRect/>
          </a:stretch>
        </p:blipFill>
        <p:spPr>
          <a:xfrm>
            <a:off x="8571951" y="2033991"/>
            <a:ext cx="302849" cy="302849"/>
          </a:xfrm>
          <a:prstGeom prst="rect">
            <a:avLst/>
          </a:prstGeom>
        </p:spPr>
      </p:pic>
      <p:sp>
        <p:nvSpPr>
          <p:cNvPr id="17" name="Text 12"/>
          <p:cNvSpPr/>
          <p:nvPr/>
        </p:nvSpPr>
        <p:spPr>
          <a:xfrm>
            <a:off x="9217152" y="1892808"/>
            <a:ext cx="2286000" cy="5486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Protect their voices</a:t>
            </a:r>
            <a:endParaRPr lang="en-US" sz="1700" dirty="0"/>
          </a:p>
        </p:txBody>
      </p:sp>
      <p:sp>
        <p:nvSpPr>
          <p:cNvPr id="18" name="Text 13"/>
          <p:cNvSpPr/>
          <p:nvPr/>
        </p:nvSpPr>
        <p:spPr>
          <a:xfrm>
            <a:off x="8394192" y="2560320"/>
            <a:ext cx="3017520" cy="777240"/>
          </a:xfrm>
          <a:prstGeom prst="rect">
            <a:avLst/>
          </a:prstGeom>
          <a:noFill/>
          <a:ln/>
        </p:spPr>
        <p:txBody>
          <a:bodyPr wrap="square" lIns="0" tIns="0" rIns="0" bIns="0" rtlCol="0" anchor="ctr"/>
          <a:lstStyle/>
          <a:p>
            <a:pPr indent="0" marL="0">
              <a:buNone/>
            </a:pPr>
            <a:r>
              <a:rPr lang="en-US" sz="1300" dirty="0">
                <a:solidFill>
                  <a:srgbClr val="16192B"/>
                </a:solidFill>
                <a:latin typeface="Arial" pitchFamily="34" charset="0"/>
                <a:ea typeface="Arial" pitchFamily="34" charset="-122"/>
                <a:cs typeface="Arial" pitchFamily="34" charset="-120"/>
              </a:rPr>
              <a:t>Public videos of grandchildren talking are raw material for voice cloning. Ask their parents to go private.</a:t>
            </a:r>
            <a:endParaRPr lang="en-US" sz="1300" dirty="0"/>
          </a:p>
        </p:txBody>
      </p:sp>
      <p:sp>
        <p:nvSpPr>
          <p:cNvPr id="19" name="Shape 14"/>
          <p:cNvSpPr/>
          <p:nvPr/>
        </p:nvSpPr>
        <p:spPr>
          <a:xfrm>
            <a:off x="548640" y="3703320"/>
            <a:ext cx="3520440" cy="1828800"/>
          </a:xfrm>
          <a:prstGeom prst="roundRect">
            <a:avLst>
              <a:gd name="adj" fmla="val 5000"/>
            </a:avLst>
          </a:prstGeom>
          <a:solidFill>
            <a:srgbClr val="FFFFFF"/>
          </a:solidFill>
          <a:ln w="12700">
            <a:solidFill>
              <a:srgbClr val="D8E0EF"/>
            </a:solidFill>
            <a:prstDash val="solid"/>
          </a:ln>
        </p:spPr>
      </p:sp>
      <p:sp>
        <p:nvSpPr>
          <p:cNvPr id="20" name="Shape 15"/>
          <p:cNvSpPr/>
          <p:nvPr/>
        </p:nvSpPr>
        <p:spPr>
          <a:xfrm>
            <a:off x="804672" y="3959352"/>
            <a:ext cx="658368" cy="658368"/>
          </a:xfrm>
          <a:prstGeom prst="ellipse">
            <a:avLst/>
          </a:prstGeom>
          <a:solidFill>
            <a:srgbClr val="1E2761"/>
          </a:solidFill>
          <a:ln/>
        </p:spPr>
      </p:sp>
      <p:pic>
        <p:nvPicPr>
          <p:cNvPr id="21" name="Image 3" descr="preencoded.png">    </p:cNvPr>
          <p:cNvPicPr>
            <a:picLocks noChangeAspect="1"/>
          </p:cNvPicPr>
          <p:nvPr/>
        </p:nvPicPr>
        <p:blipFill>
          <a:blip r:embed="rId4"/>
          <a:stretch>
            <a:fillRect/>
          </a:stretch>
        </p:blipFill>
        <p:spPr>
          <a:xfrm>
            <a:off x="982431" y="4137111"/>
            <a:ext cx="302849" cy="302849"/>
          </a:xfrm>
          <a:prstGeom prst="rect">
            <a:avLst/>
          </a:prstGeom>
        </p:spPr>
      </p:pic>
      <p:sp>
        <p:nvSpPr>
          <p:cNvPr id="22" name="Text 16"/>
          <p:cNvSpPr/>
          <p:nvPr/>
        </p:nvSpPr>
        <p:spPr>
          <a:xfrm>
            <a:off x="1627632" y="3995928"/>
            <a:ext cx="2286000" cy="5486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Skip the fun quizzes</a:t>
            </a:r>
            <a:endParaRPr lang="en-US" sz="1700" dirty="0"/>
          </a:p>
        </p:txBody>
      </p:sp>
      <p:sp>
        <p:nvSpPr>
          <p:cNvPr id="23" name="Text 17"/>
          <p:cNvSpPr/>
          <p:nvPr/>
        </p:nvSpPr>
        <p:spPr>
          <a:xfrm>
            <a:off x="804672" y="4663440"/>
            <a:ext cx="3017520" cy="777240"/>
          </a:xfrm>
          <a:prstGeom prst="rect">
            <a:avLst/>
          </a:prstGeom>
          <a:noFill/>
          <a:ln/>
        </p:spPr>
        <p:txBody>
          <a:bodyPr wrap="square" lIns="0" tIns="0" rIns="0" bIns="0" rtlCol="0" anchor="ctr"/>
          <a:lstStyle/>
          <a:p>
            <a:pPr indent="0" marL="0">
              <a:buNone/>
            </a:pPr>
            <a:r>
              <a:rPr lang="en-US" sz="1300" dirty="0">
                <a:solidFill>
                  <a:srgbClr val="16192B"/>
                </a:solidFill>
                <a:latin typeface="Arial" pitchFamily="34" charset="0"/>
                <a:ea typeface="Arial" pitchFamily="34" charset="-122"/>
                <a:cs typeface="Arial" pitchFamily="34" charset="-120"/>
              </a:rPr>
              <a:t>First pet? Street you grew up on? Those are the answers to your bank's security questions.</a:t>
            </a:r>
            <a:endParaRPr lang="en-US" sz="1300" dirty="0"/>
          </a:p>
        </p:txBody>
      </p:sp>
      <p:sp>
        <p:nvSpPr>
          <p:cNvPr id="24" name="Shape 18"/>
          <p:cNvSpPr/>
          <p:nvPr/>
        </p:nvSpPr>
        <p:spPr>
          <a:xfrm>
            <a:off x="4343400" y="3703320"/>
            <a:ext cx="3520440" cy="1828800"/>
          </a:xfrm>
          <a:prstGeom prst="roundRect">
            <a:avLst>
              <a:gd name="adj" fmla="val 5000"/>
            </a:avLst>
          </a:prstGeom>
          <a:solidFill>
            <a:srgbClr val="FFFFFF"/>
          </a:solidFill>
          <a:ln w="12700">
            <a:solidFill>
              <a:srgbClr val="D8E0EF"/>
            </a:solidFill>
            <a:prstDash val="solid"/>
          </a:ln>
        </p:spPr>
      </p:sp>
      <p:sp>
        <p:nvSpPr>
          <p:cNvPr id="25" name="Shape 19"/>
          <p:cNvSpPr/>
          <p:nvPr/>
        </p:nvSpPr>
        <p:spPr>
          <a:xfrm>
            <a:off x="4599432" y="3959352"/>
            <a:ext cx="658368" cy="658368"/>
          </a:xfrm>
          <a:prstGeom prst="ellipse">
            <a:avLst/>
          </a:prstGeom>
          <a:solidFill>
            <a:srgbClr val="1E2761"/>
          </a:solidFill>
          <a:ln/>
        </p:spPr>
      </p:sp>
      <p:pic>
        <p:nvPicPr>
          <p:cNvPr id="26" name="Image 4" descr="preencoded.png">    </p:cNvPr>
          <p:cNvPicPr>
            <a:picLocks noChangeAspect="1"/>
          </p:cNvPicPr>
          <p:nvPr/>
        </p:nvPicPr>
        <p:blipFill>
          <a:blip r:embed="rId5"/>
          <a:stretch>
            <a:fillRect/>
          </a:stretch>
        </p:blipFill>
        <p:spPr>
          <a:xfrm>
            <a:off x="4777191" y="4137111"/>
            <a:ext cx="302849" cy="302849"/>
          </a:xfrm>
          <a:prstGeom prst="rect">
            <a:avLst/>
          </a:prstGeom>
        </p:spPr>
      </p:pic>
      <p:sp>
        <p:nvSpPr>
          <p:cNvPr id="27" name="Text 20"/>
          <p:cNvSpPr/>
          <p:nvPr/>
        </p:nvSpPr>
        <p:spPr>
          <a:xfrm>
            <a:off x="5422392" y="3995928"/>
            <a:ext cx="2286000" cy="5486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Guard your email most</a:t>
            </a:r>
            <a:endParaRPr lang="en-US" sz="1700" dirty="0"/>
          </a:p>
        </p:txBody>
      </p:sp>
      <p:sp>
        <p:nvSpPr>
          <p:cNvPr id="28" name="Text 21"/>
          <p:cNvSpPr/>
          <p:nvPr/>
        </p:nvSpPr>
        <p:spPr>
          <a:xfrm>
            <a:off x="4599432" y="4663440"/>
            <a:ext cx="3017520" cy="777240"/>
          </a:xfrm>
          <a:prstGeom prst="rect">
            <a:avLst/>
          </a:prstGeom>
          <a:noFill/>
          <a:ln/>
        </p:spPr>
        <p:txBody>
          <a:bodyPr wrap="square" lIns="0" tIns="0" rIns="0" bIns="0" rtlCol="0" anchor="ctr"/>
          <a:lstStyle/>
          <a:p>
            <a:pPr indent="0" marL="0">
              <a:buNone/>
            </a:pPr>
            <a:r>
              <a:rPr lang="en-US" sz="1300" dirty="0">
                <a:solidFill>
                  <a:srgbClr val="16192B"/>
                </a:solidFill>
                <a:latin typeface="Arial" pitchFamily="34" charset="0"/>
                <a:ea typeface="Arial" pitchFamily="34" charset="-122"/>
                <a:cs typeface="Arial" pitchFamily="34" charset="-120"/>
              </a:rPr>
              <a:t>Email can reset every other password you own. Give it a unique password and two-step login.</a:t>
            </a:r>
            <a:endParaRPr lang="en-US" sz="1300" dirty="0"/>
          </a:p>
        </p:txBody>
      </p:sp>
      <p:sp>
        <p:nvSpPr>
          <p:cNvPr id="29" name="Shape 22"/>
          <p:cNvSpPr/>
          <p:nvPr/>
        </p:nvSpPr>
        <p:spPr>
          <a:xfrm>
            <a:off x="8138160" y="3703320"/>
            <a:ext cx="3520440" cy="1828800"/>
          </a:xfrm>
          <a:prstGeom prst="roundRect">
            <a:avLst>
              <a:gd name="adj" fmla="val 5000"/>
            </a:avLst>
          </a:prstGeom>
          <a:solidFill>
            <a:srgbClr val="FFFFFF"/>
          </a:solidFill>
          <a:ln w="12700">
            <a:solidFill>
              <a:srgbClr val="D8E0EF"/>
            </a:solidFill>
            <a:prstDash val="solid"/>
          </a:ln>
        </p:spPr>
      </p:sp>
      <p:sp>
        <p:nvSpPr>
          <p:cNvPr id="30" name="Shape 23"/>
          <p:cNvSpPr/>
          <p:nvPr/>
        </p:nvSpPr>
        <p:spPr>
          <a:xfrm>
            <a:off x="8394192" y="3959352"/>
            <a:ext cx="658368" cy="658368"/>
          </a:xfrm>
          <a:prstGeom prst="ellipse">
            <a:avLst/>
          </a:prstGeom>
          <a:solidFill>
            <a:srgbClr val="1E2761"/>
          </a:solidFill>
          <a:ln/>
        </p:spPr>
      </p:sp>
      <p:pic>
        <p:nvPicPr>
          <p:cNvPr id="31" name="Image 5" descr="preencoded.png">    </p:cNvPr>
          <p:cNvPicPr>
            <a:picLocks noChangeAspect="1"/>
          </p:cNvPicPr>
          <p:nvPr/>
        </p:nvPicPr>
        <p:blipFill>
          <a:blip r:embed="rId6"/>
          <a:stretch>
            <a:fillRect/>
          </a:stretch>
        </p:blipFill>
        <p:spPr>
          <a:xfrm>
            <a:off x="8571951" y="4137111"/>
            <a:ext cx="302849" cy="302849"/>
          </a:xfrm>
          <a:prstGeom prst="rect">
            <a:avLst/>
          </a:prstGeom>
        </p:spPr>
      </p:pic>
      <p:sp>
        <p:nvSpPr>
          <p:cNvPr id="32" name="Text 24"/>
          <p:cNvSpPr/>
          <p:nvPr/>
        </p:nvSpPr>
        <p:spPr>
          <a:xfrm>
            <a:off x="9217152" y="3995928"/>
            <a:ext cx="2286000" cy="5486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Opt out of data brokers</a:t>
            </a:r>
            <a:endParaRPr lang="en-US" sz="1700" dirty="0"/>
          </a:p>
        </p:txBody>
      </p:sp>
      <p:sp>
        <p:nvSpPr>
          <p:cNvPr id="33" name="Text 25"/>
          <p:cNvSpPr/>
          <p:nvPr/>
        </p:nvSpPr>
        <p:spPr>
          <a:xfrm>
            <a:off x="8394192" y="4663440"/>
            <a:ext cx="3017520" cy="777240"/>
          </a:xfrm>
          <a:prstGeom prst="rect">
            <a:avLst/>
          </a:prstGeom>
          <a:noFill/>
          <a:ln/>
        </p:spPr>
        <p:txBody>
          <a:bodyPr wrap="square" lIns="0" tIns="0" rIns="0" bIns="0" rtlCol="0" anchor="ctr"/>
          <a:lstStyle/>
          <a:p>
            <a:pPr indent="0" marL="0">
              <a:buNone/>
            </a:pPr>
            <a:r>
              <a:rPr lang="en-US" sz="1300" dirty="0">
                <a:solidFill>
                  <a:srgbClr val="16192B"/>
                </a:solidFill>
                <a:latin typeface="Arial" pitchFamily="34" charset="0"/>
                <a:ea typeface="Arial" pitchFamily="34" charset="-122"/>
                <a:cs typeface="Arial" pitchFamily="34" charset="-120"/>
              </a:rPr>
              <a:t>Removal requests are free at the big ones. An hour once a year, ideally with family helping.</a:t>
            </a:r>
            <a:endParaRPr lang="en-US" sz="1300" dirty="0"/>
          </a:p>
        </p:txBody>
      </p:sp>
      <p:sp>
        <p:nvSpPr>
          <p:cNvPr id="34" name="Text 26"/>
          <p:cNvSpPr/>
          <p:nvPr/>
        </p:nvSpPr>
        <p:spPr>
          <a:xfrm>
            <a:off x="548640" y="5806440"/>
            <a:ext cx="11064240" cy="365760"/>
          </a:xfrm>
          <a:prstGeom prst="rect">
            <a:avLst/>
          </a:prstGeom>
          <a:noFill/>
          <a:ln/>
        </p:spPr>
        <p:txBody>
          <a:bodyPr wrap="square" lIns="0" tIns="0" rIns="0" bIns="0" rtlCol="0" anchor="ctr"/>
          <a:lstStyle/>
          <a:p>
            <a:pPr algn="ctr" indent="0" marL="0">
              <a:buNone/>
            </a:pPr>
            <a:r>
              <a:rPr lang="en-US" sz="1600" b="1" dirty="0">
                <a:solidFill>
                  <a:srgbClr val="1E2761"/>
                </a:solidFill>
                <a:latin typeface="Arial" pitchFamily="34" charset="0"/>
                <a:ea typeface="Arial" pitchFamily="34" charset="-122"/>
                <a:cs typeface="Arial" pitchFamily="34" charset="-120"/>
              </a:rPr>
              <a:t>You can't undo every leak — and you don't have to. You only have to be a slower, more expensive target than the next person.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48640"/>
            <a:ext cx="10881360"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Your permission slip</a:t>
            </a:r>
            <a:endParaRPr lang="en-US" sz="3800" dirty="0"/>
          </a:p>
        </p:txBody>
      </p:sp>
      <p:sp>
        <p:nvSpPr>
          <p:cNvPr id="3" name="Text 1"/>
          <p:cNvSpPr/>
          <p:nvPr/>
        </p:nvSpPr>
        <p:spPr>
          <a:xfrm>
            <a:off x="640080" y="1280160"/>
            <a:ext cx="10881360" cy="411480"/>
          </a:xfrm>
          <a:prstGeom prst="rect">
            <a:avLst/>
          </a:prstGeom>
          <a:noFill/>
          <a:ln/>
        </p:spPr>
        <p:txBody>
          <a:bodyPr wrap="square" lIns="0" tIns="0" rIns="0" bIns="0" rtlCol="0" anchor="ctr"/>
          <a:lstStyle/>
          <a:p>
            <a:pPr indent="0" marL="0">
              <a:buNone/>
            </a:pPr>
            <a:r>
              <a:rPr lang="en-US" sz="1900" dirty="0">
                <a:solidFill>
                  <a:srgbClr val="E39A20"/>
                </a:solidFill>
                <a:latin typeface="Arial" pitchFamily="34" charset="0"/>
                <a:ea typeface="Arial" pitchFamily="34" charset="-122"/>
                <a:cs typeface="Arial" pitchFamily="34" charset="-120"/>
              </a:rPr>
              <a:t>You are allowed to be rude to a stranger who called you. Here's your script.</a:t>
            </a:r>
            <a:endParaRPr lang="en-US" sz="1900" dirty="0"/>
          </a:p>
        </p:txBody>
      </p:sp>
      <p:sp>
        <p:nvSpPr>
          <p:cNvPr id="4" name="Shape 2"/>
          <p:cNvSpPr/>
          <p:nvPr/>
        </p:nvSpPr>
        <p:spPr>
          <a:xfrm>
            <a:off x="640080" y="2011680"/>
            <a:ext cx="10881360" cy="713232"/>
          </a:xfrm>
          <a:prstGeom prst="roundRect">
            <a:avLst>
              <a:gd name="adj" fmla="val 10256"/>
            </a:avLst>
          </a:prstGeom>
          <a:solidFill>
            <a:srgbClr val="27346F"/>
          </a:solidFill>
          <a:ln/>
        </p:spPr>
      </p:sp>
      <p:sp>
        <p:nvSpPr>
          <p:cNvPr id="5" name="Text 3"/>
          <p:cNvSpPr/>
          <p:nvPr/>
        </p:nvSpPr>
        <p:spPr>
          <a:xfrm>
            <a:off x="1005840" y="2011680"/>
            <a:ext cx="10149840" cy="713232"/>
          </a:xfrm>
          <a:prstGeom prst="rect">
            <a:avLst/>
          </a:prstGeom>
          <a:noFill/>
          <a:ln/>
        </p:spPr>
        <p:txBody>
          <a:bodyPr wrap="square" lIns="0" tIns="0" rIns="0" bIns="0" rtlCol="0" anchor="ctr"/>
          <a:lstStyle/>
          <a:p>
            <a:pPr indent="0" marL="0">
              <a:buNone/>
            </a:pPr>
            <a:r>
              <a:rPr lang="en-US" sz="2200" i="1" dirty="0">
                <a:solidFill>
                  <a:srgbClr val="FFFFFF"/>
                </a:solidFill>
                <a:latin typeface="Cambria" pitchFamily="34" charset="0"/>
                <a:ea typeface="Cambria" pitchFamily="34" charset="-122"/>
                <a:cs typeface="Cambria" pitchFamily="34" charset="-120"/>
              </a:rPr>
              <a:t>"I don't do business over the phone. Goodbye."</a:t>
            </a:r>
            <a:endParaRPr lang="en-US" sz="2200" dirty="0"/>
          </a:p>
        </p:txBody>
      </p:sp>
      <p:sp>
        <p:nvSpPr>
          <p:cNvPr id="6" name="Shape 4"/>
          <p:cNvSpPr/>
          <p:nvPr/>
        </p:nvSpPr>
        <p:spPr>
          <a:xfrm>
            <a:off x="640080" y="2880360"/>
            <a:ext cx="10881360" cy="713232"/>
          </a:xfrm>
          <a:prstGeom prst="roundRect">
            <a:avLst>
              <a:gd name="adj" fmla="val 10256"/>
            </a:avLst>
          </a:prstGeom>
          <a:solidFill>
            <a:srgbClr val="27346F"/>
          </a:solidFill>
          <a:ln/>
        </p:spPr>
      </p:sp>
      <p:sp>
        <p:nvSpPr>
          <p:cNvPr id="7" name="Text 5"/>
          <p:cNvSpPr/>
          <p:nvPr/>
        </p:nvSpPr>
        <p:spPr>
          <a:xfrm>
            <a:off x="1005840" y="2880360"/>
            <a:ext cx="10149840" cy="713232"/>
          </a:xfrm>
          <a:prstGeom prst="rect">
            <a:avLst/>
          </a:prstGeom>
          <a:noFill/>
          <a:ln/>
        </p:spPr>
        <p:txBody>
          <a:bodyPr wrap="square" lIns="0" tIns="0" rIns="0" bIns="0" rtlCol="0" anchor="ctr"/>
          <a:lstStyle/>
          <a:p>
            <a:pPr indent="0" marL="0">
              <a:buNone/>
            </a:pPr>
            <a:r>
              <a:rPr lang="en-US" sz="2200" i="1" dirty="0">
                <a:solidFill>
                  <a:srgbClr val="FFFFFF"/>
                </a:solidFill>
                <a:latin typeface="Cambria" pitchFamily="34" charset="0"/>
                <a:ea typeface="Cambria" pitchFamily="34" charset="-122"/>
                <a:cs typeface="Cambria" pitchFamily="34" charset="-120"/>
              </a:rPr>
              <a:t>"I'll call you back on the number on my statement."</a:t>
            </a:r>
            <a:endParaRPr lang="en-US" sz="2200" dirty="0"/>
          </a:p>
        </p:txBody>
      </p:sp>
      <p:sp>
        <p:nvSpPr>
          <p:cNvPr id="8" name="Shape 6"/>
          <p:cNvSpPr/>
          <p:nvPr/>
        </p:nvSpPr>
        <p:spPr>
          <a:xfrm>
            <a:off x="640080" y="3749040"/>
            <a:ext cx="10881360" cy="713232"/>
          </a:xfrm>
          <a:prstGeom prst="roundRect">
            <a:avLst>
              <a:gd name="adj" fmla="val 10256"/>
            </a:avLst>
          </a:prstGeom>
          <a:solidFill>
            <a:srgbClr val="27346F"/>
          </a:solidFill>
          <a:ln/>
        </p:spPr>
      </p:sp>
      <p:sp>
        <p:nvSpPr>
          <p:cNvPr id="9" name="Text 7"/>
          <p:cNvSpPr/>
          <p:nvPr/>
        </p:nvSpPr>
        <p:spPr>
          <a:xfrm>
            <a:off x="1005840" y="3749040"/>
            <a:ext cx="10149840" cy="713232"/>
          </a:xfrm>
          <a:prstGeom prst="rect">
            <a:avLst/>
          </a:prstGeom>
          <a:noFill/>
          <a:ln/>
        </p:spPr>
        <p:txBody>
          <a:bodyPr wrap="square" lIns="0" tIns="0" rIns="0" bIns="0" rtlCol="0" anchor="ctr"/>
          <a:lstStyle/>
          <a:p>
            <a:pPr indent="0" marL="0">
              <a:buNone/>
            </a:pPr>
            <a:r>
              <a:rPr lang="en-US" sz="2200" i="1" dirty="0">
                <a:solidFill>
                  <a:srgbClr val="FFFFFF"/>
                </a:solidFill>
                <a:latin typeface="Cambria" pitchFamily="34" charset="0"/>
                <a:ea typeface="Cambria" pitchFamily="34" charset="-122"/>
                <a:cs typeface="Cambria" pitchFamily="34" charset="-120"/>
              </a:rPr>
              <a:t>"I never make financial decisions without my son. I'll call you back."</a:t>
            </a:r>
            <a:endParaRPr lang="en-US" sz="2200" dirty="0"/>
          </a:p>
        </p:txBody>
      </p:sp>
      <p:sp>
        <p:nvSpPr>
          <p:cNvPr id="10" name="Shape 8"/>
          <p:cNvSpPr/>
          <p:nvPr/>
        </p:nvSpPr>
        <p:spPr>
          <a:xfrm>
            <a:off x="640080" y="4617720"/>
            <a:ext cx="10881360" cy="713232"/>
          </a:xfrm>
          <a:prstGeom prst="roundRect">
            <a:avLst>
              <a:gd name="adj" fmla="val 10256"/>
            </a:avLst>
          </a:prstGeom>
          <a:solidFill>
            <a:srgbClr val="27346F"/>
          </a:solidFill>
          <a:ln/>
        </p:spPr>
      </p:sp>
      <p:sp>
        <p:nvSpPr>
          <p:cNvPr id="11" name="Text 9"/>
          <p:cNvSpPr/>
          <p:nvPr/>
        </p:nvSpPr>
        <p:spPr>
          <a:xfrm>
            <a:off x="1005840" y="4617720"/>
            <a:ext cx="10149840" cy="713232"/>
          </a:xfrm>
          <a:prstGeom prst="rect">
            <a:avLst/>
          </a:prstGeom>
          <a:noFill/>
          <a:ln/>
        </p:spPr>
        <p:txBody>
          <a:bodyPr wrap="square" lIns="0" tIns="0" rIns="0" bIns="0" rtlCol="0" anchor="ctr"/>
          <a:lstStyle/>
          <a:p>
            <a:pPr indent="0" marL="0">
              <a:buNone/>
            </a:pPr>
            <a:r>
              <a:rPr lang="en-US" sz="2200" i="1" dirty="0">
                <a:solidFill>
                  <a:srgbClr val="FFFFFF"/>
                </a:solidFill>
                <a:latin typeface="Cambria" pitchFamily="34" charset="0"/>
                <a:ea typeface="Cambria" pitchFamily="34" charset="-122"/>
                <a:cs typeface="Cambria" pitchFamily="34" charset="-120"/>
              </a:rPr>
              <a:t>"If this is real, it can wait until Monday."</a:t>
            </a:r>
            <a:endParaRPr lang="en-US" sz="2200" dirty="0"/>
          </a:p>
        </p:txBody>
      </p:sp>
      <p:sp>
        <p:nvSpPr>
          <p:cNvPr id="12" name="Shape 10"/>
          <p:cNvSpPr/>
          <p:nvPr/>
        </p:nvSpPr>
        <p:spPr>
          <a:xfrm>
            <a:off x="640080" y="5577840"/>
            <a:ext cx="10881360" cy="777240"/>
          </a:xfrm>
          <a:prstGeom prst="roundRect">
            <a:avLst>
              <a:gd name="adj" fmla="val 9412"/>
            </a:avLst>
          </a:prstGeom>
          <a:solidFill>
            <a:srgbClr val="E39A20"/>
          </a:solidFill>
          <a:ln/>
        </p:spPr>
      </p:sp>
      <p:sp>
        <p:nvSpPr>
          <p:cNvPr id="13" name="Text 11"/>
          <p:cNvSpPr/>
          <p:nvPr/>
        </p:nvSpPr>
        <p:spPr>
          <a:xfrm>
            <a:off x="1005840" y="5577840"/>
            <a:ext cx="10149840" cy="77724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And you never owe anyone an explanation for hanging up. Not one word.</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NO SHAME, JUST SPEED</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If it happens — the first 24 hours matter most</a:t>
            </a:r>
            <a:endParaRPr lang="en-US" sz="3400" dirty="0"/>
          </a:p>
        </p:txBody>
      </p:sp>
      <p:sp>
        <p:nvSpPr>
          <p:cNvPr id="4" name="Shape 2"/>
          <p:cNvSpPr/>
          <p:nvPr/>
        </p:nvSpPr>
        <p:spPr>
          <a:xfrm>
            <a:off x="548640" y="1600200"/>
            <a:ext cx="11064240" cy="1005840"/>
          </a:xfrm>
          <a:prstGeom prst="roundRect">
            <a:avLst>
              <a:gd name="adj" fmla="val 9091"/>
            </a:avLst>
          </a:prstGeom>
          <a:solidFill>
            <a:srgbClr val="FFFFFF"/>
          </a:solidFill>
          <a:ln w="12700">
            <a:solidFill>
              <a:srgbClr val="D8E0EF"/>
            </a:solidFill>
            <a:prstDash val="solid"/>
          </a:ln>
        </p:spPr>
      </p:sp>
      <p:sp>
        <p:nvSpPr>
          <p:cNvPr id="5" name="Shape 3"/>
          <p:cNvSpPr/>
          <p:nvPr/>
        </p:nvSpPr>
        <p:spPr>
          <a:xfrm>
            <a:off x="822960" y="1819656"/>
            <a:ext cx="566928" cy="566928"/>
          </a:xfrm>
          <a:prstGeom prst="ellipse">
            <a:avLst/>
          </a:prstGeom>
          <a:solidFill>
            <a:srgbClr val="1F7A4D"/>
          </a:solidFill>
          <a:ln/>
        </p:spPr>
      </p:sp>
      <p:sp>
        <p:nvSpPr>
          <p:cNvPr id="6" name="Text 4"/>
          <p:cNvSpPr/>
          <p:nvPr/>
        </p:nvSpPr>
        <p:spPr>
          <a:xfrm>
            <a:off x="822960" y="1819656"/>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7" name="Text 5"/>
          <p:cNvSpPr/>
          <p:nvPr/>
        </p:nvSpPr>
        <p:spPr>
          <a:xfrm>
            <a:off x="1600200" y="1728216"/>
            <a:ext cx="3566160" cy="77724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Call your bank immediately</a:t>
            </a:r>
            <a:endParaRPr lang="en-US" sz="1900" dirty="0"/>
          </a:p>
        </p:txBody>
      </p:sp>
      <p:sp>
        <p:nvSpPr>
          <p:cNvPr id="8" name="Text 6"/>
          <p:cNvSpPr/>
          <p:nvPr/>
        </p:nvSpPr>
        <p:spPr>
          <a:xfrm>
            <a:off x="5257800" y="1728216"/>
            <a:ext cx="6126480" cy="777240"/>
          </a:xfrm>
          <a:prstGeom prst="rect">
            <a:avLst/>
          </a:prstGeom>
          <a:noFill/>
          <a:ln/>
        </p:spPr>
        <p:txBody>
          <a:bodyPr wrap="square" lIns="0" tIns="0" rIns="0" bIns="0" rtlCol="0" anchor="ctr"/>
          <a:lstStyle/>
          <a:p>
            <a:pPr indent="0" marL="0">
              <a:buNone/>
            </a:pPr>
            <a:r>
              <a:rPr lang="en-US" sz="1400" dirty="0">
                <a:solidFill>
                  <a:srgbClr val="16192B"/>
                </a:solidFill>
                <a:latin typeface="Arial" pitchFamily="34" charset="0"/>
                <a:ea typeface="Arial" pitchFamily="34" charset="-122"/>
                <a:cs typeface="Arial" pitchFamily="34" charset="-120"/>
              </a:rPr>
              <a:t>Use the number on your card. Ask for the fraud department. Money can sometimes be frozen or recalled if you're fast.</a:t>
            </a:r>
            <a:endParaRPr lang="en-US" sz="1400" dirty="0"/>
          </a:p>
        </p:txBody>
      </p:sp>
      <p:sp>
        <p:nvSpPr>
          <p:cNvPr id="9" name="Shape 7"/>
          <p:cNvSpPr/>
          <p:nvPr/>
        </p:nvSpPr>
        <p:spPr>
          <a:xfrm>
            <a:off x="548640" y="2715768"/>
            <a:ext cx="11064240" cy="1005840"/>
          </a:xfrm>
          <a:prstGeom prst="roundRect">
            <a:avLst>
              <a:gd name="adj" fmla="val 9091"/>
            </a:avLst>
          </a:prstGeom>
          <a:solidFill>
            <a:srgbClr val="FFFFFF"/>
          </a:solidFill>
          <a:ln w="12700">
            <a:solidFill>
              <a:srgbClr val="D8E0EF"/>
            </a:solidFill>
            <a:prstDash val="solid"/>
          </a:ln>
        </p:spPr>
      </p:sp>
      <p:sp>
        <p:nvSpPr>
          <p:cNvPr id="10" name="Shape 8"/>
          <p:cNvSpPr/>
          <p:nvPr/>
        </p:nvSpPr>
        <p:spPr>
          <a:xfrm>
            <a:off x="822960" y="2935224"/>
            <a:ext cx="566928" cy="566928"/>
          </a:xfrm>
          <a:prstGeom prst="ellipse">
            <a:avLst/>
          </a:prstGeom>
          <a:solidFill>
            <a:srgbClr val="1F7A4D"/>
          </a:solidFill>
          <a:ln/>
        </p:spPr>
      </p:sp>
      <p:sp>
        <p:nvSpPr>
          <p:cNvPr id="11" name="Text 9"/>
          <p:cNvSpPr/>
          <p:nvPr/>
        </p:nvSpPr>
        <p:spPr>
          <a:xfrm>
            <a:off x="822960" y="2935224"/>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2" name="Text 10"/>
          <p:cNvSpPr/>
          <p:nvPr/>
        </p:nvSpPr>
        <p:spPr>
          <a:xfrm>
            <a:off x="1600200" y="2843784"/>
            <a:ext cx="3566160" cy="77724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Disconnect the computer</a:t>
            </a:r>
            <a:endParaRPr lang="en-US" sz="1900" dirty="0"/>
          </a:p>
        </p:txBody>
      </p:sp>
      <p:sp>
        <p:nvSpPr>
          <p:cNvPr id="13" name="Text 11"/>
          <p:cNvSpPr/>
          <p:nvPr/>
        </p:nvSpPr>
        <p:spPr>
          <a:xfrm>
            <a:off x="5257800" y="2843784"/>
            <a:ext cx="6126480" cy="777240"/>
          </a:xfrm>
          <a:prstGeom prst="rect">
            <a:avLst/>
          </a:prstGeom>
          <a:noFill/>
          <a:ln/>
        </p:spPr>
        <p:txBody>
          <a:bodyPr wrap="square" lIns="0" tIns="0" rIns="0" bIns="0" rtlCol="0" anchor="ctr"/>
          <a:lstStyle/>
          <a:p>
            <a:pPr indent="0" marL="0">
              <a:buNone/>
            </a:pPr>
            <a:r>
              <a:rPr lang="en-US" sz="1400" dirty="0">
                <a:solidFill>
                  <a:srgbClr val="16192B"/>
                </a:solidFill>
                <a:latin typeface="Arial" pitchFamily="34" charset="0"/>
                <a:ea typeface="Arial" pitchFamily="34" charset="-122"/>
                <a:cs typeface="Arial" pitchFamily="34" charset="-120"/>
              </a:rPr>
              <a:t>If anyone had remote access, unplug it from the internet and don't use it until someone you trust checks it.</a:t>
            </a:r>
            <a:endParaRPr lang="en-US" sz="1400" dirty="0"/>
          </a:p>
        </p:txBody>
      </p:sp>
      <p:sp>
        <p:nvSpPr>
          <p:cNvPr id="14" name="Shape 12"/>
          <p:cNvSpPr/>
          <p:nvPr/>
        </p:nvSpPr>
        <p:spPr>
          <a:xfrm>
            <a:off x="548640" y="3831336"/>
            <a:ext cx="11064240" cy="1005840"/>
          </a:xfrm>
          <a:prstGeom prst="roundRect">
            <a:avLst>
              <a:gd name="adj" fmla="val 9091"/>
            </a:avLst>
          </a:prstGeom>
          <a:solidFill>
            <a:srgbClr val="FFFFFF"/>
          </a:solidFill>
          <a:ln w="12700">
            <a:solidFill>
              <a:srgbClr val="D8E0EF"/>
            </a:solidFill>
            <a:prstDash val="solid"/>
          </a:ln>
        </p:spPr>
      </p:sp>
      <p:sp>
        <p:nvSpPr>
          <p:cNvPr id="15" name="Shape 13"/>
          <p:cNvSpPr/>
          <p:nvPr/>
        </p:nvSpPr>
        <p:spPr>
          <a:xfrm>
            <a:off x="822960" y="4050792"/>
            <a:ext cx="566928" cy="566928"/>
          </a:xfrm>
          <a:prstGeom prst="ellipse">
            <a:avLst/>
          </a:prstGeom>
          <a:solidFill>
            <a:srgbClr val="1F7A4D"/>
          </a:solidFill>
          <a:ln/>
        </p:spPr>
      </p:sp>
      <p:sp>
        <p:nvSpPr>
          <p:cNvPr id="16" name="Text 14"/>
          <p:cNvSpPr/>
          <p:nvPr/>
        </p:nvSpPr>
        <p:spPr>
          <a:xfrm>
            <a:off x="822960" y="4050792"/>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7" name="Text 15"/>
          <p:cNvSpPr/>
          <p:nvPr/>
        </p:nvSpPr>
        <p:spPr>
          <a:xfrm>
            <a:off x="1600200" y="3959352"/>
            <a:ext cx="3566160" cy="77724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Change passwords, tell someone</a:t>
            </a:r>
            <a:endParaRPr lang="en-US" sz="1900" dirty="0"/>
          </a:p>
        </p:txBody>
      </p:sp>
      <p:sp>
        <p:nvSpPr>
          <p:cNvPr id="18" name="Text 16"/>
          <p:cNvSpPr/>
          <p:nvPr/>
        </p:nvSpPr>
        <p:spPr>
          <a:xfrm>
            <a:off x="5257800" y="3959352"/>
            <a:ext cx="6126480" cy="777240"/>
          </a:xfrm>
          <a:prstGeom prst="rect">
            <a:avLst/>
          </a:prstGeom>
          <a:noFill/>
          <a:ln/>
        </p:spPr>
        <p:txBody>
          <a:bodyPr wrap="square" lIns="0" tIns="0" rIns="0" bIns="0" rtlCol="0" anchor="ctr"/>
          <a:lstStyle/>
          <a:p>
            <a:pPr indent="0" marL="0">
              <a:buNone/>
            </a:pPr>
            <a:r>
              <a:rPr lang="en-US" sz="1400" dirty="0">
                <a:solidFill>
                  <a:srgbClr val="16192B"/>
                </a:solidFill>
                <a:latin typeface="Arial" pitchFamily="34" charset="0"/>
                <a:ea typeface="Arial" pitchFamily="34" charset="-122"/>
                <a:cs typeface="Arial" pitchFamily="34" charset="-120"/>
              </a:rPr>
              <a:t>Start with email and banking. Then tell a family member or the front desk here. Saying it out loud is the hardest and most useful step.</a:t>
            </a:r>
            <a:endParaRPr lang="en-US" sz="1400" dirty="0"/>
          </a:p>
        </p:txBody>
      </p:sp>
      <p:sp>
        <p:nvSpPr>
          <p:cNvPr id="19" name="Shape 17"/>
          <p:cNvSpPr/>
          <p:nvPr/>
        </p:nvSpPr>
        <p:spPr>
          <a:xfrm>
            <a:off x="548640" y="4946904"/>
            <a:ext cx="11064240" cy="1005840"/>
          </a:xfrm>
          <a:prstGeom prst="roundRect">
            <a:avLst>
              <a:gd name="adj" fmla="val 9091"/>
            </a:avLst>
          </a:prstGeom>
          <a:solidFill>
            <a:srgbClr val="FFFFFF"/>
          </a:solidFill>
          <a:ln w="12700">
            <a:solidFill>
              <a:srgbClr val="D8E0EF"/>
            </a:solidFill>
            <a:prstDash val="solid"/>
          </a:ln>
        </p:spPr>
      </p:sp>
      <p:sp>
        <p:nvSpPr>
          <p:cNvPr id="20" name="Shape 18"/>
          <p:cNvSpPr/>
          <p:nvPr/>
        </p:nvSpPr>
        <p:spPr>
          <a:xfrm>
            <a:off x="822960" y="5166360"/>
            <a:ext cx="566928" cy="566928"/>
          </a:xfrm>
          <a:prstGeom prst="ellipse">
            <a:avLst/>
          </a:prstGeom>
          <a:solidFill>
            <a:srgbClr val="1F7A4D"/>
          </a:solidFill>
          <a:ln/>
        </p:spPr>
      </p:sp>
      <p:sp>
        <p:nvSpPr>
          <p:cNvPr id="21" name="Text 19"/>
          <p:cNvSpPr/>
          <p:nvPr/>
        </p:nvSpPr>
        <p:spPr>
          <a:xfrm>
            <a:off x="822960" y="516636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22" name="Text 20"/>
          <p:cNvSpPr/>
          <p:nvPr/>
        </p:nvSpPr>
        <p:spPr>
          <a:xfrm>
            <a:off x="1600200" y="5074920"/>
            <a:ext cx="3566160" cy="77724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Report it — even with no loss</a:t>
            </a:r>
            <a:endParaRPr lang="en-US" sz="1900" dirty="0"/>
          </a:p>
        </p:txBody>
      </p:sp>
      <p:sp>
        <p:nvSpPr>
          <p:cNvPr id="23" name="Text 21"/>
          <p:cNvSpPr/>
          <p:nvPr/>
        </p:nvSpPr>
        <p:spPr>
          <a:xfrm>
            <a:off x="5257800" y="5074920"/>
            <a:ext cx="6126480" cy="777240"/>
          </a:xfrm>
          <a:prstGeom prst="rect">
            <a:avLst/>
          </a:prstGeom>
          <a:noFill/>
          <a:ln/>
        </p:spPr>
        <p:txBody>
          <a:bodyPr wrap="square" lIns="0" tIns="0" rIns="0" bIns="0" rtlCol="0" anchor="ctr"/>
          <a:lstStyle/>
          <a:p>
            <a:pPr indent="0" marL="0">
              <a:buNone/>
            </a:pPr>
            <a:r>
              <a:rPr lang="en-US" sz="1400" dirty="0">
                <a:solidFill>
                  <a:srgbClr val="16192B"/>
                </a:solidFill>
                <a:latin typeface="Arial" pitchFamily="34" charset="0"/>
                <a:ea typeface="Arial" pitchFamily="34" charset="-122"/>
                <a:cs typeface="Arial" pitchFamily="34" charset="-120"/>
              </a:rPr>
              <a:t>ic3.gov or your local FBI office. Reports are how these crews get caught, and how warnings reach the next person.</a:t>
            </a:r>
            <a:endParaRPr lang="en-US" sz="1400" dirty="0"/>
          </a:p>
        </p:txBody>
      </p:sp>
      <p:sp>
        <p:nvSpPr>
          <p:cNvPr id="24" name="Shape 22"/>
          <p:cNvSpPr/>
          <p:nvPr/>
        </p:nvSpPr>
        <p:spPr>
          <a:xfrm>
            <a:off x="548640" y="6035040"/>
            <a:ext cx="11064240" cy="914"/>
          </a:xfrm>
          <a:prstGeom prst="roundRect">
            <a:avLst/>
          </a:prstGeom>
          <a:solidFill>
            <a:srgbClr val="F3F6FC"/>
          </a:solidFill>
          <a:ln/>
        </p:spPr>
      </p:sp>
      <p:sp>
        <p:nvSpPr>
          <p:cNvPr id="25" name="Text 23"/>
          <p:cNvSpPr/>
          <p:nvPr/>
        </p:nvSpPr>
        <p:spPr>
          <a:xfrm>
            <a:off x="548640" y="5943600"/>
            <a:ext cx="11064240" cy="411480"/>
          </a:xfrm>
          <a:prstGeom prst="rect">
            <a:avLst/>
          </a:prstGeom>
          <a:noFill/>
          <a:ln/>
        </p:spPr>
        <p:txBody>
          <a:bodyPr wrap="square" lIns="0" tIns="0" rIns="0" bIns="0" rtlCol="0" anchor="ctr"/>
          <a:lstStyle/>
          <a:p>
            <a:pPr algn="ctr" indent="0" marL="0">
              <a:buNone/>
            </a:pPr>
            <a:r>
              <a:rPr lang="en-US" sz="1550" i="1" dirty="0">
                <a:solidFill>
                  <a:srgbClr val="1E2761"/>
                </a:solidFill>
                <a:latin typeface="Arial" pitchFamily="34" charset="0"/>
                <a:ea typeface="Arial" pitchFamily="34" charset="-122"/>
                <a:cs typeface="Arial" pitchFamily="34" charset="-120"/>
              </a:rPr>
              <a:t>Reporting isn't about getting your money back. It's about making sure the next person in this building hears the warning.</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6FC"/>
        </a:solidFill>
      </p:bgPr>
    </p:bg>
    <p:spTree>
      <p:nvGrpSpPr>
        <p:cNvPr id="1" name=""/>
        <p:cNvGrpSpPr/>
        <p:nvPr/>
      </p:nvGrpSpPr>
      <p:grpSpPr>
        <a:xfrm>
          <a:off x="0" y="0"/>
          <a:ext cx="0" cy="0"/>
          <a:chOff x="0" y="0"/>
          <a:chExt cx="0" cy="0"/>
        </a:xfrm>
      </p:grpSpPr>
      <p:sp>
        <p:nvSpPr>
          <p:cNvPr id="2" name="Text 0"/>
          <p:cNvSpPr/>
          <p:nvPr/>
        </p:nvSpPr>
        <p:spPr>
          <a:xfrm>
            <a:off x="548640" y="329184"/>
            <a:ext cx="8229600" cy="274320"/>
          </a:xfrm>
          <a:prstGeom prst="rect">
            <a:avLst/>
          </a:prstGeom>
          <a:noFill/>
          <a:ln/>
        </p:spPr>
        <p:txBody>
          <a:bodyPr wrap="square" lIns="0" tIns="0" rIns="0" bIns="0" rtlCol="0" anchor="ctr"/>
          <a:lstStyle/>
          <a:p>
            <a:pPr indent="0" marL="0">
              <a:buNone/>
            </a:pPr>
            <a:r>
              <a:rPr lang="en-US" sz="1200" b="1" spc="200" kern="0" dirty="0">
                <a:solidFill>
                  <a:srgbClr val="E39A20"/>
                </a:solidFill>
                <a:latin typeface="Arial" pitchFamily="34" charset="0"/>
                <a:ea typeface="Arial" pitchFamily="34" charset="-122"/>
                <a:cs typeface="Arial" pitchFamily="34" charset="-120"/>
              </a:rPr>
              <a:t>WRITE THESE DOWN — THEY'RE ON YOUR HANDOUT TOO</a:t>
            </a:r>
            <a:endParaRPr lang="en-US" sz="1200" dirty="0"/>
          </a:p>
        </p:txBody>
      </p:sp>
      <p:sp>
        <p:nvSpPr>
          <p:cNvPr id="3" name="Text 1"/>
          <p:cNvSpPr/>
          <p:nvPr/>
        </p:nvSpPr>
        <p:spPr>
          <a:xfrm>
            <a:off x="548640" y="621792"/>
            <a:ext cx="11064240" cy="685800"/>
          </a:xfrm>
          <a:prstGeom prst="rect">
            <a:avLst/>
          </a:prstGeom>
          <a:noFill/>
          <a:ln/>
        </p:spPr>
        <p:txBody>
          <a:bodyPr wrap="square" lIns="0" tIns="0" rIns="0" bIns="0" rtlCol="0" anchor="t"/>
          <a:lstStyle/>
          <a:p>
            <a:pPr indent="0" marL="0">
              <a:buNone/>
            </a:pPr>
            <a:r>
              <a:rPr lang="en-US" sz="3400" b="1" dirty="0">
                <a:solidFill>
                  <a:srgbClr val="1E2761"/>
                </a:solidFill>
                <a:latin typeface="Cambria" pitchFamily="34" charset="0"/>
                <a:ea typeface="Cambria" pitchFamily="34" charset="-122"/>
                <a:cs typeface="Cambria" pitchFamily="34" charset="-120"/>
              </a:rPr>
              <a:t>Keep these four by the phone</a:t>
            </a:r>
            <a:endParaRPr lang="en-US" sz="3400" dirty="0"/>
          </a:p>
        </p:txBody>
      </p:sp>
      <p:sp>
        <p:nvSpPr>
          <p:cNvPr id="4" name="Shape 2"/>
          <p:cNvSpPr/>
          <p:nvPr/>
        </p:nvSpPr>
        <p:spPr>
          <a:xfrm>
            <a:off x="548640" y="1645920"/>
            <a:ext cx="5349240" cy="1874520"/>
          </a:xfrm>
          <a:prstGeom prst="roundRect">
            <a:avLst>
              <a:gd name="adj" fmla="val 4878"/>
            </a:avLst>
          </a:prstGeom>
          <a:solidFill>
            <a:srgbClr val="FFFFFF"/>
          </a:solidFill>
          <a:ln w="12700">
            <a:solidFill>
              <a:srgbClr val="D8E0EF"/>
            </a:solidFill>
            <a:prstDash val="solid"/>
          </a:ln>
        </p:spPr>
      </p:sp>
      <p:sp>
        <p:nvSpPr>
          <p:cNvPr id="5" name="Shape 3"/>
          <p:cNvSpPr/>
          <p:nvPr/>
        </p:nvSpPr>
        <p:spPr>
          <a:xfrm>
            <a:off x="822960" y="1920240"/>
            <a:ext cx="685800" cy="685800"/>
          </a:xfrm>
          <a:prstGeom prst="ellipse">
            <a:avLst/>
          </a:prstGeom>
          <a:solidFill>
            <a:srgbClr val="1E2761"/>
          </a:solidFill>
          <a:ln/>
        </p:spPr>
      </p:sp>
      <p:pic>
        <p:nvPicPr>
          <p:cNvPr id="6" name="Image 0" descr="preencoded.png">    </p:cNvPr>
          <p:cNvPicPr>
            <a:picLocks noChangeAspect="1"/>
          </p:cNvPicPr>
          <p:nvPr/>
        </p:nvPicPr>
        <p:blipFill>
          <a:blip r:embed="rId1"/>
          <a:stretch>
            <a:fillRect/>
          </a:stretch>
        </p:blipFill>
        <p:spPr>
          <a:xfrm>
            <a:off x="1008126" y="2105406"/>
            <a:ext cx="315468" cy="315468"/>
          </a:xfrm>
          <a:prstGeom prst="rect">
            <a:avLst/>
          </a:prstGeom>
        </p:spPr>
      </p:pic>
      <p:sp>
        <p:nvSpPr>
          <p:cNvPr id="7" name="Text 4"/>
          <p:cNvSpPr/>
          <p:nvPr/>
        </p:nvSpPr>
        <p:spPr>
          <a:xfrm>
            <a:off x="1691640" y="1901952"/>
            <a:ext cx="39776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FBI — IC3</a:t>
            </a:r>
            <a:endParaRPr lang="en-US" sz="1800" dirty="0"/>
          </a:p>
        </p:txBody>
      </p:sp>
      <p:sp>
        <p:nvSpPr>
          <p:cNvPr id="8" name="Text 5"/>
          <p:cNvSpPr/>
          <p:nvPr/>
        </p:nvSpPr>
        <p:spPr>
          <a:xfrm>
            <a:off x="1691640" y="2267712"/>
            <a:ext cx="3977640" cy="384048"/>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ic3.gov</a:t>
            </a:r>
            <a:endParaRPr lang="en-US" sz="2100" dirty="0"/>
          </a:p>
        </p:txBody>
      </p:sp>
      <p:sp>
        <p:nvSpPr>
          <p:cNvPr id="9" name="Text 6"/>
          <p:cNvSpPr/>
          <p:nvPr/>
        </p:nvSpPr>
        <p:spPr>
          <a:xfrm>
            <a:off x="822960" y="2743200"/>
            <a:ext cx="4800600" cy="685800"/>
          </a:xfrm>
          <a:prstGeom prst="rect">
            <a:avLst/>
          </a:prstGeom>
          <a:noFill/>
          <a:ln/>
        </p:spPr>
        <p:txBody>
          <a:bodyPr wrap="square" lIns="0" tIns="0" rIns="0" bIns="0" rtlCol="0" anchor="ctr"/>
          <a:lstStyle/>
          <a:p>
            <a:pPr indent="0" marL="0">
              <a:buNone/>
            </a:pPr>
            <a:r>
              <a:rPr lang="en-US" sz="1350" dirty="0">
                <a:solidFill>
                  <a:srgbClr val="16192B"/>
                </a:solidFill>
                <a:latin typeface="Arial" pitchFamily="34" charset="0"/>
                <a:ea typeface="Arial" pitchFamily="34" charset="-122"/>
                <a:cs typeface="Arial" pitchFamily="34" charset="-120"/>
              </a:rPr>
              <a:t>Report any internet-enabled scam, any amount, loss or no loss.</a:t>
            </a:r>
            <a:endParaRPr lang="en-US" sz="1350" dirty="0"/>
          </a:p>
        </p:txBody>
      </p:sp>
      <p:sp>
        <p:nvSpPr>
          <p:cNvPr id="10" name="Shape 7"/>
          <p:cNvSpPr/>
          <p:nvPr/>
        </p:nvSpPr>
        <p:spPr>
          <a:xfrm>
            <a:off x="6172200" y="1645920"/>
            <a:ext cx="5349240" cy="1874520"/>
          </a:xfrm>
          <a:prstGeom prst="roundRect">
            <a:avLst>
              <a:gd name="adj" fmla="val 4878"/>
            </a:avLst>
          </a:prstGeom>
          <a:solidFill>
            <a:srgbClr val="FFFFFF"/>
          </a:solidFill>
          <a:ln w="12700">
            <a:solidFill>
              <a:srgbClr val="D8E0EF"/>
            </a:solidFill>
            <a:prstDash val="solid"/>
          </a:ln>
        </p:spPr>
      </p:sp>
      <p:sp>
        <p:nvSpPr>
          <p:cNvPr id="11" name="Shape 8"/>
          <p:cNvSpPr/>
          <p:nvPr/>
        </p:nvSpPr>
        <p:spPr>
          <a:xfrm>
            <a:off x="6446520" y="1920240"/>
            <a:ext cx="685800" cy="685800"/>
          </a:xfrm>
          <a:prstGeom prst="ellipse">
            <a:avLst/>
          </a:prstGeom>
          <a:solidFill>
            <a:srgbClr val="1F7A4D"/>
          </a:solidFill>
          <a:ln/>
        </p:spPr>
      </p:sp>
      <p:pic>
        <p:nvPicPr>
          <p:cNvPr id="12" name="Image 1" descr="preencoded.png">    </p:cNvPr>
          <p:cNvPicPr>
            <a:picLocks noChangeAspect="1"/>
          </p:cNvPicPr>
          <p:nvPr/>
        </p:nvPicPr>
        <p:blipFill>
          <a:blip r:embed="rId2"/>
          <a:stretch>
            <a:fillRect/>
          </a:stretch>
        </p:blipFill>
        <p:spPr>
          <a:xfrm>
            <a:off x="6631686" y="2105406"/>
            <a:ext cx="315468" cy="315468"/>
          </a:xfrm>
          <a:prstGeom prst="rect">
            <a:avLst/>
          </a:prstGeom>
        </p:spPr>
      </p:pic>
      <p:sp>
        <p:nvSpPr>
          <p:cNvPr id="13" name="Text 9"/>
          <p:cNvSpPr/>
          <p:nvPr/>
        </p:nvSpPr>
        <p:spPr>
          <a:xfrm>
            <a:off x="7315200" y="1901952"/>
            <a:ext cx="39776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AARP Fraud Watch Helpline</a:t>
            </a:r>
            <a:endParaRPr lang="en-US" sz="1800" dirty="0"/>
          </a:p>
        </p:txBody>
      </p:sp>
      <p:sp>
        <p:nvSpPr>
          <p:cNvPr id="14" name="Text 10"/>
          <p:cNvSpPr/>
          <p:nvPr/>
        </p:nvSpPr>
        <p:spPr>
          <a:xfrm>
            <a:off x="7315200" y="2267712"/>
            <a:ext cx="3977640" cy="384048"/>
          </a:xfrm>
          <a:prstGeom prst="rect">
            <a:avLst/>
          </a:prstGeom>
          <a:noFill/>
          <a:ln/>
        </p:spPr>
        <p:txBody>
          <a:bodyPr wrap="square" lIns="0" tIns="0" rIns="0" bIns="0" rtlCol="0" anchor="ctr"/>
          <a:lstStyle/>
          <a:p>
            <a:pPr indent="0" marL="0">
              <a:buNone/>
            </a:pPr>
            <a:r>
              <a:rPr lang="en-US" sz="2100" b="1" dirty="0">
                <a:solidFill>
                  <a:srgbClr val="1F7A4D"/>
                </a:solidFill>
                <a:latin typeface="Cambria" pitchFamily="34" charset="0"/>
                <a:ea typeface="Cambria" pitchFamily="34" charset="-122"/>
                <a:cs typeface="Cambria" pitchFamily="34" charset="-120"/>
              </a:rPr>
              <a:t>877-908-3360</a:t>
            </a:r>
            <a:endParaRPr lang="en-US" sz="2100" dirty="0"/>
          </a:p>
        </p:txBody>
      </p:sp>
      <p:sp>
        <p:nvSpPr>
          <p:cNvPr id="15" name="Text 11"/>
          <p:cNvSpPr/>
          <p:nvPr/>
        </p:nvSpPr>
        <p:spPr>
          <a:xfrm>
            <a:off x="6446520" y="2743200"/>
            <a:ext cx="4800600" cy="685800"/>
          </a:xfrm>
          <a:prstGeom prst="rect">
            <a:avLst/>
          </a:prstGeom>
          <a:noFill/>
          <a:ln/>
        </p:spPr>
        <p:txBody>
          <a:bodyPr wrap="square" lIns="0" tIns="0" rIns="0" bIns="0" rtlCol="0" anchor="ctr"/>
          <a:lstStyle/>
          <a:p>
            <a:pPr indent="0" marL="0">
              <a:buNone/>
            </a:pPr>
            <a:r>
              <a:rPr lang="en-US" sz="1350" dirty="0">
                <a:solidFill>
                  <a:srgbClr val="16192B"/>
                </a:solidFill>
                <a:latin typeface="Arial" pitchFamily="34" charset="0"/>
                <a:ea typeface="Arial" pitchFamily="34" charset="-122"/>
                <a:cs typeface="Arial" pitchFamily="34" charset="-120"/>
              </a:rPr>
              <a:t>Free for anyone, member or not. Call to ask "is this a scam?" before you act.</a:t>
            </a:r>
            <a:endParaRPr lang="en-US" sz="1350" dirty="0"/>
          </a:p>
        </p:txBody>
      </p:sp>
      <p:sp>
        <p:nvSpPr>
          <p:cNvPr id="16" name="Shape 12"/>
          <p:cNvSpPr/>
          <p:nvPr/>
        </p:nvSpPr>
        <p:spPr>
          <a:xfrm>
            <a:off x="548640" y="3749040"/>
            <a:ext cx="5349240" cy="1874520"/>
          </a:xfrm>
          <a:prstGeom prst="roundRect">
            <a:avLst>
              <a:gd name="adj" fmla="val 4878"/>
            </a:avLst>
          </a:prstGeom>
          <a:solidFill>
            <a:srgbClr val="FFFFFF"/>
          </a:solidFill>
          <a:ln w="12700">
            <a:solidFill>
              <a:srgbClr val="D8E0EF"/>
            </a:solidFill>
            <a:prstDash val="solid"/>
          </a:ln>
        </p:spPr>
      </p:sp>
      <p:sp>
        <p:nvSpPr>
          <p:cNvPr id="17" name="Shape 13"/>
          <p:cNvSpPr/>
          <p:nvPr/>
        </p:nvSpPr>
        <p:spPr>
          <a:xfrm>
            <a:off x="822960" y="4023360"/>
            <a:ext cx="685800" cy="685800"/>
          </a:xfrm>
          <a:prstGeom prst="ellipse">
            <a:avLst/>
          </a:prstGeom>
          <a:solidFill>
            <a:srgbClr val="E39A20"/>
          </a:solidFill>
          <a:ln/>
        </p:spPr>
      </p:sp>
      <p:pic>
        <p:nvPicPr>
          <p:cNvPr id="18" name="Image 2" descr="preencoded.png">    </p:cNvPr>
          <p:cNvPicPr>
            <a:picLocks noChangeAspect="1"/>
          </p:cNvPicPr>
          <p:nvPr/>
        </p:nvPicPr>
        <p:blipFill>
          <a:blip r:embed="rId3"/>
          <a:stretch>
            <a:fillRect/>
          </a:stretch>
        </p:blipFill>
        <p:spPr>
          <a:xfrm>
            <a:off x="1008126" y="4208526"/>
            <a:ext cx="315468" cy="315468"/>
          </a:xfrm>
          <a:prstGeom prst="rect">
            <a:avLst/>
          </a:prstGeom>
        </p:spPr>
      </p:pic>
      <p:sp>
        <p:nvSpPr>
          <p:cNvPr id="19" name="Text 14"/>
          <p:cNvSpPr/>
          <p:nvPr/>
        </p:nvSpPr>
        <p:spPr>
          <a:xfrm>
            <a:off x="1691640" y="4005072"/>
            <a:ext cx="39776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Federal Trade Commission</a:t>
            </a:r>
            <a:endParaRPr lang="en-US" sz="1800" dirty="0"/>
          </a:p>
        </p:txBody>
      </p:sp>
      <p:sp>
        <p:nvSpPr>
          <p:cNvPr id="20" name="Text 15"/>
          <p:cNvSpPr/>
          <p:nvPr/>
        </p:nvSpPr>
        <p:spPr>
          <a:xfrm>
            <a:off x="1691640" y="4370832"/>
            <a:ext cx="3977640" cy="384048"/>
          </a:xfrm>
          <a:prstGeom prst="rect">
            <a:avLst/>
          </a:prstGeom>
          <a:noFill/>
          <a:ln/>
        </p:spPr>
        <p:txBody>
          <a:bodyPr wrap="square" lIns="0" tIns="0" rIns="0" bIns="0" rtlCol="0" anchor="ctr"/>
          <a:lstStyle/>
          <a:p>
            <a:pPr indent="0" marL="0">
              <a:buNone/>
            </a:pPr>
            <a:r>
              <a:rPr lang="en-US" sz="2100" b="1" dirty="0">
                <a:solidFill>
                  <a:srgbClr val="E39A20"/>
                </a:solidFill>
                <a:latin typeface="Cambria" pitchFamily="34" charset="0"/>
                <a:ea typeface="Cambria" pitchFamily="34" charset="-122"/>
                <a:cs typeface="Cambria" pitchFamily="34" charset="-120"/>
              </a:rPr>
              <a:t>reportfraud.ftc.gov</a:t>
            </a:r>
            <a:endParaRPr lang="en-US" sz="2100" dirty="0"/>
          </a:p>
        </p:txBody>
      </p:sp>
      <p:sp>
        <p:nvSpPr>
          <p:cNvPr id="21" name="Text 16"/>
          <p:cNvSpPr/>
          <p:nvPr/>
        </p:nvSpPr>
        <p:spPr>
          <a:xfrm>
            <a:off x="822960" y="4846320"/>
            <a:ext cx="4800600" cy="685800"/>
          </a:xfrm>
          <a:prstGeom prst="rect">
            <a:avLst/>
          </a:prstGeom>
          <a:noFill/>
          <a:ln/>
        </p:spPr>
        <p:txBody>
          <a:bodyPr wrap="square" lIns="0" tIns="0" rIns="0" bIns="0" rtlCol="0" anchor="ctr"/>
          <a:lstStyle/>
          <a:p>
            <a:pPr indent="0" marL="0">
              <a:buNone/>
            </a:pPr>
            <a:r>
              <a:rPr lang="en-US" sz="1350" dirty="0">
                <a:solidFill>
                  <a:srgbClr val="16192B"/>
                </a:solidFill>
                <a:latin typeface="Arial" pitchFamily="34" charset="0"/>
                <a:ea typeface="Arial" pitchFamily="34" charset="-122"/>
                <a:cs typeface="Arial" pitchFamily="34" charset="-120"/>
              </a:rPr>
              <a:t>Identity theft and consumer fraud. Also identitytheft.gov for a recovery plan.</a:t>
            </a:r>
            <a:endParaRPr lang="en-US" sz="1350" dirty="0"/>
          </a:p>
        </p:txBody>
      </p:sp>
      <p:sp>
        <p:nvSpPr>
          <p:cNvPr id="22" name="Shape 17"/>
          <p:cNvSpPr/>
          <p:nvPr/>
        </p:nvSpPr>
        <p:spPr>
          <a:xfrm>
            <a:off x="6172200" y="3749040"/>
            <a:ext cx="5349240" cy="1874520"/>
          </a:xfrm>
          <a:prstGeom prst="roundRect">
            <a:avLst>
              <a:gd name="adj" fmla="val 4878"/>
            </a:avLst>
          </a:prstGeom>
          <a:solidFill>
            <a:srgbClr val="FFFFFF"/>
          </a:solidFill>
          <a:ln w="12700">
            <a:solidFill>
              <a:srgbClr val="D8E0EF"/>
            </a:solidFill>
            <a:prstDash val="solid"/>
          </a:ln>
        </p:spPr>
      </p:sp>
      <p:sp>
        <p:nvSpPr>
          <p:cNvPr id="23" name="Shape 18"/>
          <p:cNvSpPr/>
          <p:nvPr/>
        </p:nvSpPr>
        <p:spPr>
          <a:xfrm>
            <a:off x="6446520" y="4023360"/>
            <a:ext cx="685800" cy="685800"/>
          </a:xfrm>
          <a:prstGeom prst="ellipse">
            <a:avLst/>
          </a:prstGeom>
          <a:solidFill>
            <a:srgbClr val="B02A28"/>
          </a:solidFill>
          <a:ln/>
        </p:spPr>
      </p:sp>
      <p:pic>
        <p:nvPicPr>
          <p:cNvPr id="24" name="Image 3" descr="preencoded.png">    </p:cNvPr>
          <p:cNvPicPr>
            <a:picLocks noChangeAspect="1"/>
          </p:cNvPicPr>
          <p:nvPr/>
        </p:nvPicPr>
        <p:blipFill>
          <a:blip r:embed="rId4"/>
          <a:stretch>
            <a:fillRect/>
          </a:stretch>
        </p:blipFill>
        <p:spPr>
          <a:xfrm>
            <a:off x="6631686" y="4208526"/>
            <a:ext cx="315468" cy="315468"/>
          </a:xfrm>
          <a:prstGeom prst="rect">
            <a:avLst/>
          </a:prstGeom>
        </p:spPr>
      </p:pic>
      <p:sp>
        <p:nvSpPr>
          <p:cNvPr id="25" name="Text 19"/>
          <p:cNvSpPr/>
          <p:nvPr/>
        </p:nvSpPr>
        <p:spPr>
          <a:xfrm>
            <a:off x="7315200" y="4005072"/>
            <a:ext cx="39776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Texas Attorney General</a:t>
            </a:r>
            <a:endParaRPr lang="en-US" sz="1800" dirty="0"/>
          </a:p>
        </p:txBody>
      </p:sp>
      <p:sp>
        <p:nvSpPr>
          <p:cNvPr id="26" name="Text 20"/>
          <p:cNvSpPr/>
          <p:nvPr/>
        </p:nvSpPr>
        <p:spPr>
          <a:xfrm>
            <a:off x="7315200" y="4370832"/>
            <a:ext cx="3977640" cy="384048"/>
          </a:xfrm>
          <a:prstGeom prst="rect">
            <a:avLst/>
          </a:prstGeom>
          <a:noFill/>
          <a:ln/>
        </p:spPr>
        <p:txBody>
          <a:bodyPr wrap="square" lIns="0" tIns="0" rIns="0" bIns="0" rtlCol="0" anchor="ctr"/>
          <a:lstStyle/>
          <a:p>
            <a:pPr indent="0" marL="0">
              <a:buNone/>
            </a:pPr>
            <a:r>
              <a:rPr lang="en-US" sz="2100" b="1" dirty="0">
                <a:solidFill>
                  <a:srgbClr val="B02A28"/>
                </a:solidFill>
                <a:latin typeface="Cambria" pitchFamily="34" charset="0"/>
                <a:ea typeface="Cambria" pitchFamily="34" charset="-122"/>
                <a:cs typeface="Cambria" pitchFamily="34" charset="-120"/>
              </a:rPr>
              <a:t>texasattorneygeneral.gov</a:t>
            </a:r>
            <a:endParaRPr lang="en-US" sz="2100" dirty="0"/>
          </a:p>
        </p:txBody>
      </p:sp>
      <p:sp>
        <p:nvSpPr>
          <p:cNvPr id="27" name="Text 21"/>
          <p:cNvSpPr/>
          <p:nvPr/>
        </p:nvSpPr>
        <p:spPr>
          <a:xfrm>
            <a:off x="6446520" y="4846320"/>
            <a:ext cx="4800600" cy="685800"/>
          </a:xfrm>
          <a:prstGeom prst="rect">
            <a:avLst/>
          </a:prstGeom>
          <a:noFill/>
          <a:ln/>
        </p:spPr>
        <p:txBody>
          <a:bodyPr wrap="square" lIns="0" tIns="0" rIns="0" bIns="0" rtlCol="0" anchor="ctr"/>
          <a:lstStyle/>
          <a:p>
            <a:pPr indent="0" marL="0">
              <a:buNone/>
            </a:pPr>
            <a:r>
              <a:rPr lang="en-US" sz="1350" dirty="0">
                <a:solidFill>
                  <a:srgbClr val="16192B"/>
                </a:solidFill>
                <a:latin typeface="Arial" pitchFamily="34" charset="0"/>
                <a:ea typeface="Arial" pitchFamily="34" charset="-122"/>
                <a:cs typeface="Arial" pitchFamily="34" charset="-120"/>
              </a:rPr>
              <a:t>Consumer protection complaints and current Texas scam alerts.</a:t>
            </a:r>
            <a:endParaRPr lang="en-US" sz="1350" dirty="0"/>
          </a:p>
        </p:txBody>
      </p:sp>
      <p:sp>
        <p:nvSpPr>
          <p:cNvPr id="28" name="Text 22"/>
          <p:cNvSpPr/>
          <p:nvPr/>
        </p:nvSpPr>
        <p:spPr>
          <a:xfrm>
            <a:off x="548640" y="5943600"/>
            <a:ext cx="11064240" cy="365760"/>
          </a:xfrm>
          <a:prstGeom prst="rect">
            <a:avLst/>
          </a:prstGeom>
          <a:noFill/>
          <a:ln/>
        </p:spPr>
        <p:txBody>
          <a:bodyPr wrap="square" lIns="0" tIns="0" rIns="0" bIns="0" rtlCol="0" anchor="ctr"/>
          <a:lstStyle/>
          <a:p>
            <a:pPr algn="ctr" indent="0" marL="0">
              <a:buNone/>
            </a:pPr>
            <a:r>
              <a:rPr lang="en-US" sz="1600" b="1" dirty="0">
                <a:solidFill>
                  <a:srgbClr val="B02A28"/>
                </a:solidFill>
                <a:latin typeface="Arial" pitchFamily="34" charset="0"/>
                <a:ea typeface="Arial" pitchFamily="34" charset="-122"/>
                <a:cs typeface="Arial" pitchFamily="34" charset="-120"/>
              </a:rPr>
              <a:t>In an emergency, or if someone is at your door demanding money: call 911 first.</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189720" y="1005840"/>
            <a:ext cx="2194560" cy="2194560"/>
          </a:xfrm>
          <a:prstGeom prst="ellipse">
            <a:avLst/>
          </a:prstGeom>
          <a:solidFill>
            <a:srgbClr val="27346F"/>
          </a:solidFill>
          <a:ln/>
        </p:spPr>
      </p:sp>
      <p:sp>
        <p:nvSpPr>
          <p:cNvPr id="3" name="Shape 1"/>
          <p:cNvSpPr/>
          <p:nvPr/>
        </p:nvSpPr>
        <p:spPr>
          <a:xfrm>
            <a:off x="777240" y="777240"/>
            <a:ext cx="1051560" cy="1051560"/>
          </a:xfrm>
          <a:prstGeom prst="ellipse">
            <a:avLst/>
          </a:prstGeom>
          <a:solidFill>
            <a:srgbClr val="E39A20"/>
          </a:solidFill>
          <a:ln/>
        </p:spPr>
      </p:sp>
      <p:pic>
        <p:nvPicPr>
          <p:cNvPr id="4" name="Image 0" descr="preencoded.png">    </p:cNvPr>
          <p:cNvPicPr>
            <a:picLocks noChangeAspect="1"/>
          </p:cNvPicPr>
          <p:nvPr/>
        </p:nvPicPr>
        <p:blipFill>
          <a:blip r:embed="rId1"/>
          <a:stretch>
            <a:fillRect/>
          </a:stretch>
        </p:blipFill>
        <p:spPr>
          <a:xfrm>
            <a:off x="1061161" y="1061161"/>
            <a:ext cx="483718" cy="483718"/>
          </a:xfrm>
          <a:prstGeom prst="rect">
            <a:avLst/>
          </a:prstGeom>
        </p:spPr>
      </p:pic>
      <p:sp>
        <p:nvSpPr>
          <p:cNvPr id="5" name="Text 2"/>
          <p:cNvSpPr/>
          <p:nvPr/>
        </p:nvSpPr>
        <p:spPr>
          <a:xfrm>
            <a:off x="777240" y="2103120"/>
            <a:ext cx="960120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You just became a hard target.</a:t>
            </a:r>
            <a:endParaRPr lang="en-US" sz="4400" dirty="0"/>
          </a:p>
        </p:txBody>
      </p:sp>
      <p:sp>
        <p:nvSpPr>
          <p:cNvPr id="6" name="Text 3"/>
          <p:cNvSpPr/>
          <p:nvPr/>
        </p:nvSpPr>
        <p:spPr>
          <a:xfrm>
            <a:off x="777240" y="3063240"/>
            <a:ext cx="9601200" cy="457200"/>
          </a:xfrm>
          <a:prstGeom prst="rect">
            <a:avLst/>
          </a:prstGeom>
          <a:noFill/>
          <a:ln/>
        </p:spPr>
        <p:txBody>
          <a:bodyPr wrap="square" lIns="0" tIns="0" rIns="0" bIns="0" rtlCol="0" anchor="ctr"/>
          <a:lstStyle/>
          <a:p>
            <a:pPr indent="0" marL="0">
              <a:buNone/>
            </a:pPr>
            <a:r>
              <a:rPr lang="en-US" sz="2200" dirty="0">
                <a:solidFill>
                  <a:srgbClr val="E39A20"/>
                </a:solidFill>
                <a:latin typeface="Arial" pitchFamily="34" charset="0"/>
                <a:ea typeface="Arial" pitchFamily="34" charset="-122"/>
                <a:cs typeface="Arial" pitchFamily="34" charset="-120"/>
              </a:rPr>
              <a:t>Unexpected contact. A rush of emotion. A strange way to pay.</a:t>
            </a:r>
            <a:endParaRPr lang="en-US" sz="2200" dirty="0"/>
          </a:p>
        </p:txBody>
      </p:sp>
      <p:sp>
        <p:nvSpPr>
          <p:cNvPr id="7" name="Text 4"/>
          <p:cNvSpPr/>
          <p:nvPr/>
        </p:nvSpPr>
        <p:spPr>
          <a:xfrm>
            <a:off x="777240" y="3566160"/>
            <a:ext cx="9601200" cy="457200"/>
          </a:xfrm>
          <a:prstGeom prst="rect">
            <a:avLst/>
          </a:prstGeom>
          <a:noFill/>
          <a:ln/>
        </p:spPr>
        <p:txBody>
          <a:bodyPr wrap="square" lIns="0" tIns="0" rIns="0" bIns="0" rtlCol="0" anchor="ctr"/>
          <a:lstStyle/>
          <a:p>
            <a:pPr indent="0" marL="0">
              <a:buNone/>
            </a:pPr>
            <a:r>
              <a:rPr lang="en-US" sz="1700" dirty="0">
                <a:solidFill>
                  <a:srgbClr val="CADCFC"/>
                </a:solidFill>
                <a:latin typeface="Arial" pitchFamily="34" charset="0"/>
                <a:ea typeface="Arial" pitchFamily="34" charset="-122"/>
                <a:cs typeface="Arial" pitchFamily="34" charset="-120"/>
              </a:rPr>
              <a:t>That's the whole playbook — and you now know it better than the people they usually call.</a:t>
            </a:r>
            <a:endParaRPr lang="en-US" sz="1700" dirty="0"/>
          </a:p>
        </p:txBody>
      </p:sp>
      <p:sp>
        <p:nvSpPr>
          <p:cNvPr id="8" name="Shape 5"/>
          <p:cNvSpPr/>
          <p:nvPr/>
        </p:nvSpPr>
        <p:spPr>
          <a:xfrm>
            <a:off x="777240" y="4297680"/>
            <a:ext cx="10607040" cy="1463040"/>
          </a:xfrm>
          <a:prstGeom prst="roundRect">
            <a:avLst>
              <a:gd name="adj" fmla="val 6250"/>
            </a:avLst>
          </a:prstGeom>
          <a:solidFill>
            <a:srgbClr val="27346F"/>
          </a:solidFill>
          <a:ln/>
        </p:spPr>
      </p:sp>
      <p:sp>
        <p:nvSpPr>
          <p:cNvPr id="9" name="Text 6"/>
          <p:cNvSpPr/>
          <p:nvPr/>
        </p:nvSpPr>
        <p:spPr>
          <a:xfrm>
            <a:off x="1097280" y="4480560"/>
            <a:ext cx="996696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Two calls tonight: set your family password, and name your second opinion.</a:t>
            </a:r>
            <a:endParaRPr lang="en-US" sz="2000" dirty="0"/>
          </a:p>
        </p:txBody>
      </p:sp>
      <p:sp>
        <p:nvSpPr>
          <p:cNvPr id="10" name="Text 7"/>
          <p:cNvSpPr/>
          <p:nvPr/>
        </p:nvSpPr>
        <p:spPr>
          <a:xfrm>
            <a:off x="1097280" y="4983480"/>
            <a:ext cx="9966960" cy="640080"/>
          </a:xfrm>
          <a:prstGeom prst="rect">
            <a:avLst/>
          </a:prstGeom>
          <a:noFill/>
          <a:ln/>
        </p:spPr>
        <p:txBody>
          <a:bodyPr wrap="square" lIns="0" tIns="0" rIns="0" bIns="0" rtlCol="0" anchor="ctr"/>
          <a:lstStyle/>
          <a:p>
            <a:pPr indent="0" marL="0">
              <a:buNone/>
            </a:pPr>
            <a:r>
              <a:rPr lang="en-US" sz="1600" dirty="0">
                <a:solidFill>
                  <a:srgbClr val="CADCFC"/>
                </a:solidFill>
                <a:latin typeface="Arial" pitchFamily="34" charset="0"/>
                <a:ea typeface="Arial" pitchFamily="34" charset="-122"/>
                <a:cs typeface="Arial" pitchFamily="34" charset="-120"/>
              </a:rPr>
              <a:t>And if it ever does happen to you or someone here — tell somebody fast. That's not embarrassing. That's how it stops.</a:t>
            </a:r>
            <a:endParaRPr lang="en-US" sz="1600" dirty="0"/>
          </a:p>
        </p:txBody>
      </p:sp>
      <p:sp>
        <p:nvSpPr>
          <p:cNvPr id="11" name="Text 8"/>
          <p:cNvSpPr/>
          <p:nvPr/>
        </p:nvSpPr>
        <p:spPr>
          <a:xfrm>
            <a:off x="777240" y="5897880"/>
            <a:ext cx="10607040" cy="411480"/>
          </a:xfrm>
          <a:prstGeom prst="rect">
            <a:avLst/>
          </a:prstGeom>
          <a:noFill/>
          <a:ln/>
        </p:spPr>
        <p:txBody>
          <a:bodyPr wrap="square" lIns="0" tIns="0" rIns="0" bIns="0" rtlCol="0" anchor="ctr"/>
          <a:lstStyle/>
          <a:p>
            <a:pPr indent="0" marL="0">
              <a:buNone/>
            </a:pPr>
            <a:r>
              <a:rPr lang="en-US" sz="1700" i="1" dirty="0">
                <a:solidFill>
                  <a:srgbClr val="E39A20"/>
                </a:solidFill>
                <a:latin typeface="Arial" pitchFamily="34" charset="0"/>
                <a:ea typeface="Arial" pitchFamily="34" charset="-122"/>
                <a:cs typeface="Arial" pitchFamily="34" charset="-120"/>
              </a:rPr>
              <a:t>Questions — and I'll stay after as long as anyone wants to talk.</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Scam Smart: Protecting What You've Built</dc:title>
  <dc:subject>PptxGenJS Presentation</dc:subject>
  <dc:creator>Scam Smart</dc:creator>
  <cp:lastModifiedBy>Scam Smart</cp:lastModifiedBy>
  <cp:revision>1</cp:revision>
  <dcterms:created xsi:type="dcterms:W3CDTF">2026-08-22T08:01:49Z</dcterms:created>
  <dcterms:modified xsi:type="dcterms:W3CDTF">2026-08-22T08:01:49Z</dcterms:modified>
</cp:coreProperties>
</file>